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3"/>
    <p:sldId id="258" r:id="rId4"/>
    <p:sldId id="259" r:id="rId5"/>
    <p:sldId id="264" r:id="rId6"/>
    <p:sldId id="265" r:id="rId7"/>
    <p:sldId id="267" r:id="rId8"/>
    <p:sldId id="268" r:id="rId9"/>
    <p:sldId id="270" r:id="rId10"/>
    <p:sldId id="273" r:id="rId11"/>
    <p:sldId id="272" r:id="rId12"/>
    <p:sldId id="276" r:id="rId13"/>
    <p:sldId id="292" r:id="rId14"/>
    <p:sldId id="293" r:id="rId15"/>
    <p:sldId id="294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11"/>
    <a:srgbClr val="FFFFFF"/>
    <a:srgbClr val="051730"/>
    <a:srgbClr val="2F7AF4"/>
    <a:srgbClr val="F769BD"/>
    <a:srgbClr val="A69EF1"/>
    <a:srgbClr val="EEEEEE"/>
    <a:srgbClr val="16D8FF"/>
    <a:srgbClr val="17D9FF"/>
    <a:srgbClr val="A69F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0325" y="0"/>
            <a:ext cx="5781675" cy="685800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2404745" y="2237740"/>
            <a:ext cx="7381875" cy="2381885"/>
          </a:xfrm>
          <a:prstGeom prst="rect">
            <a:avLst/>
          </a:prstGeom>
          <a:solidFill>
            <a:srgbClr val="051730"/>
          </a:solidFill>
          <a:ln>
            <a:solidFill>
              <a:srgbClr val="05173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4400" b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SUBMISSION</a:t>
            </a:r>
            <a:r>
              <a:rPr lang="en-IN" altLang="en-US" sz="4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altLang="en-US" sz="4400" b="1">
                <a:solidFill>
                  <a:srgbClr val="FFA511"/>
                </a:solidFill>
                <a:latin typeface="Arial" panose="020B0604020202020204" pitchFamily="34" charset="0"/>
                <a:ea typeface="Adobe Gothic Std B" panose="020B0800000000000000" charset="-128"/>
                <a:cs typeface="Arial" panose="020B0604020202020204" pitchFamily="34" charset="0"/>
              </a:rPr>
              <a:t>SQL IN DATA SCIENCE</a:t>
            </a:r>
            <a:endParaRPr lang="en-IN" altLang="en-US" sz="4400" b="1">
              <a:solidFill>
                <a:srgbClr val="FFA511"/>
              </a:solidFill>
              <a:latin typeface="Arial" panose="020B0604020202020204" pitchFamily="34" charset="0"/>
              <a:ea typeface="Adobe Gothic Std B" panose="020B0800000000000000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03910" y="77152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99795" y="1526540"/>
            <a:ext cx="2437130" cy="19685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8680" y="217170"/>
            <a:ext cx="1333500" cy="12668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33425" y="1955800"/>
            <a:ext cx="114585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Database is </a:t>
            </a:r>
            <a:r>
              <a:rPr lang="en-US" sz="2000">
                <a:solidFill>
                  <a:srgbClr val="16D8FF"/>
                </a:solidFill>
                <a:latin typeface="Calibri Light" panose="020F0302020204030204" charset="0"/>
                <a:cs typeface="Calibri Light" panose="020F0302020204030204" charset="0"/>
              </a:rPr>
              <a:t>collection of data </a:t>
            </a:r>
            <a:r>
              <a:rPr lang="en-US" sz="200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in a format that can be easily accessed (Digital)</a:t>
            </a:r>
            <a:endParaRPr lang="en-US" sz="200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A software application used to manage our DB is called DBMS (</a:t>
            </a:r>
            <a:r>
              <a:rPr lang="en-US" sz="2000">
                <a:solidFill>
                  <a:srgbClr val="16D8FF"/>
                </a:solidFill>
                <a:latin typeface="Calibri Light" panose="020F0302020204030204" charset="0"/>
                <a:cs typeface="Calibri Light" panose="020F0302020204030204" charset="0"/>
              </a:rPr>
              <a:t>Database Management System</a:t>
            </a:r>
            <a:r>
              <a:rPr lang="en-US" sz="200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)</a:t>
            </a:r>
            <a:endParaRPr lang="en-US" sz="200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81990" y="72453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r>
              <a:rPr lang="en-US" sz="4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Databases</a:t>
            </a:r>
            <a:endParaRPr lang="en-US" sz="4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84860" y="1511300"/>
            <a:ext cx="5173980" cy="10795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681990" y="1915160"/>
            <a:ext cx="6096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rgbClr val="14C0E5"/>
                </a:solidFill>
                <a:latin typeface="Calibri Light" panose="020F0302020204030204" charset="0"/>
                <a:cs typeface="Calibri Light" panose="020F0302020204030204" charset="0"/>
                <a:sym typeface="+mn-ea"/>
              </a:rPr>
              <a:t>Relational</a:t>
            </a:r>
            <a:endParaRPr lang="en-US" sz="2000" b="1">
              <a:solidFill>
                <a:srgbClr val="14C0E5"/>
              </a:solidFill>
              <a:latin typeface="Calibri Light" panose="020F0302020204030204" charset="0"/>
              <a:cs typeface="Calibri Light" panose="020F03020202040302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1990" y="24472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</a:rPr>
              <a:t>Data stored in tables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838950" y="191516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rgbClr val="16D8FF"/>
                </a:solidFill>
              </a:rPr>
              <a:t>Non-relational</a:t>
            </a:r>
            <a:r>
              <a:rPr lang="en-US" sz="2000"/>
              <a:t> </a:t>
            </a:r>
            <a:r>
              <a:rPr lang="en-US" sz="2000">
                <a:solidFill>
                  <a:schemeClr val="bg1"/>
                </a:solidFill>
              </a:rPr>
              <a:t>(NoSQL)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838950" y="24472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</a:rPr>
              <a:t>data not stored in tables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1990" y="64897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chemeClr val="bg1"/>
                </a:solidFill>
              </a:rPr>
              <a:t>** We use SQL to work with relational DBMS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" y="3299460"/>
            <a:ext cx="5127625" cy="16383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3492500"/>
            <a:ext cx="1990725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79755" y="723900"/>
            <a:ext cx="1161224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SQL?</a:t>
            </a:r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27710" y="1666875"/>
            <a:ext cx="10600690" cy="2214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rgbClr val="16D8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Structured Query Language</a:t>
            </a:r>
            <a:endParaRPr lang="en-US" sz="2000" b="1">
              <a:solidFill>
                <a:srgbClr val="16D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solidFill>
                <a:srgbClr val="16D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SQL is a programming language used to interact with relational databases.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It is used to perform CRUD operations :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727710" y="1503680"/>
            <a:ext cx="3480435" cy="762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727710" y="33997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rgbClr val="16D8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reate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27710" y="386905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rgbClr val="16D8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</a:t>
            </a: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ead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27710" y="480758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rgbClr val="16D8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</a:t>
            </a: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pdate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27710" y="43383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rgbClr val="16D8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</a:t>
            </a: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elete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625" y="2692400"/>
            <a:ext cx="8543925" cy="390525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79755" y="723900"/>
            <a:ext cx="5417185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Structure</a:t>
            </a:r>
            <a:endParaRPr lang="en-US" sz="2000">
              <a:solidFill>
                <a:srgbClr val="FFFFFF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675640" y="1480185"/>
            <a:ext cx="5067935" cy="25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19430" y="52006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4400" b="1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048000" y="2706370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our First Database</a:t>
            </a:r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698500" y="1459865"/>
            <a:ext cx="73710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698500" y="167195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first SQL Query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98500" y="29552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rgbClr val="A69F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>
                <a:solidFill>
                  <a:srgbClr val="A69F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000">
                <a:solidFill>
                  <a:srgbClr val="A69F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db_name;</a:t>
            </a:r>
            <a:endParaRPr lang="en-US" sz="2000" i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98500" y="423862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rgbClr val="A69F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 DATABASE </a:t>
            </a:r>
            <a:r>
              <a:rPr lang="en-US" sz="2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db_name;</a:t>
            </a:r>
            <a:endParaRPr lang="en-US" sz="2000" i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our First Table</a:t>
            </a:r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98500" y="1402715"/>
            <a:ext cx="6241415" cy="774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698500" y="18732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rgbClr val="A69F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en-US" sz="2000">
                <a:solidFill>
                  <a:srgbClr val="A69F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db_name;</a:t>
            </a:r>
            <a:endParaRPr lang="en-US" sz="2000" i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98500" y="2750185"/>
            <a:ext cx="609600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rgbClr val="A69FF1"/>
                </a:solidFill>
              </a:rPr>
              <a:t>CREATE TABLE</a:t>
            </a:r>
            <a:r>
              <a:rPr lang="en-US" sz="2000"/>
              <a:t> </a:t>
            </a:r>
            <a:r>
              <a:rPr lang="en-US" sz="2000" i="1">
                <a:solidFill>
                  <a:schemeClr val="bg1"/>
                </a:solidFill>
              </a:rPr>
              <a:t>table_name</a:t>
            </a:r>
            <a:r>
              <a:rPr lang="en-US" sz="2000"/>
              <a:t> </a:t>
            </a:r>
            <a:r>
              <a:rPr lang="en-US" sz="2000">
                <a:solidFill>
                  <a:schemeClr val="bg1"/>
                </a:solidFill>
              </a:rPr>
              <a:t>(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 i="1">
                <a:solidFill>
                  <a:schemeClr val="bg1"/>
                </a:solidFill>
              </a:rPr>
              <a:t>column_name1</a:t>
            </a:r>
            <a:r>
              <a:rPr lang="en-US" sz="2000"/>
              <a:t> </a:t>
            </a:r>
            <a:r>
              <a:rPr lang="en-US" sz="2000">
                <a:solidFill>
                  <a:schemeClr val="bg1"/>
                </a:solidFill>
              </a:rPr>
              <a:t>datatype constraint,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 i="1">
                <a:solidFill>
                  <a:schemeClr val="bg1"/>
                </a:solidFill>
              </a:rPr>
              <a:t>column_name2</a:t>
            </a:r>
            <a:r>
              <a:rPr lang="en-US" sz="2000"/>
              <a:t> </a:t>
            </a:r>
            <a:r>
              <a:rPr lang="en-US" sz="2000">
                <a:solidFill>
                  <a:schemeClr val="bg1"/>
                </a:solidFill>
              </a:rPr>
              <a:t>datatype constraint,</a:t>
            </a:r>
            <a:endParaRPr lang="en-US" sz="2000"/>
          </a:p>
          <a:p>
            <a:r>
              <a:rPr lang="en-US" sz="2000" i="1">
                <a:solidFill>
                  <a:schemeClr val="bg1"/>
                </a:solidFill>
              </a:rPr>
              <a:t>column_name2</a:t>
            </a:r>
            <a:r>
              <a:rPr lang="en-US" sz="2000">
                <a:solidFill>
                  <a:schemeClr val="bg1"/>
                </a:solidFill>
              </a:rPr>
              <a:t> datatype constraint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);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57165" y="1658620"/>
            <a:ext cx="3931285" cy="2143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320" y="1873250"/>
            <a:ext cx="322897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SQL</a:t>
            </a:r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79755" y="1913255"/>
            <a:ext cx="9144000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rgbClr val="17D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DDL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(Data Definition Language) : create, alter, rename, truncate &amp; drop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17D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DQL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(Data Query Language) : select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17D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(Data Manipulation Language) : select, insert, update &amp; delete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17D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DCL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(Data Control Language) : grant &amp; revoke permission to users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17D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TCL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(Transaction Control Language) : start transaction, commit, rollback etc.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718820" y="1459865"/>
            <a:ext cx="670687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713740" y="4686935"/>
            <a:ext cx="4490085" cy="1676400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4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Clause</a:t>
            </a:r>
            <a:endParaRPr lang="en-US" sz="4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713740" y="1459865"/>
            <a:ext cx="44907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713740" y="1753870"/>
            <a:ext cx="93872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Groups rows that have the same values into summary rows.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collects data from multiple records and groups the result by one or more column.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13740" y="3030220"/>
            <a:ext cx="93865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*Generally we use group by with some </a:t>
            </a:r>
            <a:r>
              <a:rPr lang="en-US" sz="2000">
                <a:solidFill>
                  <a:srgbClr val="16D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 function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13740" y="3998595"/>
            <a:ext cx="44913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 number of students in each city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995" y="4966970"/>
            <a:ext cx="393446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Sub Queries</a:t>
            </a:r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718820" y="1439545"/>
            <a:ext cx="4521835" cy="50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718820" y="1661160"/>
            <a:ext cx="1147318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Subquery or Inner query or a Nested query is a query within another SQL query.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involves 2 select statements.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18820" y="3295015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i="1">
                <a:solidFill>
                  <a:schemeClr val="bg1"/>
                </a:solidFill>
              </a:rPr>
              <a:t>Syntax</a:t>
            </a:r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  <a:p>
            <a:r>
              <a:rPr lang="en-US" sz="2000" b="1">
                <a:solidFill>
                  <a:srgbClr val="A69EF1"/>
                </a:solidFill>
              </a:rPr>
              <a:t>SELECT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i="1">
                <a:solidFill>
                  <a:schemeClr val="bg1"/>
                </a:solidFill>
              </a:rPr>
              <a:t>column(s)</a:t>
            </a:r>
            <a:endParaRPr lang="en-US" sz="2000" i="1">
              <a:solidFill>
                <a:schemeClr val="bg1"/>
              </a:solidFill>
            </a:endParaRPr>
          </a:p>
          <a:p>
            <a:r>
              <a:rPr lang="en-US" sz="2000" b="1">
                <a:solidFill>
                  <a:srgbClr val="A69EF1"/>
                </a:solidFill>
              </a:rPr>
              <a:t>FROM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i="1">
                <a:solidFill>
                  <a:schemeClr val="bg1"/>
                </a:solidFill>
              </a:rPr>
              <a:t>table_name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 b="1">
                <a:solidFill>
                  <a:srgbClr val="A69EF1"/>
                </a:solidFill>
              </a:rPr>
              <a:t>WHERE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i="1">
                <a:solidFill>
                  <a:schemeClr val="bg1"/>
                </a:solidFill>
              </a:rPr>
              <a:t>col_name operator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 i="1">
                <a:solidFill>
                  <a:schemeClr val="bg1"/>
                </a:solidFill>
              </a:rPr>
              <a:t>( </a:t>
            </a:r>
            <a:r>
              <a:rPr lang="en-US" sz="2000" i="1">
                <a:solidFill>
                  <a:schemeClr val="bg1"/>
                </a:solidFill>
              </a:rPr>
              <a:t>subquery );</a:t>
            </a:r>
            <a:endParaRPr lang="en-US" sz="2000" i="1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735" y="2223770"/>
            <a:ext cx="4829175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rgbClr val="2F7AF4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Types of Joins</a:t>
            </a:r>
            <a:endParaRPr lang="en-US" sz="4400" b="1">
              <a:solidFill>
                <a:srgbClr val="2F7AF4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718820" y="1435100"/>
            <a:ext cx="3832860" cy="4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0" y="1658620"/>
            <a:ext cx="10883900" cy="354139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H="1">
            <a:off x="751840" y="1463040"/>
            <a:ext cx="38506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rgbClr val="2F7AF4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Inner Join</a:t>
            </a:r>
            <a:endParaRPr lang="en-US" sz="4400" b="1">
              <a:solidFill>
                <a:srgbClr val="2F7AF4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50240" y="1972945"/>
            <a:ext cx="809752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records that have matching values in both tables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  <a:endParaRPr lang="en-US" sz="20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F769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column(s)</a:t>
            </a:r>
            <a:endParaRPr lang="en-US" sz="20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F769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tableA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F769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 JOIN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tableB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F769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tableA.col_name = tableB.col_name;</a:t>
            </a:r>
            <a:endParaRPr lang="en-US" sz="20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75640" y="1407160"/>
            <a:ext cx="268732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8535" y="2171700"/>
            <a:ext cx="2675890" cy="1793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456815" y="2593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IN" altLang="en-US"/>
          </a:p>
        </p:txBody>
      </p:sp>
      <p:cxnSp>
        <p:nvCxnSpPr>
          <p:cNvPr id="7" name="Straight Connector 6"/>
          <p:cNvCxnSpPr/>
          <p:nvPr/>
        </p:nvCxnSpPr>
        <p:spPr>
          <a:xfrm flipH="1" flipV="1">
            <a:off x="3870960" y="1366520"/>
            <a:ext cx="3155950" cy="6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3580765" y="3641090"/>
            <a:ext cx="32823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UNION ALL operator returns results from both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queries, including all duplications.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3355" y="3641090"/>
            <a:ext cx="31559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UNION operator returns results from both queries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after eliminating duplications.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015605" y="3641090"/>
            <a:ext cx="35655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Use the INTERSECT operator to return all rows common to multiple queries.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7887335" y="1372870"/>
            <a:ext cx="3460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567690" y="1310640"/>
            <a:ext cx="19792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965325"/>
            <a:ext cx="3211830" cy="12668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630" y="1962785"/>
            <a:ext cx="3762375" cy="1270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135" y="1971675"/>
            <a:ext cx="3282950" cy="1261110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1185545" y="1603375"/>
            <a:ext cx="882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latin typeface="Arial" panose="020B0604020202020204" pitchFamily="34" charset="0"/>
                <a:cs typeface="Arial" panose="020B0604020202020204" pitchFamily="34" charset="0"/>
              </a:rPr>
              <a:t>A U B</a:t>
            </a:r>
            <a:endParaRPr lang="en-IN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4761865" y="1600835"/>
            <a:ext cx="2072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latin typeface="Arial" panose="020B0604020202020204" pitchFamily="34" charset="0"/>
                <a:cs typeface="Arial" panose="020B0604020202020204" pitchFamily="34" charset="0"/>
              </a:rPr>
              <a:t>A UNION ALL B</a:t>
            </a:r>
            <a:endParaRPr lang="en-IN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9178925" y="1600835"/>
            <a:ext cx="1055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latin typeface="Arial" panose="020B0604020202020204" pitchFamily="34" charset="0"/>
                <a:cs typeface="Arial" panose="020B0604020202020204" pitchFamily="34" charset="0"/>
              </a:rPr>
              <a:t>A ∩ B</a:t>
            </a:r>
            <a:endParaRPr lang="en-IN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3812540" y="695325"/>
            <a:ext cx="342455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4400" b="1">
                <a:solidFill>
                  <a:srgbClr val="2F7AF4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UNION ALL</a:t>
            </a:r>
            <a:endParaRPr lang="en-IN" altLang="en-US" sz="4400" b="1">
              <a:solidFill>
                <a:srgbClr val="2F7AF4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713345" y="695325"/>
            <a:ext cx="351155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 b="1">
                <a:solidFill>
                  <a:srgbClr val="2F7AF4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INTERSECT</a:t>
            </a:r>
            <a:endParaRPr lang="en-US" sz="4400" b="1">
              <a:solidFill>
                <a:srgbClr val="2F7AF4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548005" y="647065"/>
            <a:ext cx="2032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4400" b="1">
                <a:solidFill>
                  <a:srgbClr val="2F7AF4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UNION</a:t>
            </a:r>
            <a:endParaRPr lang="en-IN" altLang="en-US" sz="4400" b="1">
              <a:solidFill>
                <a:srgbClr val="2F7AF4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30" y="4972050"/>
            <a:ext cx="2971800" cy="146685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630" y="4971415"/>
            <a:ext cx="3761740" cy="173355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5605" y="4971415"/>
            <a:ext cx="3019425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255" y="4283075"/>
            <a:ext cx="4690745" cy="25749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 Views</a:t>
            </a:r>
            <a:endParaRPr lang="en-IN" alt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98500" y="1402715"/>
            <a:ext cx="6241415" cy="774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698500" y="1557020"/>
            <a:ext cx="96818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</a:rPr>
              <a:t>A view is a virtual table based on the result-set of an SQL statement.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98500" y="525843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*A view always shows up-to-date data. The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engine recreates the view, every time a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queries it.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489950" y="3884295"/>
            <a:ext cx="27133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Views</a:t>
            </a:r>
            <a:endParaRPr lang="en-IN" alt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7865" y="2276475"/>
            <a:ext cx="4588510" cy="17722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" y="2495550"/>
            <a:ext cx="3939540" cy="13341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6684645" y="1886585"/>
            <a:ext cx="5257165" cy="17722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635" y="2190750"/>
            <a:ext cx="4910455" cy="12382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89280" y="1886585"/>
            <a:ext cx="609600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Top-N queries ask for the n largest or smallest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of a column. 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example: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What are the ten best selling products?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What are the ten worst selling products?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Both largest values and smallest values sets are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considered Top-N queries.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79755" y="723900"/>
            <a:ext cx="7668260" cy="67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4400" b="1">
                <a:solidFill>
                  <a:srgbClr val="FFA51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Top-N Analysis</a:t>
            </a:r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en-US" sz="4400" b="1">
              <a:solidFill>
                <a:srgbClr val="FFA51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98500" y="1439545"/>
            <a:ext cx="3956050" cy="38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635" y="3783965"/>
            <a:ext cx="5002530" cy="23920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2485</Words>
  <Application>WPS Presentation</Application>
  <PresentationFormat>Widescreen</PresentationFormat>
  <Paragraphs>158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Adobe Gothic Std B</vt:lpstr>
      <vt:lpstr>Calibri Light</vt:lpstr>
      <vt:lpstr>Microsoft YaHei</vt:lpstr>
      <vt:lpstr>Arial Unicode MS</vt:lpstr>
      <vt:lpstr>Calibri</vt:lpstr>
      <vt:lpstr>Broadway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Rahul</cp:lastModifiedBy>
  <cp:revision>21</cp:revision>
  <dcterms:created xsi:type="dcterms:W3CDTF">2024-05-29T04:54:00Z</dcterms:created>
  <dcterms:modified xsi:type="dcterms:W3CDTF">2024-05-31T19:37:36Z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FDE398B924F64DA28EE5111F8734BF07_11</vt:lpwstr>
  </property>
  <property fmtid="{D5CDD505-2E9C-101B-9397-08002B2CF9AE}" pid="3" name="KSOProductBuildVer">
    <vt:lpwstr>1033-12.2.0.16909</vt:lpwstr>
  </property>
</Properties>
</file>