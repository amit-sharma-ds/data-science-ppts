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webp" ContentType="image/webp"/>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3"/>
    <p:sldId id="258" r:id="rId4"/>
    <p:sldId id="260" r:id="rId5"/>
    <p:sldId id="262" r:id="rId6"/>
    <p:sldId id="261" r:id="rId7"/>
    <p:sldId id="263" r:id="rId8"/>
    <p:sldId id="265" r:id="rId9"/>
    <p:sldId id="266" r:id="rId10"/>
    <p:sldId id="268" r:id="rId11"/>
    <p:sldId id="267"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web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905" y="19050"/>
            <a:ext cx="12190730" cy="68573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12192000" cy="523113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Modules and pip in Python!</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Module is like a code library which can be used to borrow code written by somebody else in our python program. There are </a:t>
            </a:r>
            <a:r>
              <a:rPr lang="en-US" u="sng">
                <a:solidFill>
                  <a:srgbClr val="00B0F0"/>
                </a:solidFill>
              </a:rPr>
              <a:t>two types of modules in python:</a:t>
            </a:r>
            <a:endParaRPr lang="en-US"/>
          </a:p>
          <a:p>
            <a:endParaRPr lang="en-US"/>
          </a:p>
          <a:p>
            <a:pPr marL="285750" indent="-285750">
              <a:buFont typeface="Wingdings" panose="05000000000000000000" charset="0"/>
              <a:buChar char="v"/>
            </a:pPr>
            <a:r>
              <a:rPr lang="en-US">
                <a:solidFill>
                  <a:srgbClr val="FF0000"/>
                </a:solidFill>
              </a:rPr>
              <a:t>   </a:t>
            </a:r>
            <a:r>
              <a:rPr lang="en-US"/>
              <a:t> </a:t>
            </a:r>
            <a:r>
              <a:rPr lang="en-US" b="1" u="sng">
                <a:solidFill>
                  <a:srgbClr val="FF0000"/>
                </a:solidFill>
              </a:rPr>
              <a:t>Built in Modules</a:t>
            </a:r>
            <a:r>
              <a:rPr lang="en-US"/>
              <a:t> - These modules are ready to import and use and ships with the python interpreter. there is no need to install such modules explicitly.</a:t>
            </a:r>
            <a:endParaRPr lang="en-US"/>
          </a:p>
          <a:p>
            <a:pPr marL="285750" indent="-285750">
              <a:buFont typeface="Wingdings" panose="05000000000000000000" charset="0"/>
              <a:buChar char="v"/>
            </a:pPr>
            <a:endParaRPr lang="en-US"/>
          </a:p>
          <a:p>
            <a:pPr marL="285750" indent="-285750">
              <a:buFont typeface="Wingdings" panose="05000000000000000000" charset="0"/>
              <a:buChar char="v"/>
            </a:pPr>
            <a:r>
              <a:rPr lang="en-US">
                <a:solidFill>
                  <a:srgbClr val="FF0000"/>
                </a:solidFill>
              </a:rPr>
              <a:t>    </a:t>
            </a:r>
            <a:r>
              <a:rPr lang="en-US" b="1" u="sng">
                <a:solidFill>
                  <a:srgbClr val="FF0000"/>
                </a:solidFill>
              </a:rPr>
              <a:t>External Modules</a:t>
            </a:r>
            <a:r>
              <a:rPr lang="en-US"/>
              <a:t> - These modules are imported from a third party file or can be installed using a package manager like pip or conda. Since this code is written by someone else, we can install different versions of a same module with time.</a:t>
            </a:r>
            <a:endParaRPr lang="en-US"/>
          </a:p>
          <a:p>
            <a:endParaRPr lang="en-US"/>
          </a:p>
          <a:p>
            <a:endParaRPr lang="en-US"/>
          </a:p>
          <a:p>
            <a:pPr marL="285750" indent="-285750">
              <a:buFont typeface="Wingdings" panose="05000000000000000000" charset="0"/>
              <a:buChar char="v"/>
            </a:pPr>
            <a:r>
              <a:rPr lang="en-US" b="1" u="sng">
                <a:solidFill>
                  <a:srgbClr val="FF0000"/>
                </a:solidFill>
              </a:rPr>
              <a:t>The pip command</a:t>
            </a:r>
            <a:endParaRPr lang="en-US" b="1" u="sng">
              <a:solidFill>
                <a:srgbClr val="FF0000"/>
              </a:solidFill>
            </a:endParaRPr>
          </a:p>
          <a:p>
            <a:endParaRPr lang="en-US"/>
          </a:p>
          <a:p>
            <a:pPr marL="285750" indent="-285750">
              <a:buFont typeface="Wingdings" panose="05000000000000000000" charset="0"/>
              <a:buChar char="Ø"/>
            </a:pPr>
            <a:r>
              <a:rPr lang="en-US"/>
              <a:t>It can be used as a package manager pip to install a python module. Lets install a module called pandas using the following command</a:t>
            </a:r>
            <a:endParaRPr lang="en-US"/>
          </a:p>
          <a:p>
            <a:endParaRPr lang="en-US"/>
          </a:p>
          <a:p>
            <a:r>
              <a:rPr lang="en-US">
                <a:solidFill>
                  <a:schemeClr val="bg1"/>
                </a:solidFill>
                <a:highlight>
                  <a:srgbClr val="000000"/>
                </a:highlight>
              </a:rPr>
              <a:t>pip install pandas</a:t>
            </a:r>
            <a:endParaRPr lang="en-US">
              <a:solidFill>
                <a:schemeClr val="bg1"/>
              </a:solidFill>
              <a:highlight>
                <a:srgbClr val="0000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3692525"/>
          </a:xfrm>
          <a:prstGeom prst="rect">
            <a:avLst/>
          </a:prstGeom>
          <a:noFill/>
        </p:spPr>
        <p:txBody>
          <a:bodyPr wrap="square" rtlCol="0" anchor="t">
            <a:spAutoFit/>
          </a:bodyPr>
          <a:p>
            <a:pPr marL="285750" indent="-285750">
              <a:buFont typeface="Wingdings" panose="05000000000000000000" charset="0"/>
              <a:buChar char="Ø"/>
            </a:pPr>
            <a:r>
              <a:rPr lang="en-US"/>
              <a:t>Using a module in Python (Usage)</a:t>
            </a:r>
            <a:endParaRPr lang="en-US"/>
          </a:p>
          <a:p>
            <a:endParaRPr lang="en-US"/>
          </a:p>
          <a:p>
            <a:pPr marL="285750" indent="-285750">
              <a:buFont typeface="Wingdings" panose="05000000000000000000" charset="0"/>
              <a:buChar char="Ø"/>
            </a:pPr>
            <a:r>
              <a:rPr lang="en-US"/>
              <a:t>We use the import syntax to import a module in Python. Here is an example code:</a:t>
            </a:r>
            <a:endParaRPr lang="en-US"/>
          </a:p>
          <a:p>
            <a:endParaRPr lang="en-US"/>
          </a:p>
          <a:p>
            <a:r>
              <a:rPr lang="en-US" b="1" u="sng">
                <a:solidFill>
                  <a:schemeClr val="bg1"/>
                </a:solidFill>
                <a:highlight>
                  <a:srgbClr val="000000"/>
                </a:highlight>
              </a:rPr>
              <a:t>import pandas</a:t>
            </a:r>
            <a:endParaRPr lang="en-US" b="1" u="sng">
              <a:solidFill>
                <a:schemeClr val="bg1"/>
              </a:solidFill>
              <a:highlight>
                <a:srgbClr val="000000"/>
              </a:highlight>
            </a:endParaRPr>
          </a:p>
          <a:p>
            <a:endParaRPr lang="en-US"/>
          </a:p>
          <a:p>
            <a:r>
              <a:rPr lang="en-US" b="1" u="sng">
                <a:solidFill>
                  <a:schemeClr val="bg1"/>
                </a:solidFill>
                <a:highlight>
                  <a:srgbClr val="000000"/>
                </a:highlight>
              </a:rPr>
              <a:t># Read and work with a file named 'words.csv'</a:t>
            </a:r>
            <a:endParaRPr lang="en-US" b="1" u="sng">
              <a:solidFill>
                <a:schemeClr val="bg1"/>
              </a:solidFill>
              <a:highlight>
                <a:srgbClr val="000000"/>
              </a:highlight>
            </a:endParaRPr>
          </a:p>
          <a:p>
            <a:endParaRPr lang="en-US" b="1" u="sng"/>
          </a:p>
          <a:p>
            <a:r>
              <a:rPr lang="en-US">
                <a:solidFill>
                  <a:schemeClr val="bg1"/>
                </a:solidFill>
                <a:highlight>
                  <a:srgbClr val="000000"/>
                </a:highlight>
              </a:rPr>
              <a:t>df = pandas.read_csv('words.csv')</a:t>
            </a:r>
            <a:endParaRPr lang="en-US">
              <a:solidFill>
                <a:schemeClr val="bg1"/>
              </a:solidFill>
              <a:highlight>
                <a:srgbClr val="000000"/>
              </a:highlight>
            </a:endParaRPr>
          </a:p>
          <a:p>
            <a:r>
              <a:rPr lang="en-US">
                <a:solidFill>
                  <a:schemeClr val="bg1"/>
                </a:solidFill>
                <a:highlight>
                  <a:srgbClr val="000000"/>
                </a:highlight>
              </a:rPr>
              <a:t>print(df) # This will display first few rows from the words.csv file</a:t>
            </a:r>
            <a:endParaRPr lang="en-US">
              <a:solidFill>
                <a:schemeClr val="bg1"/>
              </a:solidFill>
              <a:highlight>
                <a:srgbClr val="000000"/>
              </a:highlight>
            </a:endParaRPr>
          </a:p>
          <a:p>
            <a:endParaRPr lang="en-US"/>
          </a:p>
          <a:p>
            <a:pPr marL="285750" indent="-285750">
              <a:buFont typeface="Wingdings" panose="05000000000000000000" charset="0"/>
              <a:buChar char="Ø"/>
            </a:pPr>
            <a:r>
              <a:rPr lang="en-US"/>
              <a:t>Similarly we can install other modules and look into their </a:t>
            </a:r>
            <a:r>
              <a:rPr lang="en-US" u="sng">
                <a:solidFill>
                  <a:srgbClr val="00B0F0"/>
                </a:solidFill>
              </a:rPr>
              <a:t>documentations</a:t>
            </a:r>
            <a:r>
              <a:rPr lang="en-US"/>
              <a:t> for usage instructions.</a:t>
            </a:r>
            <a:endParaRPr lang="en-US"/>
          </a:p>
          <a:p>
            <a:pPr marL="285750" indent="-285750">
              <a:buFont typeface="Wingdings" panose="05000000000000000000" charset="0"/>
              <a:buChar char="Ø"/>
            </a:pPr>
            <a:r>
              <a:rPr lang="en-US"/>
              <a:t>We will find ourselved doing this often in the later part of this course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655955"/>
            <a:ext cx="12192635" cy="2306955"/>
          </a:xfrm>
          <a:prstGeom prst="rect">
            <a:avLst/>
          </a:prstGeom>
          <a:noFill/>
        </p:spPr>
        <p:txBody>
          <a:bodyPr wrap="square" rtlCol="0" anchor="t">
            <a:spAutoFit/>
          </a:bodyPr>
          <a:p>
            <a:pPr marL="285750" indent="-285750">
              <a:buFont typeface="Wingdings" panose="05000000000000000000" charset="0"/>
              <a:buChar char="Ø"/>
            </a:pPr>
            <a:r>
              <a:rPr lang="en-US"/>
              <a:t>In Python, a package is a way of organizing related modules. A package can contain multiple modules (Python files) and sub-packages (subdirectories containing their own modules and sub-packages). Packages are used to structure larger Python projects and to avoid naming conflicts between modules.</a:t>
            </a:r>
            <a:endParaRPr lang="en-US"/>
          </a:p>
          <a:p>
            <a:endParaRPr lang="en-US"/>
          </a:p>
          <a:p>
            <a:pPr marL="285750" indent="-285750">
              <a:buFont typeface="Wingdings" panose="05000000000000000000" charset="0"/>
              <a:buChar char="Ø"/>
            </a:pPr>
            <a:r>
              <a:rPr lang="en-US"/>
              <a:t>To create a package, you simply create a directory with an __init__.py file inside it. This __init__.py file can be empty or can contain initialization code for the package.</a:t>
            </a:r>
            <a:endParaRPr lang="en-US"/>
          </a:p>
          <a:p>
            <a:endParaRPr lang="en-US"/>
          </a:p>
          <a:p>
            <a:r>
              <a:rPr lang="en-US"/>
              <a:t>Here's a basic example of how you might structure a Python package:</a:t>
            </a:r>
            <a:endParaRPr lang="en-US"/>
          </a:p>
        </p:txBody>
      </p:sp>
      <p:sp>
        <p:nvSpPr>
          <p:cNvPr id="3" name="Text Box 2"/>
          <p:cNvSpPr txBox="1"/>
          <p:nvPr/>
        </p:nvSpPr>
        <p:spPr>
          <a:xfrm>
            <a:off x="0" y="3065780"/>
            <a:ext cx="6096000" cy="2584450"/>
          </a:xfrm>
          <a:prstGeom prst="rect">
            <a:avLst/>
          </a:prstGeom>
          <a:noFill/>
        </p:spPr>
        <p:txBody>
          <a:bodyPr wrap="square" rtlCol="0" anchor="t">
            <a:spAutoFit/>
          </a:bodyPr>
          <a:p>
            <a:r>
              <a:rPr lang="en-IN" altLang="en-US">
                <a:solidFill>
                  <a:srgbClr val="00B0F0"/>
                </a:solidFill>
                <a:highlight>
                  <a:srgbClr val="000000"/>
                </a:highlight>
              </a:rPr>
              <a:t>code:</a:t>
            </a:r>
            <a:endParaRPr lang="en-US">
              <a:solidFill>
                <a:srgbClr val="00B0F0"/>
              </a:solidFill>
              <a:highlight>
                <a:srgbClr val="000000"/>
              </a:highlight>
            </a:endParaRPr>
          </a:p>
          <a:p>
            <a:r>
              <a:rPr lang="en-US">
                <a:solidFill>
                  <a:schemeClr val="bg1"/>
                </a:solidFill>
                <a:highlight>
                  <a:srgbClr val="000000"/>
                </a:highlight>
              </a:rPr>
              <a:t>my_package/</a:t>
            </a:r>
            <a:endParaRPr lang="en-US">
              <a:solidFill>
                <a:schemeClr val="bg1"/>
              </a:solidFill>
              <a:highlight>
                <a:srgbClr val="000000"/>
              </a:highlight>
            </a:endParaRPr>
          </a:p>
          <a:p>
            <a:r>
              <a:rPr lang="en-US">
                <a:solidFill>
                  <a:schemeClr val="bg1"/>
                </a:solidFill>
                <a:highlight>
                  <a:srgbClr val="000000"/>
                </a:highlight>
              </a:rPr>
              <a:t>    __init__.py</a:t>
            </a:r>
            <a:endParaRPr lang="en-US">
              <a:solidFill>
                <a:schemeClr val="bg1"/>
              </a:solidFill>
              <a:highlight>
                <a:srgbClr val="000000"/>
              </a:highlight>
            </a:endParaRPr>
          </a:p>
          <a:p>
            <a:r>
              <a:rPr lang="en-US">
                <a:solidFill>
                  <a:schemeClr val="bg1"/>
                </a:solidFill>
                <a:highlight>
                  <a:srgbClr val="000000"/>
                </a:highlight>
              </a:rPr>
              <a:t>    module1.py</a:t>
            </a:r>
            <a:endParaRPr lang="en-US">
              <a:solidFill>
                <a:schemeClr val="bg1"/>
              </a:solidFill>
              <a:highlight>
                <a:srgbClr val="000000"/>
              </a:highlight>
            </a:endParaRPr>
          </a:p>
          <a:p>
            <a:r>
              <a:rPr lang="en-US">
                <a:solidFill>
                  <a:schemeClr val="bg1"/>
                </a:solidFill>
                <a:highlight>
                  <a:srgbClr val="000000"/>
                </a:highlight>
              </a:rPr>
              <a:t>    module2.py</a:t>
            </a:r>
            <a:endParaRPr lang="en-US">
              <a:solidFill>
                <a:schemeClr val="bg1"/>
              </a:solidFill>
              <a:highlight>
                <a:srgbClr val="000000"/>
              </a:highlight>
            </a:endParaRPr>
          </a:p>
          <a:p>
            <a:r>
              <a:rPr lang="en-US">
                <a:solidFill>
                  <a:schemeClr val="bg1"/>
                </a:solidFill>
                <a:highlight>
                  <a:srgbClr val="000000"/>
                </a:highlight>
              </a:rPr>
              <a:t>    subpackage/</a:t>
            </a:r>
            <a:endParaRPr lang="en-US">
              <a:solidFill>
                <a:schemeClr val="bg1"/>
              </a:solidFill>
              <a:highlight>
                <a:srgbClr val="000000"/>
              </a:highlight>
            </a:endParaRPr>
          </a:p>
          <a:p>
            <a:r>
              <a:rPr lang="en-US">
                <a:solidFill>
                  <a:schemeClr val="bg1"/>
                </a:solidFill>
                <a:highlight>
                  <a:srgbClr val="000000"/>
                </a:highlight>
              </a:rPr>
              <a:t>        __init__.py</a:t>
            </a:r>
            <a:endParaRPr lang="en-US">
              <a:solidFill>
                <a:schemeClr val="bg1"/>
              </a:solidFill>
              <a:highlight>
                <a:srgbClr val="000000"/>
              </a:highlight>
            </a:endParaRPr>
          </a:p>
          <a:p>
            <a:r>
              <a:rPr lang="en-US">
                <a:solidFill>
                  <a:schemeClr val="bg1"/>
                </a:solidFill>
                <a:highlight>
                  <a:srgbClr val="000000"/>
                </a:highlight>
              </a:rPr>
              <a:t>        submodule1.py</a:t>
            </a:r>
            <a:endParaRPr lang="en-US">
              <a:solidFill>
                <a:schemeClr val="bg1"/>
              </a:solidFill>
              <a:highlight>
                <a:srgbClr val="000000"/>
              </a:highlight>
            </a:endParaRPr>
          </a:p>
          <a:p>
            <a:r>
              <a:rPr lang="en-US">
                <a:solidFill>
                  <a:schemeClr val="bg1"/>
                </a:solidFill>
                <a:highlight>
                  <a:srgbClr val="000000"/>
                </a:highlight>
              </a:rPr>
              <a:t>        submodule2.py</a:t>
            </a:r>
            <a:endParaRPr lang="en-US">
              <a:solidFill>
                <a:schemeClr val="bg1"/>
              </a:solidFill>
              <a:highlight>
                <a:srgbClr val="000000"/>
              </a:highlight>
            </a:endParaRPr>
          </a:p>
        </p:txBody>
      </p:sp>
      <p:sp>
        <p:nvSpPr>
          <p:cNvPr id="4" name="Text Box 3"/>
          <p:cNvSpPr txBox="1"/>
          <p:nvPr/>
        </p:nvSpPr>
        <p:spPr>
          <a:xfrm>
            <a:off x="0" y="5650230"/>
            <a:ext cx="12192000" cy="368300"/>
          </a:xfrm>
          <a:prstGeom prst="rect">
            <a:avLst/>
          </a:prstGeom>
          <a:noFill/>
        </p:spPr>
        <p:txBody>
          <a:bodyPr wrap="square" rtlCol="0" anchor="t">
            <a:spAutoFit/>
          </a:bodyPr>
          <a:p>
            <a:pPr marL="285750" indent="-285750">
              <a:buFont typeface="Wingdings" panose="05000000000000000000" charset="0"/>
              <a:buChar char="Ø"/>
            </a:pPr>
            <a:r>
              <a:rPr lang="en-US"/>
              <a:t>To use modules and sub-packages from a package in your Python code, you can import them using dot notation. For example:</a:t>
            </a:r>
            <a:endParaRPr lang="en-US"/>
          </a:p>
        </p:txBody>
      </p:sp>
      <p:sp>
        <p:nvSpPr>
          <p:cNvPr id="5" name="Text Box 4"/>
          <p:cNvSpPr txBox="1"/>
          <p:nvPr/>
        </p:nvSpPr>
        <p:spPr>
          <a:xfrm>
            <a:off x="0" y="6212840"/>
            <a:ext cx="6096000" cy="645160"/>
          </a:xfrm>
          <a:prstGeom prst="rect">
            <a:avLst/>
          </a:prstGeom>
          <a:noFill/>
        </p:spPr>
        <p:txBody>
          <a:bodyPr wrap="square" rtlCol="0" anchor="t">
            <a:spAutoFit/>
          </a:bodyPr>
          <a:p>
            <a:r>
              <a:rPr lang="en-US">
                <a:solidFill>
                  <a:schemeClr val="bg1"/>
                </a:solidFill>
                <a:highlight>
                  <a:srgbClr val="000000"/>
                </a:highlight>
                <a:sym typeface="+mn-ea"/>
              </a:rPr>
              <a:t>import my_package.module1</a:t>
            </a:r>
            <a:endParaRPr lang="en-US">
              <a:solidFill>
                <a:schemeClr val="bg1"/>
              </a:solidFill>
              <a:highlight>
                <a:srgbClr val="000000"/>
              </a:highlight>
            </a:endParaRPr>
          </a:p>
          <a:p>
            <a:r>
              <a:rPr lang="en-US">
                <a:solidFill>
                  <a:schemeClr val="bg1"/>
                </a:solidFill>
                <a:highlight>
                  <a:srgbClr val="000000"/>
                </a:highlight>
                <a:sym typeface="+mn-ea"/>
              </a:rPr>
              <a:t>from my_package.subpackage import submodule1</a:t>
            </a:r>
            <a:endParaRPr lang="en-US">
              <a:solidFill>
                <a:schemeClr val="bg1"/>
              </a:solidFill>
              <a:highlight>
                <a:srgbClr val="000000"/>
              </a:highlight>
              <a:sym typeface="+mn-ea"/>
            </a:endParaRPr>
          </a:p>
        </p:txBody>
      </p:sp>
      <p:sp>
        <p:nvSpPr>
          <p:cNvPr id="6" name="Text Box 5"/>
          <p:cNvSpPr txBox="1"/>
          <p:nvPr/>
        </p:nvSpPr>
        <p:spPr>
          <a:xfrm>
            <a:off x="0" y="0"/>
            <a:ext cx="6866255" cy="521970"/>
          </a:xfrm>
          <a:prstGeom prst="rect">
            <a:avLst/>
          </a:prstGeom>
          <a:noFill/>
        </p:spPr>
        <p:txBody>
          <a:bodyPr wrap="square" rtlCol="0">
            <a:spAutoFit/>
          </a:bodyPr>
          <a:p>
            <a:pPr marL="457200" indent="-457200">
              <a:buFont typeface="Wingdings" panose="05000000000000000000" charset="0"/>
              <a:buChar char="q"/>
            </a:pPr>
            <a:r>
              <a:rPr lang="en-IN" altLang="en-US" sz="2800" u="sng">
                <a:solidFill>
                  <a:srgbClr val="FF0000"/>
                </a:solidFill>
                <a:latin typeface="Broadway" panose="04040905080B02020502" charset="0"/>
                <a:cs typeface="Broadway" panose="04040905080B02020502" charset="0"/>
              </a:rPr>
              <a:t>Packages in Python</a:t>
            </a:r>
            <a:endParaRPr lang="en-IN" altLang="en-US" sz="2800" u="sng">
              <a:solidFill>
                <a:srgbClr val="FF0000"/>
              </a:solidFill>
              <a:latin typeface="Broadway" panose="04040905080B02020502" charset="0"/>
              <a:cs typeface="Broadway" panose="04040905080B0202050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0" y="0"/>
            <a:ext cx="10996295" cy="368300"/>
          </a:xfrm>
          <a:prstGeom prst="rect">
            <a:avLst/>
          </a:prstGeom>
          <a:noFill/>
        </p:spPr>
        <p:txBody>
          <a:bodyPr wrap="square" rtlCol="0" anchor="t">
            <a:spAutoFit/>
          </a:bodyPr>
          <a:p>
            <a:pPr marL="285750" indent="-285750">
              <a:buFont typeface="Wingdings" panose="05000000000000000000" charset="0"/>
              <a:buChar char="v"/>
            </a:pPr>
            <a:r>
              <a:rPr lang="en-US" b="1" u="sng">
                <a:solidFill>
                  <a:srgbClr val="FF0000"/>
                </a:solidFill>
              </a:rPr>
              <a:t>Alternatively, you can use relative imports within the package itself:</a:t>
            </a:r>
            <a:endParaRPr lang="en-US" b="1" u="sng">
              <a:solidFill>
                <a:srgbClr val="FF0000"/>
              </a:solidFill>
            </a:endParaRPr>
          </a:p>
        </p:txBody>
      </p:sp>
      <p:sp>
        <p:nvSpPr>
          <p:cNvPr id="4" name="Text Box 3"/>
          <p:cNvSpPr txBox="1"/>
          <p:nvPr/>
        </p:nvSpPr>
        <p:spPr>
          <a:xfrm>
            <a:off x="0" y="521335"/>
            <a:ext cx="6096000" cy="645160"/>
          </a:xfrm>
          <a:prstGeom prst="rect">
            <a:avLst/>
          </a:prstGeom>
          <a:noFill/>
        </p:spPr>
        <p:txBody>
          <a:bodyPr wrap="square" rtlCol="0" anchor="t">
            <a:spAutoFit/>
          </a:bodyPr>
          <a:p>
            <a:r>
              <a:rPr lang="en-US">
                <a:solidFill>
                  <a:schemeClr val="bg1"/>
                </a:solidFill>
                <a:highlight>
                  <a:srgbClr val="000000"/>
                </a:highlight>
              </a:rPr>
              <a:t>from . import module1</a:t>
            </a:r>
            <a:endParaRPr lang="en-US">
              <a:solidFill>
                <a:schemeClr val="bg1"/>
              </a:solidFill>
              <a:highlight>
                <a:srgbClr val="000000"/>
              </a:highlight>
            </a:endParaRPr>
          </a:p>
          <a:p>
            <a:r>
              <a:rPr lang="en-US">
                <a:solidFill>
                  <a:schemeClr val="bg1"/>
                </a:solidFill>
                <a:highlight>
                  <a:srgbClr val="000000"/>
                </a:highlight>
              </a:rPr>
              <a:t>from .subpackage import submodule1</a:t>
            </a:r>
            <a:endParaRPr lang="en-US">
              <a:solidFill>
                <a:schemeClr val="bg1"/>
              </a:solidFill>
              <a:highlight>
                <a:srgbClr val="000000"/>
              </a:highlight>
            </a:endParaRPr>
          </a:p>
        </p:txBody>
      </p:sp>
      <p:sp>
        <p:nvSpPr>
          <p:cNvPr id="5" name="Text Box 4"/>
          <p:cNvSpPr txBox="1"/>
          <p:nvPr/>
        </p:nvSpPr>
        <p:spPr>
          <a:xfrm>
            <a:off x="0" y="1595755"/>
            <a:ext cx="12192000" cy="645160"/>
          </a:xfrm>
          <a:prstGeom prst="rect">
            <a:avLst/>
          </a:prstGeom>
          <a:noFill/>
        </p:spPr>
        <p:txBody>
          <a:bodyPr wrap="square" rtlCol="0" anchor="t">
            <a:spAutoFit/>
          </a:bodyPr>
          <a:p>
            <a:pPr marL="285750" indent="-285750">
              <a:buFont typeface="Wingdings" panose="05000000000000000000" charset="0"/>
              <a:buChar char="Ø"/>
            </a:pPr>
            <a:r>
              <a:rPr lang="en-US"/>
              <a:t>Python's packaging ecosystem also provides tools like setuptools and pip to help you create, distribute, and install packages. These tools allow you to specify dependencies, versioning, and other metadata for your packages.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635" y="0"/>
            <a:ext cx="12192000" cy="68573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523113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How importing in python works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Importing in Python is the process of loading code from a Python module into the current script. This allows you to use the functions and variables defined in the module in your current script, as well as any additional modules that the imported module may depend on.</a:t>
            </a:r>
            <a:endParaRPr lang="en-US"/>
          </a:p>
          <a:p>
            <a:endParaRPr lang="en-US"/>
          </a:p>
          <a:p>
            <a:pPr marL="285750" indent="-285750">
              <a:buFont typeface="Wingdings" panose="05000000000000000000" charset="0"/>
              <a:buChar char="Ø"/>
            </a:pPr>
            <a:r>
              <a:rPr lang="en-US"/>
              <a:t>To import a module in Python, you use the import statement followed by the name of the module. For example, to import the math module, which contains a variety of mathematical functions, you would use the following statement:</a:t>
            </a:r>
            <a:endParaRPr lang="en-US"/>
          </a:p>
          <a:p>
            <a:endParaRPr lang="en-US"/>
          </a:p>
          <a:p>
            <a:r>
              <a:rPr lang="en-US">
                <a:solidFill>
                  <a:schemeClr val="accent5">
                    <a:lumMod val="40000"/>
                    <a:lumOff val="60000"/>
                  </a:schemeClr>
                </a:solidFill>
                <a:highlight>
                  <a:srgbClr val="000000"/>
                </a:highlight>
              </a:rPr>
              <a:t>import math</a:t>
            </a:r>
            <a:endParaRPr lang="en-US">
              <a:solidFill>
                <a:schemeClr val="accent5">
                  <a:lumMod val="40000"/>
                  <a:lumOff val="60000"/>
                </a:schemeClr>
              </a:solidFill>
              <a:highlight>
                <a:srgbClr val="000000"/>
              </a:highlight>
            </a:endParaRPr>
          </a:p>
          <a:p>
            <a:endParaRPr lang="en-US"/>
          </a:p>
          <a:p>
            <a:pPr marL="285750" indent="-285750">
              <a:buFont typeface="Wingdings" panose="05000000000000000000" charset="0"/>
              <a:buChar char="Ø"/>
            </a:pPr>
            <a:r>
              <a:rPr lang="en-US"/>
              <a:t>Once a module is imported, you can use any of the functions and variables defined in the module by using the dot notation. For example, to use the sqrt function from the math module, you would write:</a:t>
            </a:r>
            <a:endParaRPr lang="en-US"/>
          </a:p>
          <a:p>
            <a:endParaRPr lang="en-US"/>
          </a:p>
          <a:p>
            <a:r>
              <a:rPr lang="en-US">
                <a:solidFill>
                  <a:schemeClr val="accent5">
                    <a:lumMod val="40000"/>
                    <a:lumOff val="60000"/>
                  </a:schemeClr>
                </a:solidFill>
                <a:highlight>
                  <a:srgbClr val="000000"/>
                </a:highlight>
              </a:rPr>
              <a:t>import math</a:t>
            </a:r>
            <a:endParaRPr lang="en-US">
              <a:solidFill>
                <a:schemeClr val="accent5">
                  <a:lumMod val="40000"/>
                  <a:lumOff val="60000"/>
                </a:schemeClr>
              </a:solidFill>
              <a:highlight>
                <a:srgbClr val="000000"/>
              </a:highlight>
            </a:endParaRPr>
          </a:p>
          <a:p>
            <a:endParaRPr lang="en-US">
              <a:solidFill>
                <a:schemeClr val="accent5">
                  <a:lumMod val="40000"/>
                  <a:lumOff val="60000"/>
                </a:schemeClr>
              </a:solidFill>
              <a:highlight>
                <a:srgbClr val="000000"/>
              </a:highlight>
            </a:endParaRPr>
          </a:p>
          <a:p>
            <a:r>
              <a:rPr lang="en-US">
                <a:solidFill>
                  <a:schemeClr val="accent5">
                    <a:lumMod val="40000"/>
                    <a:lumOff val="60000"/>
                  </a:schemeClr>
                </a:solidFill>
                <a:highlight>
                  <a:srgbClr val="000000"/>
                </a:highlight>
              </a:rPr>
              <a:t>result = math.sqrt(9)</a:t>
            </a:r>
            <a:endParaRPr lang="en-US">
              <a:solidFill>
                <a:schemeClr val="accent5">
                  <a:lumMod val="40000"/>
                  <a:lumOff val="60000"/>
                </a:schemeClr>
              </a:solidFill>
              <a:highlight>
                <a:srgbClr val="000000"/>
              </a:highlight>
            </a:endParaRPr>
          </a:p>
          <a:p>
            <a:r>
              <a:rPr lang="en-US">
                <a:solidFill>
                  <a:schemeClr val="accent5">
                    <a:lumMod val="40000"/>
                    <a:lumOff val="60000"/>
                  </a:schemeClr>
                </a:solidFill>
                <a:highlight>
                  <a:srgbClr val="000000"/>
                </a:highlight>
              </a:rPr>
              <a:t>print(result)  # Output: 3.0</a:t>
            </a:r>
            <a:endParaRPr lang="en-US">
              <a:solidFill>
                <a:schemeClr val="accent5">
                  <a:lumMod val="40000"/>
                  <a:lumOff val="60000"/>
                </a:schemeClr>
              </a:solidFill>
              <a:highlight>
                <a:srgbClr val="0000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523113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from keyword</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You can also import specific functions or variables from a module using the from keyword. For example, to import only the sqrt function from the math module, you would write:</a:t>
            </a:r>
            <a:endParaRPr lang="en-US"/>
          </a:p>
          <a:p>
            <a:endParaRPr lang="en-US"/>
          </a:p>
          <a:p>
            <a:r>
              <a:rPr lang="en-US">
                <a:solidFill>
                  <a:schemeClr val="accent5">
                    <a:lumMod val="60000"/>
                    <a:lumOff val="40000"/>
                  </a:schemeClr>
                </a:solidFill>
                <a:highlight>
                  <a:srgbClr val="000000"/>
                </a:highlight>
              </a:rPr>
              <a:t>from math import sqrt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result = sqrt(9)</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print(result)  # Output: 3.0</a:t>
            </a:r>
            <a:endParaRPr lang="en-US">
              <a:solidFill>
                <a:schemeClr val="accent5">
                  <a:lumMod val="60000"/>
                  <a:lumOff val="40000"/>
                </a:schemeClr>
              </a:solidFill>
              <a:highlight>
                <a:srgbClr val="000000"/>
              </a:highlight>
            </a:endParaRPr>
          </a:p>
          <a:p>
            <a:endParaRPr lang="en-US"/>
          </a:p>
          <a:p>
            <a:pPr marL="285750" indent="-285750">
              <a:buFont typeface="Wingdings" panose="05000000000000000000" charset="0"/>
              <a:buChar char="Ø"/>
            </a:pPr>
            <a:r>
              <a:rPr lang="en-US"/>
              <a:t>You can also import multiple functions or variables at once by separating them with a comma:</a:t>
            </a:r>
            <a:endParaRPr lang="en-US"/>
          </a:p>
          <a:p>
            <a:endParaRPr lang="en-US"/>
          </a:p>
          <a:p>
            <a:r>
              <a:rPr lang="en-US">
                <a:solidFill>
                  <a:schemeClr val="accent5">
                    <a:lumMod val="60000"/>
                    <a:lumOff val="40000"/>
                  </a:schemeClr>
                </a:solidFill>
                <a:highlight>
                  <a:srgbClr val="000000"/>
                </a:highlight>
              </a:rPr>
              <a:t>from math import sqrt, pi</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result = sqrt(9)</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print(result)  # Output: 3.0</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print(pi)  # Output: 3.141592653589793</a:t>
            </a:r>
            <a:endParaRPr lang="en-US">
              <a:solidFill>
                <a:schemeClr val="accent5">
                  <a:lumMod val="60000"/>
                  <a:lumOff val="40000"/>
                </a:schemeClr>
              </a:solidFill>
              <a:highlight>
                <a:srgbClr val="0000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4399915"/>
          </a:xfrm>
          <a:prstGeom prst="rect">
            <a:avLst/>
          </a:prstGeom>
          <a:noFill/>
        </p:spPr>
        <p:txBody>
          <a:bodyPr wrap="square" rtlCol="0" anchor="t">
            <a:spAutoFit/>
          </a:bodyPr>
          <a:p>
            <a:r>
              <a:rPr lang="en-US" sz="2800" u="sng">
                <a:solidFill>
                  <a:srgbClr val="FF0000"/>
                </a:solidFill>
                <a:latin typeface="Broadway" panose="04040905080B02020502" charset="0"/>
                <a:cs typeface="Broadway" panose="04040905080B02020502" charset="0"/>
              </a:rPr>
              <a:t>importing everything</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It's also possible to import all functions and variables from a module using the * wildcard. However, this is generally not recommended as it can lead to confusion and make it harder to understand where specific functions and variables are coming from.</a:t>
            </a:r>
            <a:endParaRPr lang="en-US"/>
          </a:p>
          <a:p>
            <a:endParaRPr lang="en-US"/>
          </a:p>
          <a:p>
            <a:r>
              <a:rPr lang="en-US"/>
              <a:t>from math import *</a:t>
            </a:r>
            <a:endParaRPr lang="en-US"/>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result = sqrt(9)</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print(result)  # Output: 3.0</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print(pi)  # Output: 3.141592653589793</a:t>
            </a:r>
            <a:endParaRPr lang="en-US">
              <a:solidFill>
                <a:schemeClr val="accent5">
                  <a:lumMod val="60000"/>
                  <a:lumOff val="40000"/>
                </a:schemeClr>
              </a:solidFill>
              <a:highlight>
                <a:srgbClr val="000000"/>
              </a:highlight>
            </a:endParaRPr>
          </a:p>
          <a:p>
            <a:endParaRPr lang="en-US"/>
          </a:p>
          <a:p>
            <a:pPr marL="285750" indent="-285750">
              <a:buFont typeface="Wingdings" panose="05000000000000000000" charset="0"/>
              <a:buChar char="Ø"/>
            </a:pPr>
            <a:r>
              <a:rPr lang="en-US"/>
              <a:t>Python also allows you to rename imported modules using the as keyword. This can be useful if you want to use a shorter or more descriptive name for a module, or if you want to avoid naming conflicts with other modules or variables in your code.</a:t>
            </a:r>
            <a:endParaRPr lang="en-US"/>
          </a:p>
        </p:txBody>
      </p:sp>
      <p:sp>
        <p:nvSpPr>
          <p:cNvPr id="3" name="Text Box 2"/>
          <p:cNvSpPr txBox="1"/>
          <p:nvPr/>
        </p:nvSpPr>
        <p:spPr>
          <a:xfrm>
            <a:off x="0" y="4551045"/>
            <a:ext cx="6096000" cy="2306955"/>
          </a:xfrm>
          <a:prstGeom prst="rect">
            <a:avLst/>
          </a:prstGeom>
          <a:noFill/>
        </p:spPr>
        <p:txBody>
          <a:bodyPr wrap="square" rtlCol="0" anchor="t">
            <a:spAutoFit/>
          </a:bodyPr>
          <a:p>
            <a:r>
              <a:rPr lang="en-US">
                <a:solidFill>
                  <a:schemeClr val="accent5">
                    <a:lumMod val="60000"/>
                    <a:lumOff val="40000"/>
                  </a:schemeClr>
                </a:solidFill>
                <a:highlight>
                  <a:srgbClr val="000000"/>
                </a:highlight>
                <a:sym typeface="+mn-ea"/>
              </a:rPr>
              <a:t>The "as" keyword</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import math as m</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result = m.sqrt(9)</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print(result)  # Output: 3.0</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print(m.pi)  # Output: 3.141592653589793</a:t>
            </a:r>
            <a:endParaRPr lang="en-US">
              <a:solidFill>
                <a:schemeClr val="accent5">
                  <a:lumMod val="60000"/>
                  <a:lumOff val="40000"/>
                </a:schemeClr>
              </a:solidFill>
              <a:highlight>
                <a:srgbClr val="000000"/>
              </a:highlight>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439991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The dir function</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Finally, Python has a built-in function called dir that you can use to view the names of all the functions and variables defined in a module. This can be helpful for exploring and understanding the contents of a new module.</a:t>
            </a:r>
            <a:endParaRPr lang="en-US"/>
          </a:p>
          <a:p>
            <a:endParaRPr lang="en-US"/>
          </a:p>
          <a:p>
            <a:r>
              <a:rPr lang="en-US">
                <a:solidFill>
                  <a:schemeClr val="accent5">
                    <a:lumMod val="60000"/>
                    <a:lumOff val="40000"/>
                  </a:schemeClr>
                </a:solidFill>
                <a:highlight>
                  <a:srgbClr val="000000"/>
                </a:highlight>
              </a:rPr>
              <a:t>import math</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print(dir(math))</a:t>
            </a:r>
            <a:endParaRPr lang="en-US">
              <a:solidFill>
                <a:schemeClr val="accent5">
                  <a:lumMod val="60000"/>
                  <a:lumOff val="40000"/>
                </a:schemeClr>
              </a:solidFill>
              <a:highlight>
                <a:srgbClr val="000000"/>
              </a:highlight>
            </a:endParaRPr>
          </a:p>
          <a:p>
            <a:endParaRPr lang="en-US"/>
          </a:p>
          <a:p>
            <a:pPr marL="285750" indent="-285750">
              <a:buFont typeface="Wingdings" panose="05000000000000000000" charset="0"/>
              <a:buChar char="Ø"/>
            </a:pPr>
            <a:r>
              <a:rPr lang="en-US"/>
              <a:t>This will output a list of all the names defined in the math module, including functions like sqrt and pi, as well as other variables and constants.</a:t>
            </a:r>
            <a:endParaRPr lang="en-US"/>
          </a:p>
          <a:p>
            <a:endParaRPr lang="en-US"/>
          </a:p>
          <a:p>
            <a:pPr marL="285750" indent="-285750">
              <a:buFont typeface="Wingdings" panose="05000000000000000000" charset="0"/>
              <a:buChar char="Ø"/>
            </a:pPr>
            <a:r>
              <a:rPr lang="en-US"/>
              <a:t>In summary, the import statement in Python allows you to access the functions and variables defined in a module from within your current script. You can import the entire module, specific functions or variables, or use the * wildcard to import everything. You can also use the as keyword to rename a module, and the dir function to view the contents of a module.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3" name="Picture 102"/>
          <p:cNvPicPr/>
          <p:nvPr/>
        </p:nvPicPr>
        <p:blipFill>
          <a:blip r:embed="rId1"/>
          <a:stretch>
            <a:fillRect/>
          </a:stretch>
        </p:blipFill>
        <p:spPr>
          <a:xfrm>
            <a:off x="0" y="0"/>
            <a:ext cx="12192000" cy="6857365"/>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5157</Words>
  <Application>WPS Presentation</Application>
  <PresentationFormat>Widescreen</PresentationFormat>
  <Paragraphs>126</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Wingdings</vt:lpstr>
      <vt:lpstr>Broadway</vt:lpstr>
      <vt:lpstr>Microsoft YaHei</vt:lpstr>
      <vt:lpstr>Arial Unicode MS</vt:lpstr>
      <vt:lpstr>Calibri Light</vt:lpstr>
      <vt:lpstr>Calibri</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Rahul</dc:creator>
  <cp:lastModifiedBy>Rahul</cp:lastModifiedBy>
  <cp:revision>4</cp:revision>
  <dcterms:created xsi:type="dcterms:W3CDTF">2024-05-02T17:02:00Z</dcterms:created>
  <dcterms:modified xsi:type="dcterms:W3CDTF">2024-05-12T16:34:20Z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E4B2D3E17B024F0A898E7C2DDE1CD057_11</vt:lpwstr>
  </property>
  <property fmtid="{D5CDD505-2E9C-101B-9397-08002B2CF9AE}" pid="3" name="KSOProductBuildVer">
    <vt:lpwstr>1033-12.2.0.16909</vt:lpwstr>
  </property>
</Properties>
</file>