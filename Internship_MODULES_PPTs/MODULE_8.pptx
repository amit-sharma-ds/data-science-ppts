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71" r:id="rId4"/>
    <p:sldId id="261" r:id="rId5"/>
    <p:sldId id="260" r:id="rId6"/>
    <p:sldId id="259" r:id="rId7"/>
    <p:sldId id="258" r:id="rId8"/>
    <p:sldId id="262" r:id="rId9"/>
    <p:sldId id="264" r:id="rId10"/>
    <p:sldId id="263" r:id="rId11"/>
    <p:sldId id="265" r:id="rId12"/>
    <p:sldId id="268" r:id="rId13"/>
    <p:sldId id="266" r:id="rId14"/>
    <p:sldId id="267" r:id="rId15"/>
    <p:sldId id="283" r:id="rId16"/>
    <p:sldId id="28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0" y="0"/>
            <a:ext cx="12192000" cy="68573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1270"/>
            <a:ext cx="12192000" cy="68592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578548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Introduction to Object-oriented programming</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Introduction to Object-Oriented Programming in Python: In programming languages, mainly there are </a:t>
            </a:r>
            <a:r>
              <a:rPr lang="en-US">
                <a:solidFill>
                  <a:srgbClr val="00B0F0"/>
                </a:solidFill>
              </a:rPr>
              <a:t>two approaches</a:t>
            </a:r>
            <a:r>
              <a:rPr lang="en-US"/>
              <a:t> that are used to write program or code.</a:t>
            </a:r>
            <a:endParaRPr lang="en-US"/>
          </a:p>
          <a:p>
            <a:endParaRPr lang="en-US"/>
          </a:p>
          <a:p>
            <a:r>
              <a:rPr lang="en-US"/>
              <a:t>    </a:t>
            </a:r>
            <a:r>
              <a:rPr lang="en-US" b="1" u="sng"/>
              <a:t>1). Procedural Programming</a:t>
            </a:r>
            <a:endParaRPr lang="en-US" b="1" u="sng"/>
          </a:p>
          <a:p>
            <a:r>
              <a:rPr lang="en-US" b="1"/>
              <a:t>    </a:t>
            </a:r>
            <a:r>
              <a:rPr lang="en-US" b="1" u="sng"/>
              <a:t>2). Object-Oriented Programming</a:t>
            </a:r>
            <a:endParaRPr lang="en-US" b="1" u="sng"/>
          </a:p>
          <a:p>
            <a:endParaRPr lang="en-US"/>
          </a:p>
          <a:p>
            <a:pPr marL="285750" indent="-285750">
              <a:buFont typeface="Wingdings" panose="05000000000000000000" charset="0"/>
              <a:buChar char="Ø"/>
            </a:pPr>
            <a:r>
              <a:rPr lang="en-US"/>
              <a:t>The procedure we are following till now is the “Procedural Programming” approach. So, in this session, we will learn about Object Oriented Programming (OOP). The basic idea of object-oriented programming (OOP) in Python is to use </a:t>
            </a:r>
            <a:r>
              <a:rPr lang="en-US">
                <a:solidFill>
                  <a:srgbClr val="00B0F0"/>
                </a:solidFill>
              </a:rPr>
              <a:t>classes and objects</a:t>
            </a:r>
            <a:r>
              <a:rPr lang="en-US"/>
              <a:t> to represent real-world concepts and entities.</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A class is a </a:t>
            </a:r>
            <a:r>
              <a:rPr lang="en-US">
                <a:solidFill>
                  <a:srgbClr val="00B0F0"/>
                </a:solidFill>
              </a:rPr>
              <a:t>blueprint</a:t>
            </a:r>
            <a:r>
              <a:rPr lang="en-US"/>
              <a:t> or template for creating objects. It defines the properties and methods that an object of that class will have. Properties are the data or state of an object, and methods are the actions or behaviors that an object can perform.</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An </a:t>
            </a:r>
            <a:r>
              <a:rPr lang="en-US">
                <a:solidFill>
                  <a:srgbClr val="00B0F0"/>
                </a:solidFill>
              </a:rPr>
              <a:t>object is an instance of a class</a:t>
            </a:r>
            <a:r>
              <a:rPr lang="en-US"/>
              <a:t>, and it contains its own data and methods. For example, you could create a class called "Person" that has properties such as name and age, and methods such as speak() and walk(). </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Each instance of the Person class would be a unique object with its own name and age, but they would all have the same methods to speak and walk.</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299720"/>
            <a:ext cx="12192635" cy="4523105"/>
          </a:xfrm>
          <a:prstGeom prst="rect">
            <a:avLst/>
          </a:prstGeom>
          <a:noFill/>
        </p:spPr>
        <p:txBody>
          <a:bodyPr wrap="square" rtlCol="0" anchor="t">
            <a:spAutoFit/>
          </a:bodyPr>
          <a:p>
            <a:pPr marL="285750" indent="-285750">
              <a:buFont typeface="Wingdings" panose="05000000000000000000" charset="0"/>
              <a:buChar char="Ø"/>
            </a:pP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One of the </a:t>
            </a:r>
            <a:r>
              <a:rPr lang="en-US">
                <a:solidFill>
                  <a:srgbClr val="00B0F0"/>
                </a:solidFill>
              </a:rPr>
              <a:t>key features of OOP</a:t>
            </a:r>
            <a:r>
              <a:rPr lang="en-US"/>
              <a:t> in Python is </a:t>
            </a:r>
            <a:r>
              <a:rPr lang="en-US" b="1" u="sng">
                <a:solidFill>
                  <a:srgbClr val="00B0F0"/>
                </a:solidFill>
              </a:rPr>
              <a:t>encapsulation</a:t>
            </a:r>
            <a:r>
              <a:rPr lang="en-US"/>
              <a:t>, which means that the internal state of an object is hidden and can only be accessed or modified through the object's methods. This helps to protect the object's data and prevent it from being modified in unexpected ways.</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Another key feature of OOP in Python is </a:t>
            </a:r>
            <a:r>
              <a:rPr lang="en-US" b="1" u="sng">
                <a:solidFill>
                  <a:srgbClr val="00B0F0"/>
                </a:solidFill>
              </a:rPr>
              <a:t>inheritance</a:t>
            </a:r>
            <a:r>
              <a:rPr lang="en-US"/>
              <a:t>, which allows new classes to be created that inherit the properties and methods of an existing class. This allows for code reuse and makes it easy to create new classes that have similar functionality to existing classes.</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b="1" u="sng">
                <a:solidFill>
                  <a:srgbClr val="00B0F0"/>
                </a:solidFill>
              </a:rPr>
              <a:t>Polymorphism</a:t>
            </a:r>
            <a:r>
              <a:rPr lang="en-US"/>
              <a:t> is also supported in Python, which means that objects of different classes can be treated as if they were objects of a common class. This allows for greater flexibility in code and makes it easier to write code that can work with multiple types of objects.</a:t>
            </a:r>
            <a:endParaRPr lang="en-US"/>
          </a:p>
          <a:p>
            <a:pPr marL="285750" indent="-285750">
              <a:buFont typeface="Wingdings" panose="05000000000000000000" charset="0"/>
              <a:buChar char="Ø"/>
            </a:pPr>
            <a:endParaRPr lang="en-US"/>
          </a:p>
          <a:p>
            <a:pPr marL="285750" indent="-285750">
              <a:buFont typeface="Wingdings" panose="05000000000000000000" charset="0"/>
              <a:buChar char="Ø"/>
            </a:pPr>
            <a:r>
              <a:rPr lang="en-US"/>
              <a:t>In summary, OOP in Python allows developers to model real-world concepts and entities using classes and objects, encapsulate data, reuse code through inheritance, and write more flexible code through polymorphism.</a:t>
            </a:r>
            <a:endParaRPr lang="en-US"/>
          </a:p>
        </p:txBody>
      </p:sp>
      <p:sp>
        <p:nvSpPr>
          <p:cNvPr id="3" name="Text Box 2"/>
          <p:cNvSpPr txBox="1"/>
          <p:nvPr/>
        </p:nvSpPr>
        <p:spPr>
          <a:xfrm>
            <a:off x="264795" y="0"/>
            <a:ext cx="6811645" cy="521970"/>
          </a:xfrm>
          <a:prstGeom prst="rect">
            <a:avLst/>
          </a:prstGeom>
          <a:noFill/>
          <a:extLst>
            <a:ext uri="{909E8E84-426E-40DD-AFC4-6F175D3DCCD1}">
              <a14:hiddenFill xmlns:a14="http://schemas.microsoft.com/office/drawing/2010/main">
                <a:solidFill>
                  <a:schemeClr val="bg1"/>
                </a:solidFill>
              </a14:hiddenFill>
            </a:ext>
          </a:extLst>
        </p:spPr>
        <p:txBody>
          <a:bodyPr wrap="square" rtlCol="0">
            <a:spAutoFit/>
          </a:bodyPr>
          <a:p>
            <a:pPr marL="457200" indent="-457200">
              <a:buFont typeface="Wingdings" panose="05000000000000000000" charset="0"/>
              <a:buChar char="q"/>
            </a:pPr>
            <a:r>
              <a:rPr lang="en-IN" altLang="en-US" sz="2800" u="sng">
                <a:solidFill>
                  <a:srgbClr val="FF0000"/>
                </a:solidFill>
                <a:latin typeface="Broadway" panose="04040905080B02020502" charset="0"/>
                <a:cs typeface="Broadway" panose="04040905080B02020502" charset="0"/>
              </a:rPr>
              <a:t>Key Features of OOP</a:t>
            </a:r>
            <a:endParaRPr lang="en-IN" altLang="en-US" sz="2800" u="sng">
              <a:solidFill>
                <a:srgbClr val="FF0000"/>
              </a:solidFill>
              <a:latin typeface="Broadway" panose="04040905080B02020502" charset="0"/>
              <a:cs typeface="Broadway" panose="04040905080B0202050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329184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Python Class and Objects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A class is a </a:t>
            </a:r>
            <a:r>
              <a:rPr lang="en-US">
                <a:solidFill>
                  <a:srgbClr val="00B0F0"/>
                </a:solidFill>
              </a:rPr>
              <a:t>blueprint</a:t>
            </a:r>
            <a:r>
              <a:rPr lang="en-US"/>
              <a:t> or a </a:t>
            </a:r>
            <a:r>
              <a:rPr lang="en-US">
                <a:solidFill>
                  <a:srgbClr val="00B0F0"/>
                </a:solidFill>
              </a:rPr>
              <a:t>template</a:t>
            </a:r>
            <a:r>
              <a:rPr lang="en-US"/>
              <a:t> for creating objects, providing initial values for state (member variables or attributes), and implementations of behavior (member functions or methods). The user-defined objects are created using the class keyword.</a:t>
            </a:r>
            <a:endParaRPr lang="en-US"/>
          </a:p>
          <a:p>
            <a:r>
              <a:rPr lang="en-US"/>
              <a:t>Creating a Class:</a:t>
            </a:r>
            <a:endParaRPr lang="en-US"/>
          </a:p>
          <a:p>
            <a:endParaRPr lang="en-US"/>
          </a:p>
          <a:p>
            <a:pPr marL="285750" indent="-285750">
              <a:buFont typeface="Wingdings" panose="05000000000000000000" charset="0"/>
              <a:buChar char="Ø"/>
            </a:pPr>
            <a:r>
              <a:rPr lang="en-US"/>
              <a:t>Let us now create a class using the </a:t>
            </a:r>
            <a:r>
              <a:rPr lang="en-US">
                <a:solidFill>
                  <a:srgbClr val="00B0F0"/>
                </a:solidFill>
              </a:rPr>
              <a:t>class keyword.</a:t>
            </a:r>
            <a:endParaRPr lang="en-US">
              <a:solidFill>
                <a:srgbClr val="00B0F0"/>
              </a:solidFill>
            </a:endParaRPr>
          </a:p>
          <a:p>
            <a:endParaRPr lang="en-US">
              <a:solidFill>
                <a:schemeClr val="accent5">
                  <a:lumMod val="60000"/>
                  <a:lumOff val="40000"/>
                </a:schemeClr>
              </a:solidFill>
            </a:endParaRPr>
          </a:p>
          <a:p>
            <a:r>
              <a:rPr lang="en-US">
                <a:solidFill>
                  <a:schemeClr val="accent5">
                    <a:lumMod val="60000"/>
                    <a:lumOff val="40000"/>
                  </a:schemeClr>
                </a:solidFill>
                <a:highlight>
                  <a:srgbClr val="000000"/>
                </a:highlight>
              </a:rPr>
              <a:t>class Details: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name = "Rohan"</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age = 20</a:t>
            </a:r>
            <a:endParaRPr lang="en-US">
              <a:solidFill>
                <a:schemeClr val="accent5">
                  <a:lumMod val="60000"/>
                  <a:lumOff val="40000"/>
                </a:schemeClr>
              </a:solidFill>
              <a:highlight>
                <a:srgbClr val="000000"/>
              </a:highlight>
            </a:endParaRPr>
          </a:p>
        </p:txBody>
      </p:sp>
      <p:sp>
        <p:nvSpPr>
          <p:cNvPr id="3" name="Text Box 2"/>
          <p:cNvSpPr txBox="1"/>
          <p:nvPr/>
        </p:nvSpPr>
        <p:spPr>
          <a:xfrm>
            <a:off x="0" y="3429000"/>
            <a:ext cx="12192000" cy="2461260"/>
          </a:xfrm>
          <a:prstGeom prst="rect">
            <a:avLst/>
          </a:prstGeom>
          <a:noFill/>
        </p:spPr>
        <p:txBody>
          <a:bodyPr wrap="square" rtlCol="0" anchor="t">
            <a:spAutoFit/>
          </a:bodyPr>
          <a:p>
            <a:pPr marL="285750" indent="-285750">
              <a:buFont typeface="Wingdings" panose="05000000000000000000" charset="0"/>
              <a:buChar char="q"/>
            </a:pPr>
            <a:r>
              <a:rPr lang="en-US" sz="2800" u="sng">
                <a:solidFill>
                  <a:srgbClr val="FF0000"/>
                </a:solidFill>
                <a:latin typeface="Broadway" panose="04040905080B02020502" charset="0"/>
                <a:cs typeface="Broadway" panose="04040905080B02020502" charset="0"/>
              </a:rPr>
              <a:t>Creating an Object:</a:t>
            </a:r>
            <a:endParaRPr lang="en-US" sz="2800" u="sng">
              <a:solidFill>
                <a:srgbClr val="FF0000"/>
              </a:solidFill>
              <a:latin typeface="Broadway" panose="04040905080B02020502" charset="0"/>
              <a:cs typeface="Broadway" panose="04040905080B02020502" charset="0"/>
            </a:endParaRPr>
          </a:p>
          <a:p>
            <a:endParaRPr lang="en-US"/>
          </a:p>
          <a:p>
            <a:r>
              <a:rPr lang="en-US"/>
              <a:t>Object is the </a:t>
            </a:r>
            <a:r>
              <a:rPr lang="en-US">
                <a:solidFill>
                  <a:srgbClr val="00B0F0"/>
                </a:solidFill>
              </a:rPr>
              <a:t>instance </a:t>
            </a:r>
            <a:r>
              <a:rPr lang="en-US"/>
              <a:t>of the class used to access the properties of the class Now lets create an object of the class.</a:t>
            </a:r>
            <a:endParaRPr lang="en-US"/>
          </a:p>
          <a:p>
            <a:r>
              <a:rPr lang="en-US"/>
              <a:t>Example:</a:t>
            </a:r>
            <a:endParaRPr lang="en-US"/>
          </a:p>
          <a:p>
            <a:endParaRPr lang="en-US">
              <a:solidFill>
                <a:schemeClr val="accent5">
                  <a:lumMod val="60000"/>
                  <a:lumOff val="40000"/>
                </a:schemeClr>
              </a:solidFill>
            </a:endParaRPr>
          </a:p>
          <a:p>
            <a:r>
              <a:rPr lang="en-US">
                <a:solidFill>
                  <a:schemeClr val="accent5">
                    <a:lumMod val="60000"/>
                    <a:lumOff val="40000"/>
                  </a:schemeClr>
                </a:solidFill>
                <a:highlight>
                  <a:srgbClr val="000000"/>
                </a:highlight>
              </a:rPr>
              <a:t>obj1 = Details()</a:t>
            </a:r>
            <a:endParaRPr lang="en-US">
              <a:solidFill>
                <a:schemeClr val="accent5">
                  <a:lumMod val="60000"/>
                  <a:lumOff val="40000"/>
                </a:schemeClr>
              </a:solidFill>
              <a:highlight>
                <a:srgbClr val="000000"/>
              </a:highlight>
            </a:endParaRPr>
          </a:p>
          <a:p>
            <a:endParaRPr lang="en-US"/>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6096000" cy="4246245"/>
          </a:xfrm>
          <a:prstGeom prst="rect">
            <a:avLst/>
          </a:prstGeom>
          <a:noFill/>
        </p:spPr>
        <p:txBody>
          <a:bodyPr wrap="square" rtlCol="0" anchor="t">
            <a:spAutoFit/>
          </a:bodyPr>
          <a:p>
            <a:pPr marL="285750" indent="-285750">
              <a:buFont typeface="Wingdings" panose="05000000000000000000" charset="0"/>
              <a:buChar char="v"/>
            </a:pPr>
            <a:r>
              <a:rPr lang="en-US" b="1" u="sng">
                <a:sym typeface="+mn-ea"/>
              </a:rPr>
              <a:t>Now we can print values:</a:t>
            </a:r>
            <a:endParaRPr lang="en-US" b="1" u="sng"/>
          </a:p>
          <a:p>
            <a:pPr marL="285750" indent="-285750">
              <a:buFont typeface="Wingdings" panose="05000000000000000000" charset="0"/>
              <a:buChar char="v"/>
            </a:pPr>
            <a:r>
              <a:rPr lang="en-US" b="1" u="sng">
                <a:solidFill>
                  <a:srgbClr val="00B0F0"/>
                </a:solidFill>
                <a:sym typeface="+mn-ea"/>
              </a:rPr>
              <a:t>Example:</a:t>
            </a:r>
            <a:endParaRPr lang="en-US" b="1" u="sng">
              <a:solidFill>
                <a:srgbClr val="00B0F0"/>
              </a:solidFill>
            </a:endParaRPr>
          </a:p>
          <a:p>
            <a:endParaRPr lang="en-US"/>
          </a:p>
          <a:p>
            <a:r>
              <a:rPr lang="en-US">
                <a:solidFill>
                  <a:schemeClr val="accent5">
                    <a:lumMod val="60000"/>
                    <a:lumOff val="40000"/>
                  </a:schemeClr>
                </a:solidFill>
                <a:highlight>
                  <a:srgbClr val="000000"/>
                </a:highlight>
                <a:sym typeface="+mn-ea"/>
              </a:rPr>
              <a:t>class Details: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    name = "Rohan"</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    age = 20</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obj1 = Details()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print(obj1.name)</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print(obj1.age)</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Output:</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Rohan</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20</a:t>
            </a:r>
            <a:endParaRPr lang="en-US">
              <a:solidFill>
                <a:schemeClr val="accent5">
                  <a:lumMod val="60000"/>
                  <a:lumOff val="40000"/>
                </a:schemeClr>
              </a:solidFill>
              <a:highlight>
                <a:srgbClr val="000000"/>
              </a:highlight>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578548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self parameter</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The self parameter is a reference to the current instance of the class, and is used to access variables that belongs to the class.</a:t>
            </a:r>
            <a:endParaRPr lang="en-US"/>
          </a:p>
          <a:p>
            <a:endParaRPr lang="en-US"/>
          </a:p>
          <a:p>
            <a:pPr marL="285750" indent="-285750">
              <a:buFont typeface="Wingdings" panose="05000000000000000000" charset="0"/>
              <a:buChar char="Ø"/>
            </a:pPr>
            <a:r>
              <a:rPr lang="en-US"/>
              <a:t>It must be provided as the extra parameter inside the method definition.</a:t>
            </a:r>
            <a:endParaRPr lang="en-US"/>
          </a:p>
          <a:p>
            <a:pPr marL="285750" indent="-285750">
              <a:buFont typeface="Wingdings" panose="05000000000000000000" charset="0"/>
              <a:buChar char="v"/>
            </a:pPr>
            <a:r>
              <a:rPr lang="en-US" b="1" u="sng">
                <a:solidFill>
                  <a:srgbClr val="00B0F0"/>
                </a:solidFill>
              </a:rPr>
              <a:t>Example:</a:t>
            </a:r>
            <a:endParaRPr lang="en-US" b="1" u="sng">
              <a:solidFill>
                <a:srgbClr val="00B0F0"/>
              </a:solidFill>
            </a:endParaRPr>
          </a:p>
          <a:p>
            <a:endParaRPr lang="en-US"/>
          </a:p>
          <a:p>
            <a:r>
              <a:rPr lang="en-US">
                <a:solidFill>
                  <a:schemeClr val="accent5">
                    <a:lumMod val="60000"/>
                    <a:lumOff val="40000"/>
                  </a:schemeClr>
                </a:solidFill>
                <a:highlight>
                  <a:srgbClr val="000000"/>
                </a:highlight>
              </a:rPr>
              <a:t>class Details: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name = "Rohan"</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age = 20</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desc(self):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print("My name is", self.name, "and I'm", self.age, "years old.")</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obj1 = Details()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obj1.desc()</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Output:</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My name is Rohan and I'm 20 years old.</a:t>
            </a:r>
            <a:endParaRPr lang="en-US">
              <a:solidFill>
                <a:schemeClr val="accent5">
                  <a:lumMod val="60000"/>
                  <a:lumOff val="40000"/>
                </a:schemeClr>
              </a:solidFill>
              <a:highlight>
                <a:srgbClr val="0000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329184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Constructors</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A constructor is a special method in a class </a:t>
            </a:r>
            <a:r>
              <a:rPr lang="en-US">
                <a:solidFill>
                  <a:srgbClr val="00B0F0"/>
                </a:solidFill>
              </a:rPr>
              <a:t>used to create and initialize an object</a:t>
            </a:r>
            <a:r>
              <a:rPr lang="en-US"/>
              <a:t> of a class. There are different types of constructors. Constructor is invoked automatically when an object of a class is created.</a:t>
            </a:r>
            <a:endParaRPr lang="en-US"/>
          </a:p>
          <a:p>
            <a:endParaRPr lang="en-US"/>
          </a:p>
          <a:p>
            <a:pPr marL="285750" indent="-285750">
              <a:buFont typeface="Wingdings" panose="05000000000000000000" charset="0"/>
              <a:buChar char="Ø"/>
            </a:pPr>
            <a:r>
              <a:rPr lang="en-US"/>
              <a:t>A constructor is a unique function that gets called automatically when an object is created of a class. The main purpose of a constructor is to initialize or assign values to the data members of that class. It cannot return any value other than None.</a:t>
            </a:r>
            <a:endParaRPr lang="en-US"/>
          </a:p>
          <a:p>
            <a:pPr marL="285750" indent="-285750">
              <a:buFont typeface="Wingdings" panose="05000000000000000000" charset="0"/>
              <a:buChar char="Ø"/>
            </a:pPr>
            <a:r>
              <a:rPr lang="en-US"/>
              <a:t>Syntax of Python Constructor</a:t>
            </a:r>
            <a:endParaRPr lang="en-US"/>
          </a:p>
          <a:p>
            <a:endParaRPr lang="en-US"/>
          </a:p>
          <a:p>
            <a:r>
              <a:rPr lang="en-US">
                <a:solidFill>
                  <a:schemeClr val="accent5">
                    <a:lumMod val="60000"/>
                    <a:lumOff val="40000"/>
                  </a:schemeClr>
                </a:solidFill>
                <a:highlight>
                  <a:srgbClr val="000000"/>
                </a:highlight>
              </a:rPr>
              <a:t>def __init__(self):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 initializations</a:t>
            </a:r>
            <a:endParaRPr lang="en-US">
              <a:solidFill>
                <a:schemeClr val="accent5">
                  <a:lumMod val="60000"/>
                  <a:lumOff val="40000"/>
                </a:schemeClr>
              </a:solidFill>
              <a:highlight>
                <a:srgbClr val="000000"/>
              </a:highlight>
            </a:endParaRPr>
          </a:p>
        </p:txBody>
      </p:sp>
      <p:sp>
        <p:nvSpPr>
          <p:cNvPr id="3" name="Text Box 2"/>
          <p:cNvSpPr txBox="1"/>
          <p:nvPr/>
        </p:nvSpPr>
        <p:spPr>
          <a:xfrm>
            <a:off x="0" y="3776980"/>
            <a:ext cx="12192000" cy="1722120"/>
          </a:xfrm>
          <a:prstGeom prst="rect">
            <a:avLst/>
          </a:prstGeom>
          <a:noFill/>
        </p:spPr>
        <p:txBody>
          <a:bodyPr wrap="square" rtlCol="0" anchor="t">
            <a:spAutoFit/>
          </a:bodyPr>
          <a:p>
            <a:pPr marL="285750" indent="-285750">
              <a:buFont typeface="Wingdings" panose="05000000000000000000" charset="0"/>
              <a:buChar char="v"/>
            </a:pPr>
            <a:r>
              <a:rPr lang="en-US" sz="2800" b="1" u="sng">
                <a:solidFill>
                  <a:srgbClr val="FF0000"/>
                </a:solidFill>
              </a:rPr>
              <a:t>init</a:t>
            </a:r>
            <a:r>
              <a:rPr lang="en-US"/>
              <a:t> is one of the reserved functions in Python. In Object Oriented Programming, it is known as a </a:t>
            </a:r>
            <a:r>
              <a:rPr lang="en-US">
                <a:solidFill>
                  <a:srgbClr val="00B0F0"/>
                </a:solidFill>
              </a:rPr>
              <a:t>constructor.</a:t>
            </a:r>
            <a:endParaRPr lang="en-US">
              <a:solidFill>
                <a:srgbClr val="00B0F0"/>
              </a:solidFill>
            </a:endParaRPr>
          </a:p>
          <a:p>
            <a:pPr marL="285750" indent="-285750">
              <a:buFont typeface="Wingdings" panose="05000000000000000000" charset="0"/>
              <a:buChar char="v"/>
            </a:pPr>
            <a:r>
              <a:rPr lang="en-US" sz="2400" b="1" u="sng">
                <a:solidFill>
                  <a:srgbClr val="FF0000"/>
                </a:solidFill>
              </a:rPr>
              <a:t>Types of Constructors in Python</a:t>
            </a:r>
            <a:endParaRPr lang="en-US" sz="2400" b="1" u="sng">
              <a:solidFill>
                <a:srgbClr val="FF0000"/>
              </a:solidFill>
            </a:endParaRPr>
          </a:p>
          <a:p>
            <a:endParaRPr lang="en-US"/>
          </a:p>
          <a:p>
            <a:r>
              <a:rPr lang="en-US"/>
              <a:t>   </a:t>
            </a:r>
            <a:r>
              <a:rPr lang="en-IN" altLang="en-US" b="1" u="sng"/>
              <a:t>1.</a:t>
            </a:r>
            <a:r>
              <a:rPr lang="en-US" b="1" u="sng"/>
              <a:t> Parameterized Constructor</a:t>
            </a:r>
            <a:endParaRPr lang="en-US" b="1" u="sng"/>
          </a:p>
          <a:p>
            <a:r>
              <a:rPr lang="en-US" b="1" u="sng"/>
              <a:t>   </a:t>
            </a:r>
            <a:r>
              <a:rPr lang="en-IN" altLang="en-US" b="1" u="sng"/>
              <a:t>2. </a:t>
            </a:r>
            <a:r>
              <a:rPr lang="en-US" b="1" u="sng"/>
              <a:t>Default Constructor</a:t>
            </a:r>
            <a:endParaRPr lang="en-US" b="1" u="sn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5785485"/>
          </a:xfrm>
          <a:prstGeom prst="rect">
            <a:avLst/>
          </a:prstGeom>
          <a:noFill/>
        </p:spPr>
        <p:txBody>
          <a:bodyPr wrap="square" rtlCol="0" anchor="t">
            <a:spAutoFit/>
          </a:bodyPr>
          <a:p>
            <a:pPr marL="457200" indent="-457200">
              <a:buFont typeface="Wingdings" panose="05000000000000000000" charset="0"/>
              <a:buChar char="q"/>
            </a:pPr>
            <a:r>
              <a:rPr lang="en-IN" altLang="en-US" sz="2800" u="sng">
                <a:solidFill>
                  <a:srgbClr val="FF0000"/>
                </a:solidFill>
                <a:latin typeface="Broadway" panose="04040905080B02020502" charset="0"/>
                <a:cs typeface="Broadway" panose="04040905080B02020502" charset="0"/>
              </a:rPr>
              <a:t>1. </a:t>
            </a:r>
            <a:r>
              <a:rPr lang="en-US" sz="2800" u="sng">
                <a:solidFill>
                  <a:srgbClr val="FF0000"/>
                </a:solidFill>
                <a:latin typeface="Broadway" panose="04040905080B02020502" charset="0"/>
                <a:cs typeface="Broadway" panose="04040905080B02020502" charset="0"/>
              </a:rPr>
              <a:t>Parameterized Constructor in Python</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When the constructor accepts arguments along with self, it is known as </a:t>
            </a:r>
            <a:r>
              <a:rPr lang="en-US">
                <a:solidFill>
                  <a:srgbClr val="0070C0"/>
                </a:solidFill>
              </a:rPr>
              <a:t>parameterized constructor.</a:t>
            </a:r>
            <a:endParaRPr lang="en-US">
              <a:solidFill>
                <a:srgbClr val="0070C0"/>
              </a:solidFill>
            </a:endParaRPr>
          </a:p>
          <a:p>
            <a:endParaRPr lang="en-US"/>
          </a:p>
          <a:p>
            <a:pPr marL="285750" indent="-285750">
              <a:buFont typeface="Wingdings" panose="05000000000000000000" charset="0"/>
              <a:buChar char="Ø"/>
            </a:pPr>
            <a:r>
              <a:rPr lang="en-US"/>
              <a:t>These arguments can be used inside the class to assign the values to the data members.</a:t>
            </a:r>
            <a:endParaRPr lang="en-US"/>
          </a:p>
          <a:p>
            <a:pPr marL="285750" indent="-285750">
              <a:buFont typeface="Wingdings" panose="05000000000000000000" charset="0"/>
              <a:buChar char="Ø"/>
            </a:pPr>
            <a:r>
              <a:rPr lang="en-US" b="1" u="sng">
                <a:solidFill>
                  <a:srgbClr val="00B0F0"/>
                </a:solidFill>
              </a:rPr>
              <a:t>Example:</a:t>
            </a:r>
            <a:endParaRPr lang="en-US" b="1" u="sng">
              <a:solidFill>
                <a:srgbClr val="00B0F0"/>
              </a:solidFill>
            </a:endParaRPr>
          </a:p>
          <a:p>
            <a:endParaRPr lang="en-US"/>
          </a:p>
          <a:p>
            <a:r>
              <a:rPr lang="en-US">
                <a:solidFill>
                  <a:schemeClr val="accent5">
                    <a:lumMod val="60000"/>
                    <a:lumOff val="40000"/>
                  </a:schemeClr>
                </a:solidFill>
                <a:highlight>
                  <a:srgbClr val="000000"/>
                </a:highlight>
              </a:rPr>
              <a:t>class Details: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__init__(self, animal, group):</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self.animal = animal</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self.group = group</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obj1 = Details("Crab", "Crustaceans")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print(obj1.animal, "belongs to the", obj1.group, "group.")</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Output:</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Crab belongs to the Crustaceans group.</a:t>
            </a:r>
            <a:endParaRPr lang="en-US">
              <a:solidFill>
                <a:schemeClr val="accent5">
                  <a:lumMod val="60000"/>
                  <a:lumOff val="40000"/>
                </a:schemeClr>
              </a:solidFill>
              <a:highlight>
                <a:srgbClr val="000000"/>
              </a:highlight>
            </a:endParaRPr>
          </a:p>
          <a:p>
            <a:endParaRPr 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000" cy="4123055"/>
          </a:xfrm>
          <a:prstGeom prst="rect">
            <a:avLst/>
          </a:prstGeom>
          <a:noFill/>
        </p:spPr>
        <p:txBody>
          <a:bodyPr wrap="square" rtlCol="0" anchor="t">
            <a:spAutoFit/>
          </a:bodyPr>
          <a:p>
            <a:r>
              <a:rPr lang="en-IN" altLang="en-US" sz="2800" u="sng">
                <a:solidFill>
                  <a:srgbClr val="FF0000"/>
                </a:solidFill>
                <a:latin typeface="Broadway" panose="04040905080B02020502" charset="0"/>
                <a:cs typeface="Broadway" panose="04040905080B02020502" charset="0"/>
                <a:sym typeface="+mn-ea"/>
              </a:rPr>
              <a:t>2. </a:t>
            </a:r>
            <a:r>
              <a:rPr lang="en-US" sz="2800" u="sng">
                <a:solidFill>
                  <a:srgbClr val="FF0000"/>
                </a:solidFill>
                <a:latin typeface="Broadway" panose="04040905080B02020502" charset="0"/>
                <a:cs typeface="Broadway" panose="04040905080B02020502" charset="0"/>
                <a:sym typeface="+mn-ea"/>
              </a:rPr>
              <a:t>Default Constructor in Python</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sym typeface="+mn-ea"/>
              </a:rPr>
              <a:t>When the constructor doesn't accept any arguments from the object and has only one argument, self, in the constructor, it is known as a </a:t>
            </a:r>
            <a:r>
              <a:rPr lang="en-US">
                <a:solidFill>
                  <a:srgbClr val="00B0F0"/>
                </a:solidFill>
                <a:sym typeface="+mn-ea"/>
              </a:rPr>
              <a:t>Default constructor.</a:t>
            </a:r>
            <a:endParaRPr lang="en-US">
              <a:solidFill>
                <a:srgbClr val="00B0F0"/>
              </a:solidFill>
            </a:endParaRPr>
          </a:p>
          <a:p>
            <a:pPr marL="285750" indent="-285750">
              <a:buFont typeface="Wingdings" panose="05000000000000000000" charset="0"/>
              <a:buChar char="v"/>
            </a:pPr>
            <a:r>
              <a:rPr lang="en-US" b="1" u="sng">
                <a:sym typeface="+mn-ea"/>
              </a:rPr>
              <a:t>Example:</a:t>
            </a:r>
            <a:endParaRPr lang="en-US" b="1" u="sng"/>
          </a:p>
          <a:p>
            <a:endParaRPr lang="en-US"/>
          </a:p>
          <a:p>
            <a:r>
              <a:rPr lang="en-US">
                <a:solidFill>
                  <a:schemeClr val="accent5">
                    <a:lumMod val="60000"/>
                    <a:lumOff val="40000"/>
                  </a:schemeClr>
                </a:solidFill>
                <a:highlight>
                  <a:srgbClr val="000000"/>
                </a:highlight>
                <a:sym typeface="+mn-ea"/>
              </a:rPr>
              <a:t>class Details: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  def __init__(self):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    print("animal Crab belongs to Crustaceans group")</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obj1=Details()</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Output:</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animal Crab belongs to Crustaceans group</a:t>
            </a:r>
            <a:endParaRPr lang="en-US">
              <a:solidFill>
                <a:schemeClr val="accent5">
                  <a:lumMod val="60000"/>
                  <a:lumOff val="40000"/>
                </a:schemeClr>
              </a:solidFill>
              <a:highlight>
                <a:srgbClr val="000000"/>
              </a:highlight>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356933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Inheritance in python</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When a class derives from another class. The child class will </a:t>
            </a:r>
            <a:r>
              <a:rPr lang="en-US">
                <a:solidFill>
                  <a:srgbClr val="00B0F0"/>
                </a:solidFill>
              </a:rPr>
              <a:t>inherit</a:t>
            </a:r>
            <a:r>
              <a:rPr lang="en-US"/>
              <a:t> all the public and protected properties and methods from the parent class. In addition, it can have its own properties and methods,this is called as inheritance.</a:t>
            </a:r>
            <a:endParaRPr lang="en-US"/>
          </a:p>
          <a:p>
            <a:pPr marL="285750" indent="-285750">
              <a:buFont typeface="Wingdings" panose="05000000000000000000" charset="0"/>
              <a:buChar char="Ø"/>
            </a:pPr>
            <a:r>
              <a:rPr lang="en-US" u="sng">
                <a:solidFill>
                  <a:srgbClr val="FF0000"/>
                </a:solidFill>
              </a:rPr>
              <a:t>Python Inheritance Syntax</a:t>
            </a:r>
            <a:r>
              <a:rPr lang="en-IN" altLang="en-US" u="sng">
                <a:solidFill>
                  <a:srgbClr val="FF0000"/>
                </a:solidFill>
              </a:rPr>
              <a:t>:</a:t>
            </a:r>
            <a:endParaRPr lang="en-US" u="sng">
              <a:solidFill>
                <a:srgbClr val="FF0000"/>
              </a:solidFill>
            </a:endParaRPr>
          </a:p>
          <a:p>
            <a:endParaRPr lang="en-US"/>
          </a:p>
          <a:p>
            <a:r>
              <a:rPr lang="en-US">
                <a:solidFill>
                  <a:schemeClr val="accent5">
                    <a:lumMod val="60000"/>
                    <a:lumOff val="40000"/>
                  </a:schemeClr>
                </a:solidFill>
                <a:highlight>
                  <a:srgbClr val="000000"/>
                </a:highlight>
              </a:rPr>
              <a:t>class BaseClass: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Body of base class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class DerivedClass(BaseClass):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Body of derived class</a:t>
            </a:r>
            <a:endParaRPr lang="en-US">
              <a:solidFill>
                <a:schemeClr val="accent5">
                  <a:lumMod val="60000"/>
                  <a:lumOff val="40000"/>
                </a:schemeClr>
              </a:solidFill>
              <a:highlight>
                <a:srgbClr val="000000"/>
              </a:highlight>
            </a:endParaRPr>
          </a:p>
          <a:p>
            <a:endParaRPr lang="en-US"/>
          </a:p>
          <a:p>
            <a:pPr marL="285750" indent="-285750">
              <a:buFont typeface="Wingdings" panose="05000000000000000000" charset="0"/>
              <a:buChar char="Ø"/>
            </a:pPr>
            <a:r>
              <a:rPr lang="en-US"/>
              <a:t>Derived class inherits features from the base class where new features can be added to it. This results in re-usability of code.</a:t>
            </a:r>
            <a:endParaRPr lang="en-US"/>
          </a:p>
        </p:txBody>
      </p:sp>
      <p:sp>
        <p:nvSpPr>
          <p:cNvPr id="3" name="Text Box 2"/>
          <p:cNvSpPr txBox="1"/>
          <p:nvPr/>
        </p:nvSpPr>
        <p:spPr>
          <a:xfrm>
            <a:off x="0" y="3996690"/>
            <a:ext cx="12192000" cy="2183765"/>
          </a:xfrm>
          <a:prstGeom prst="rect">
            <a:avLst/>
          </a:prstGeom>
          <a:noFill/>
        </p:spPr>
        <p:txBody>
          <a:bodyPr wrap="square" rtlCol="0" anchor="t">
            <a:spAutoFit/>
          </a:bodyPr>
          <a:p>
            <a:pPr marL="457200" indent="-457200">
              <a:buFont typeface="Wingdings" panose="05000000000000000000" charset="0"/>
              <a:buChar char="v"/>
            </a:pPr>
            <a:r>
              <a:rPr lang="en-US" sz="2800" b="1" u="sng">
                <a:solidFill>
                  <a:srgbClr val="FF0000"/>
                </a:solidFill>
              </a:rPr>
              <a:t>Types of inheritance:</a:t>
            </a:r>
            <a:endParaRPr lang="en-US" sz="2800" b="1" u="sng">
              <a:solidFill>
                <a:srgbClr val="FF0000"/>
              </a:solidFill>
            </a:endParaRPr>
          </a:p>
          <a:p>
            <a:endParaRPr lang="en-US"/>
          </a:p>
          <a:p>
            <a:pPr marL="342900" indent="-342900">
              <a:buFont typeface="+mj-lt"/>
              <a:buAutoNum type="arabicPeriod"/>
            </a:pPr>
            <a:r>
              <a:rPr lang="en-US" b="1" u="sng"/>
              <a:t>    Single inheritance</a:t>
            </a:r>
            <a:endParaRPr lang="en-US" b="1" u="sng"/>
          </a:p>
          <a:p>
            <a:pPr marL="342900" indent="-342900">
              <a:buFont typeface="+mj-lt"/>
              <a:buAutoNum type="arabicPeriod"/>
            </a:pPr>
            <a:r>
              <a:rPr lang="en-US" b="1" u="sng"/>
              <a:t>    Multiple inheritance</a:t>
            </a:r>
            <a:endParaRPr lang="en-US" b="1" u="sng"/>
          </a:p>
          <a:p>
            <a:pPr marL="342900" indent="-342900">
              <a:buFont typeface="+mj-lt"/>
              <a:buAutoNum type="arabicPeriod"/>
            </a:pPr>
            <a:r>
              <a:rPr lang="en-US" b="1" u="sng"/>
              <a:t>    Multilevel inheritance</a:t>
            </a:r>
            <a:endParaRPr lang="en-US" b="1" u="sng"/>
          </a:p>
          <a:p>
            <a:pPr marL="342900" indent="-342900">
              <a:buFont typeface="+mj-lt"/>
              <a:buAutoNum type="arabicPeriod"/>
            </a:pPr>
            <a:r>
              <a:rPr lang="en-US" b="1" u="sng"/>
              <a:t>    Hierarchical Inheritance</a:t>
            </a:r>
            <a:endParaRPr lang="en-US" b="1" u="sng"/>
          </a:p>
          <a:p>
            <a:pPr marL="342900" indent="-342900">
              <a:buFont typeface="+mj-lt"/>
              <a:buAutoNum type="arabicPeriod"/>
            </a:pPr>
            <a:r>
              <a:rPr lang="en-US" b="1" u="sng"/>
              <a:t>    Hybrid Inheritance</a:t>
            </a:r>
            <a:endParaRPr lang="en-US" b="1" u="sng"/>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6339205"/>
          </a:xfrm>
          <a:prstGeom prst="rect">
            <a:avLst/>
          </a:prstGeom>
          <a:noFill/>
        </p:spPr>
        <p:txBody>
          <a:bodyPr wrap="square" rtlCol="0" anchor="t">
            <a:spAutoFit/>
          </a:bodyPr>
          <a:p>
            <a:pPr marL="285750" indent="-285750">
              <a:buFont typeface="Wingdings" panose="05000000000000000000" charset="0"/>
              <a:buChar char="v"/>
            </a:pPr>
            <a:r>
              <a:rPr lang="en-US" sz="2800" u="sng">
                <a:solidFill>
                  <a:srgbClr val="FF0000"/>
                </a:solidFill>
                <a:latin typeface="Broadway" panose="04040905080B02020502" charset="0"/>
                <a:cs typeface="Broadway" panose="04040905080B02020502" charset="0"/>
              </a:rPr>
              <a:t>Single Inheritance:</a:t>
            </a:r>
            <a:endParaRPr lang="en-US" sz="2800" u="sng">
              <a:solidFill>
                <a:srgbClr val="FF0000"/>
              </a:solidFill>
              <a:latin typeface="Broadway" panose="04040905080B02020502" charset="0"/>
              <a:cs typeface="Broadway" panose="04040905080B02020502" charset="0"/>
            </a:endParaRPr>
          </a:p>
          <a:p>
            <a:endParaRPr lang="en-US"/>
          </a:p>
          <a:p>
            <a:pPr marL="285750" indent="-285750">
              <a:buFont typeface="Wingdings" panose="05000000000000000000" charset="0"/>
              <a:buChar char="Ø"/>
            </a:pPr>
            <a:r>
              <a:rPr lang="en-US"/>
              <a:t>Single inheritance enables a derived class to </a:t>
            </a:r>
            <a:r>
              <a:rPr lang="en-US">
                <a:solidFill>
                  <a:srgbClr val="00B0F0"/>
                </a:solidFill>
              </a:rPr>
              <a:t>inherit properties from a single parent class</a:t>
            </a:r>
            <a:r>
              <a:rPr lang="en-US"/>
              <a:t>, thus enabling code reusability and the addition of new features to existing code.</a:t>
            </a:r>
            <a:endParaRPr lang="en-US"/>
          </a:p>
          <a:p>
            <a:pPr marL="285750" indent="-285750">
              <a:buFont typeface="Wingdings" panose="05000000000000000000" charset="0"/>
              <a:buChar char="Ø"/>
            </a:pPr>
            <a:r>
              <a:rPr lang="en-US" b="1" u="sng">
                <a:solidFill>
                  <a:srgbClr val="00B0F0"/>
                </a:solidFill>
              </a:rPr>
              <a:t>Example:</a:t>
            </a:r>
            <a:endParaRPr lang="en-US" b="1" u="sng">
              <a:solidFill>
                <a:srgbClr val="00B0F0"/>
              </a:solidFill>
            </a:endParaRPr>
          </a:p>
          <a:p>
            <a:pPr marL="285750" indent="-285750">
              <a:buFont typeface="Wingdings" panose="05000000000000000000" charset="0"/>
              <a:buChar char="Ø"/>
            </a:pPr>
            <a:endParaRPr lang="en-US"/>
          </a:p>
          <a:p>
            <a:r>
              <a:rPr lang="en-US">
                <a:solidFill>
                  <a:schemeClr val="accent5">
                    <a:lumMod val="60000"/>
                    <a:lumOff val="40000"/>
                  </a:schemeClr>
                </a:solidFill>
                <a:highlight>
                  <a:srgbClr val="000000"/>
                </a:highlight>
              </a:rPr>
              <a:t>class Parent:</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func1(self):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print("This function is in parent class.")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class Child(Parent):</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func2(self):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print("This function is in child class.")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object = Child()</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object.func1()</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object.func2()</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Output:</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This function is in parent class.</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This function is in child class.</a:t>
            </a:r>
            <a:endParaRPr lang="en-US">
              <a:solidFill>
                <a:schemeClr val="accent5">
                  <a:lumMod val="60000"/>
                  <a:lumOff val="40000"/>
                </a:schemeClr>
              </a:solidFill>
              <a:highlight>
                <a:srgbClr val="0000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158115"/>
            <a:ext cx="12192635" cy="7570470"/>
          </a:xfrm>
          <a:prstGeom prst="rect">
            <a:avLst/>
          </a:prstGeom>
          <a:noFill/>
        </p:spPr>
        <p:txBody>
          <a:bodyPr wrap="square" rtlCol="0" anchor="t">
            <a:spAutoFit/>
          </a:bodyPr>
          <a:p>
            <a:endParaRPr lang="en-US"/>
          </a:p>
          <a:p>
            <a:pPr marL="285750" indent="-285750">
              <a:buFont typeface="Wingdings" panose="05000000000000000000" charset="0"/>
              <a:buChar char="Ø"/>
            </a:pPr>
            <a:endParaRPr lang="en-US">
              <a:solidFill>
                <a:schemeClr val="tx1"/>
              </a:solidFill>
            </a:endParaRPr>
          </a:p>
          <a:p>
            <a:pPr marL="285750" indent="-285750">
              <a:buFont typeface="Wingdings" panose="05000000000000000000" charset="0"/>
              <a:buChar char="Ø"/>
            </a:pPr>
            <a:endParaRPr lang="en-US">
              <a:solidFill>
                <a:schemeClr val="tx1"/>
              </a:solidFill>
            </a:endParaRPr>
          </a:p>
          <a:p>
            <a:pPr marL="285750" indent="-285750">
              <a:buFont typeface="Wingdings" panose="05000000000000000000" charset="0"/>
              <a:buChar char="Ø"/>
            </a:pPr>
            <a:r>
              <a:rPr lang="en-US">
                <a:solidFill>
                  <a:schemeClr val="tx1"/>
                </a:solidFill>
              </a:rPr>
              <a:t>When a class can be derived from more than one base class this type of inheritance is called </a:t>
            </a:r>
            <a:r>
              <a:rPr lang="en-US">
                <a:solidFill>
                  <a:srgbClr val="00B0F0"/>
                </a:solidFill>
              </a:rPr>
              <a:t>multiple inheritances. </a:t>
            </a:r>
            <a:endParaRPr lang="en-US">
              <a:solidFill>
                <a:srgbClr val="00B0F0"/>
              </a:solidFill>
            </a:endParaRPr>
          </a:p>
          <a:p>
            <a:pPr marL="285750" indent="-285750">
              <a:buFont typeface="Wingdings" panose="05000000000000000000" charset="0"/>
              <a:buChar char="v"/>
            </a:pPr>
            <a:r>
              <a:rPr lang="en-US" u="sng">
                <a:solidFill>
                  <a:srgbClr val="00B0F0"/>
                </a:solidFill>
              </a:rPr>
              <a:t>Example:</a:t>
            </a:r>
            <a:endParaRPr lang="en-US" u="sng">
              <a:solidFill>
                <a:srgbClr val="00B0F0"/>
              </a:solidFill>
            </a:endParaRPr>
          </a:p>
          <a:p>
            <a:endParaRPr lang="en-US"/>
          </a:p>
          <a:p>
            <a:r>
              <a:rPr lang="en-US">
                <a:solidFill>
                  <a:schemeClr val="accent5">
                    <a:lumMod val="60000"/>
                    <a:lumOff val="40000"/>
                  </a:schemeClr>
                </a:solidFill>
                <a:highlight>
                  <a:srgbClr val="000000"/>
                </a:highlight>
              </a:rPr>
              <a:t>class Mother:</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mothername = ""</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mother(self):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print(self.mothername)</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class Father:</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fathername = ""</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father(self):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print(self.fathername)</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class Son(Mother, Father):</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parents(self):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print("Father name is :", self.fathername)</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print("Mother :", self.mothername)</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s1 = Son()</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s1.fathername = "Mommy"</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s1.mothername = "Daddy"</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s1.parents()</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endParaRPr>
          </a:p>
          <a:p>
            <a:endParaRPr lang="en-US">
              <a:solidFill>
                <a:schemeClr val="accent5">
                  <a:lumMod val="60000"/>
                  <a:lumOff val="40000"/>
                </a:schemeClr>
              </a:solidFill>
            </a:endParaRPr>
          </a:p>
        </p:txBody>
      </p:sp>
      <p:sp>
        <p:nvSpPr>
          <p:cNvPr id="3" name="Text Box 2"/>
          <p:cNvSpPr txBox="1"/>
          <p:nvPr/>
        </p:nvSpPr>
        <p:spPr>
          <a:xfrm>
            <a:off x="5437505" y="5659120"/>
            <a:ext cx="6096000" cy="1198880"/>
          </a:xfrm>
          <a:prstGeom prst="rect">
            <a:avLst/>
          </a:prstGeom>
          <a:noFill/>
        </p:spPr>
        <p:txBody>
          <a:bodyPr wrap="square" rtlCol="0" anchor="t">
            <a:spAutoFit/>
          </a:bodyPr>
          <a:p>
            <a:r>
              <a:rPr lang="en-US">
                <a:solidFill>
                  <a:schemeClr val="accent5">
                    <a:lumMod val="60000"/>
                    <a:lumOff val="40000"/>
                  </a:schemeClr>
                </a:solidFill>
                <a:highlight>
                  <a:srgbClr val="000000"/>
                </a:highlight>
                <a:sym typeface="+mn-ea"/>
              </a:rPr>
              <a:t>Output:</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Father name is : Mommy</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sym typeface="+mn-ea"/>
              </a:rPr>
              <a:t>Mother name is : Daddy</a:t>
            </a:r>
            <a:endParaRPr lang="en-US">
              <a:solidFill>
                <a:schemeClr val="accent5">
                  <a:lumMod val="60000"/>
                  <a:lumOff val="40000"/>
                </a:schemeClr>
              </a:solidFill>
              <a:highlight>
                <a:srgbClr val="000000"/>
              </a:highlight>
              <a:sym typeface="+mn-ea"/>
            </a:endParaRPr>
          </a:p>
        </p:txBody>
      </p:sp>
      <p:sp>
        <p:nvSpPr>
          <p:cNvPr id="4" name="Text Box 3"/>
          <p:cNvSpPr txBox="1"/>
          <p:nvPr/>
        </p:nvSpPr>
        <p:spPr>
          <a:xfrm>
            <a:off x="0" y="0"/>
            <a:ext cx="6096000" cy="521970"/>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sym typeface="+mn-ea"/>
              </a:rPr>
              <a:t>Multiple Inheritance:</a:t>
            </a:r>
            <a:endParaRPr lang="en-US" sz="2800" u="sng">
              <a:solidFill>
                <a:srgbClr val="FF0000"/>
              </a:solidFill>
              <a:latin typeface="Broadway" panose="04040905080B02020502" charset="0"/>
              <a:cs typeface="Broadway" panose="04040905080B02020502"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12192635" cy="1076325"/>
          </a:xfrm>
          <a:prstGeom prst="rect">
            <a:avLst/>
          </a:prstGeom>
          <a:noFill/>
        </p:spPr>
        <p:txBody>
          <a:bodyPr wrap="square" rtlCol="0" anchor="t">
            <a:spAutoFit/>
          </a:bodyPr>
          <a:p>
            <a:pPr marL="457200" indent="-457200">
              <a:buFont typeface="Wingdings" panose="05000000000000000000" charset="0"/>
              <a:buChar char="q"/>
            </a:pPr>
            <a:r>
              <a:rPr lang="en-US" sz="2800" u="sng">
                <a:solidFill>
                  <a:srgbClr val="FF0000"/>
                </a:solidFill>
                <a:latin typeface="Broadway" panose="04040905080B02020502" charset="0"/>
                <a:cs typeface="Broadway" panose="04040905080B02020502" charset="0"/>
              </a:rPr>
              <a:t>Polymorphism</a:t>
            </a:r>
            <a:r>
              <a:rPr lang="en-US"/>
              <a:t> in Python allows objects of different data types to be treated as objects of a common interface. One common way to achieve polymorphism in Python is through method overriding in inheritance.  </a:t>
            </a:r>
            <a:endParaRPr lang="en-US"/>
          </a:p>
          <a:p>
            <a:pPr marL="457200" indent="-457200">
              <a:buFont typeface="Wingdings" panose="05000000000000000000" charset="0"/>
              <a:buChar char="v"/>
            </a:pPr>
            <a:r>
              <a:rPr lang="en-IN" altLang="en-US" b="1" u="sng">
                <a:solidFill>
                  <a:srgbClr val="00B0F0"/>
                </a:solidFill>
              </a:rPr>
              <a:t>Code:</a:t>
            </a:r>
            <a:endParaRPr lang="en-IN" altLang="en-US" b="1" u="sng">
              <a:solidFill>
                <a:srgbClr val="00B0F0"/>
              </a:solidFill>
            </a:endParaRPr>
          </a:p>
        </p:txBody>
      </p:sp>
      <p:sp>
        <p:nvSpPr>
          <p:cNvPr id="4" name="Text Box 3"/>
          <p:cNvSpPr txBox="1"/>
          <p:nvPr/>
        </p:nvSpPr>
        <p:spPr>
          <a:xfrm>
            <a:off x="0" y="949960"/>
            <a:ext cx="6096000" cy="5908040"/>
          </a:xfrm>
          <a:prstGeom prst="rect">
            <a:avLst/>
          </a:prstGeom>
          <a:noFill/>
        </p:spPr>
        <p:txBody>
          <a:bodyPr wrap="square" rtlCol="0" anchor="t">
            <a:spAutoFit/>
          </a:bodyPr>
          <a:p>
            <a:r>
              <a:rPr lang="en-US">
                <a:solidFill>
                  <a:schemeClr val="accent5">
                    <a:lumMod val="60000"/>
                    <a:lumOff val="40000"/>
                  </a:schemeClr>
                </a:solidFill>
                <a:highlight>
                  <a:srgbClr val="000000"/>
                </a:highlight>
              </a:rPr>
              <a:t>class Animal:</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speak(self):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pass</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class Dog(Animal):</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speak(self):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return "Woof!"</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class Cat(Animal):</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def speak(self):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return "Meow!"</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Polymorphic function</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def animal_says(animal):</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    return animal.speak()</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dog = Dog()</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cat = Cat()</a:t>
            </a:r>
            <a:endParaRPr lang="en-US">
              <a:solidFill>
                <a:schemeClr val="accent5">
                  <a:lumMod val="60000"/>
                  <a:lumOff val="40000"/>
                </a:schemeClr>
              </a:solidFill>
              <a:highlight>
                <a:srgbClr val="000000"/>
              </a:highlight>
            </a:endParaRPr>
          </a:p>
          <a:p>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print(animal_says(dog))  # Output: Woof!</a:t>
            </a:r>
            <a:endParaRPr lang="en-US">
              <a:solidFill>
                <a:schemeClr val="accent5">
                  <a:lumMod val="60000"/>
                  <a:lumOff val="40000"/>
                </a:schemeClr>
              </a:solidFill>
              <a:highlight>
                <a:srgbClr val="000000"/>
              </a:highlight>
            </a:endParaRPr>
          </a:p>
          <a:p>
            <a:r>
              <a:rPr lang="en-US">
                <a:solidFill>
                  <a:schemeClr val="accent5">
                    <a:lumMod val="60000"/>
                    <a:lumOff val="40000"/>
                  </a:schemeClr>
                </a:solidFill>
                <a:highlight>
                  <a:srgbClr val="000000"/>
                </a:highlight>
              </a:rPr>
              <a:t>print(animal_says(cat))  # Output: Meow!</a:t>
            </a:r>
            <a:endParaRPr lang="en-US">
              <a:solidFill>
                <a:schemeClr val="accent5">
                  <a:lumMod val="60000"/>
                  <a:lumOff val="40000"/>
                </a:schemeClr>
              </a:solidFill>
              <a:highlight>
                <a:srgbClr val="000000"/>
              </a:highlight>
            </a:endParaRPr>
          </a:p>
        </p:txBody>
      </p:sp>
      <p:sp>
        <p:nvSpPr>
          <p:cNvPr id="5" name="Text Box 4"/>
          <p:cNvSpPr txBox="1"/>
          <p:nvPr/>
        </p:nvSpPr>
        <p:spPr>
          <a:xfrm>
            <a:off x="4610735" y="5935980"/>
            <a:ext cx="7581900" cy="922020"/>
          </a:xfrm>
          <a:prstGeom prst="rect">
            <a:avLst/>
          </a:prstGeom>
          <a:noFill/>
        </p:spPr>
        <p:txBody>
          <a:bodyPr wrap="square" rtlCol="0" anchor="t">
            <a:spAutoFit/>
          </a:bodyPr>
          <a:p>
            <a:pPr marL="285750" indent="-285750">
              <a:buFont typeface="Wingdings" panose="05000000000000000000" charset="0"/>
              <a:buChar char="v"/>
            </a:pPr>
            <a:r>
              <a:rPr lang="en-US"/>
              <a:t>Here, both the Dog and Cat classes have a speak() method, but they implement it differently. The animal_says() function can accept any object that has a speak() method, demonstrating polymorphism.</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0" y="635"/>
            <a:ext cx="12192000" cy="68573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7342</Words>
  <Application>WPS Presentation</Application>
  <PresentationFormat>Widescreen</PresentationFormat>
  <Paragraphs>237</Paragraphs>
  <Slides>15</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15</vt:i4>
      </vt:variant>
    </vt:vector>
  </HeadingPairs>
  <TitlesOfParts>
    <vt:vector size="25" baseType="lpstr">
      <vt:lpstr>Arial</vt:lpstr>
      <vt:lpstr>SimSun</vt:lpstr>
      <vt:lpstr>Wingdings</vt:lpstr>
      <vt:lpstr>Wingdings</vt:lpstr>
      <vt:lpstr>Broadway</vt:lpstr>
      <vt:lpstr>Microsoft YaHei</vt:lpstr>
      <vt:lpstr>Arial Unicode MS</vt:lpstr>
      <vt:lpstr>Calibri Light</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Rahul</cp:lastModifiedBy>
  <cp:revision>5</cp:revision>
  <dcterms:created xsi:type="dcterms:W3CDTF">2024-05-02T17:56:00Z</dcterms:created>
  <dcterms:modified xsi:type="dcterms:W3CDTF">2024-05-09T07:25:16Z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7F503F5A498D471FB317969CB95C438B_11</vt:lpwstr>
  </property>
  <property fmtid="{D5CDD505-2E9C-101B-9397-08002B2CF9AE}" pid="3" name="KSOProductBuildVer">
    <vt:lpwstr>1033-12.2.0.16909</vt:lpwstr>
  </property>
</Properties>
</file>