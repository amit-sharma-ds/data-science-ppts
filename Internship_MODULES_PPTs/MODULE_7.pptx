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5" r:id="rId3"/>
    <p:sldId id="270" r:id="rId4"/>
    <p:sldId id="271" r:id="rId5"/>
    <p:sldId id="272" r:id="rId6"/>
    <p:sldId id="286" r:id="rId7"/>
    <p:sldId id="257" r:id="rId8"/>
    <p:sldId id="264" r:id="rId9"/>
    <p:sldId id="263" r:id="rId10"/>
    <p:sldId id="262" r:id="rId11"/>
    <p:sldId id="273" r:id="rId12"/>
    <p:sldId id="274" r:id="rId13"/>
    <p:sldId id="287" r:id="rId14"/>
    <p:sldId id="281" r:id="rId15"/>
    <p:sldId id="27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635" y="-635"/>
            <a:ext cx="12191365" cy="68592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635" cy="5939155"/>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Errors and Exceptions in python</a:t>
            </a:r>
            <a:endParaRPr lang="en-US" sz="2800" u="sng">
              <a:solidFill>
                <a:srgbClr val="FF0000"/>
              </a:solidFill>
              <a:latin typeface="Broadway" panose="04040905080B02020502" charset="0"/>
              <a:cs typeface="Broadway" panose="04040905080B02020502" charset="0"/>
            </a:endParaRPr>
          </a:p>
          <a:p>
            <a:pPr marL="457200" indent="-457200">
              <a:buFont typeface="Wingdings" panose="05000000000000000000" charset="0"/>
              <a:buChar char="q"/>
            </a:pPr>
            <a:endParaRPr lang="en-US" sz="2800" u="sng">
              <a:solidFill>
                <a:srgbClr val="FF0000"/>
              </a:solidFill>
              <a:latin typeface="Broadway" panose="04040905080B02020502" charset="0"/>
              <a:cs typeface="Broadway" panose="04040905080B02020502" charset="0"/>
            </a:endParaRPr>
          </a:p>
          <a:p>
            <a:pPr marL="285750" indent="-285750">
              <a:buFont typeface="Wingdings" panose="05000000000000000000" charset="0"/>
              <a:buChar char="Ø"/>
            </a:pPr>
            <a:r>
              <a:rPr lang="en-US"/>
              <a:t>Errors: Errors in Python are typically categorized as syntax errors or runtime errors.</a:t>
            </a:r>
            <a:endParaRPr lang="en-US"/>
          </a:p>
          <a:p>
            <a:pPr marL="285750" indent="-285750">
              <a:buFont typeface="Wingdings" panose="05000000000000000000" charset="0"/>
              <a:buChar char="Ø"/>
            </a:pPr>
            <a:endParaRPr lang="en-US"/>
          </a:p>
          <a:p>
            <a:pPr marL="285750" indent="-285750">
              <a:buFont typeface="Wingdings" panose="05000000000000000000" charset="0"/>
              <a:buChar char="Ø"/>
            </a:pPr>
            <a:r>
              <a:rPr lang="en-US"/>
              <a:t>Syntax Errors: Syntax errors occur when the Python parser encounters code that violates the language syntax rules. These errors are detected during the parsing stage before the code is executed. Common examples include missing parentheses, incorrect indentation, or misspelled keywords.</a:t>
            </a:r>
            <a:endParaRPr lang="en-US"/>
          </a:p>
          <a:p>
            <a:pPr marL="285750" indent="-285750">
              <a:buFont typeface="Wingdings" panose="05000000000000000000" charset="0"/>
              <a:buChar char="Ø"/>
            </a:pPr>
            <a:endParaRPr lang="en-US"/>
          </a:p>
          <a:p>
            <a:pPr marL="285750" indent="-285750">
              <a:buFont typeface="Wingdings" panose="05000000000000000000" charset="0"/>
              <a:buChar char="v"/>
            </a:pPr>
            <a:r>
              <a:rPr lang="en-US" b="1" u="sng"/>
              <a:t>Example of a syntax error:</a:t>
            </a:r>
            <a:endParaRPr lang="en-US" b="1" u="sng"/>
          </a:p>
          <a:p>
            <a:endParaRPr lang="en-US"/>
          </a:p>
          <a:p>
            <a:r>
              <a:rPr lang="en-US">
                <a:solidFill>
                  <a:schemeClr val="bg1"/>
                </a:solidFill>
                <a:highlight>
                  <a:srgbClr val="000000"/>
                </a:highlight>
              </a:rPr>
              <a:t>print("Hello world" # Missing closing parenthesis</a:t>
            </a:r>
            <a:endParaRPr lang="en-US">
              <a:solidFill>
                <a:schemeClr val="bg1"/>
              </a:solidFill>
              <a:highlight>
                <a:srgbClr val="000000"/>
              </a:highlight>
            </a:endParaRPr>
          </a:p>
          <a:p>
            <a:endParaRPr lang="en-US"/>
          </a:p>
          <a:p>
            <a:pPr marL="285750" indent="-285750">
              <a:buFont typeface="Wingdings" panose="05000000000000000000" charset="0"/>
              <a:buChar char="Ø"/>
            </a:pPr>
            <a:r>
              <a:rPr lang="en-US"/>
              <a:t>Runtime Errors (Exceptions): Runtime errors, also known as exceptions, occur during the execution of a program. These errors interrupt the normal flow of the program. Runtime errors can be caused by various factors, such as invalid input, division by zero, or accessing an index out of range. Python provides mechanisms to handle exceptions gracefully using try, except, else, and finally blocks.</a:t>
            </a:r>
            <a:endParaRPr lang="en-US"/>
          </a:p>
          <a:p>
            <a:pPr marL="285750" indent="-285750">
              <a:buFont typeface="Wingdings" panose="05000000000000000000" charset="0"/>
              <a:buChar char="Ø"/>
            </a:pPr>
            <a:endParaRPr lang="en-US"/>
          </a:p>
          <a:p>
            <a:pPr marL="285750" indent="-285750">
              <a:buFont typeface="Wingdings" panose="05000000000000000000" charset="0"/>
              <a:buChar char="v"/>
            </a:pPr>
            <a:r>
              <a:rPr lang="en-US" b="1" u="sng"/>
              <a:t>Example</a:t>
            </a:r>
            <a:endParaRPr lang="en-US" b="1" u="sng"/>
          </a:p>
          <a:p>
            <a:endParaRPr lang="en-US"/>
          </a:p>
          <a:p>
            <a:r>
              <a:rPr lang="en-US">
                <a:solidFill>
                  <a:schemeClr val="bg1"/>
                </a:solidFill>
                <a:highlight>
                  <a:srgbClr val="000000"/>
                </a:highlight>
              </a:rPr>
              <a:t>result = 10 / 0 # ZeroDivisionError: division by zero</a:t>
            </a:r>
            <a:endParaRPr lang="en-US">
              <a:solidFill>
                <a:schemeClr val="bg1"/>
              </a:solidFill>
              <a:highlight>
                <a:srgbClr val="0000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000" cy="1506855"/>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Built-in exceptions</a:t>
            </a:r>
            <a:endParaRPr lang="en-US" sz="2800" u="sng">
              <a:solidFill>
                <a:srgbClr val="FF0000"/>
              </a:solidFill>
              <a:latin typeface="Broadway" panose="04040905080B02020502" charset="0"/>
              <a:cs typeface="Broadway" panose="04040905080B02020502" charset="0"/>
            </a:endParaRPr>
          </a:p>
          <a:p>
            <a:pPr marL="457200" indent="-457200">
              <a:buFont typeface="Wingdings" panose="05000000000000000000" charset="0"/>
              <a:buChar char="q"/>
            </a:pPr>
            <a:endParaRPr lang="en-US" sz="2800" u="sng">
              <a:solidFill>
                <a:srgbClr val="FF0000"/>
              </a:solidFill>
              <a:latin typeface="Broadway" panose="04040905080B02020502" charset="0"/>
              <a:cs typeface="Broadway" panose="04040905080B02020502" charset="0"/>
            </a:endParaRPr>
          </a:p>
          <a:p>
            <a:pPr marL="285750" indent="-285750">
              <a:buFont typeface="Wingdings" panose="05000000000000000000" charset="0"/>
              <a:buChar char="Ø"/>
            </a:pPr>
            <a:r>
              <a:rPr lang="en-US"/>
              <a:t>Built-in exceptions that represent various types of errors or exceptional conditions that may occur during the execution of a program. Here are some commonly used built-in exceptions in Python:</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a:picLocks noChangeAspect="1"/>
          </p:cNvPicPr>
          <p:nvPr/>
        </p:nvPicPr>
        <p:blipFill>
          <a:blip r:embed="rId1"/>
          <a:stretch>
            <a:fillRect/>
          </a:stretch>
        </p:blipFill>
        <p:spPr>
          <a:xfrm>
            <a:off x="-112395" y="0"/>
            <a:ext cx="12304395" cy="68091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0" name="Picture 99"/>
          <p:cNvPicPr/>
          <p:nvPr/>
        </p:nvPicPr>
        <p:blipFill>
          <a:blip r:embed="rId1"/>
          <a:stretch>
            <a:fillRect/>
          </a:stretch>
        </p:blipFill>
        <p:spPr>
          <a:xfrm>
            <a:off x="2691765" y="0"/>
            <a:ext cx="6954520" cy="6858000"/>
          </a:xfrm>
          <a:prstGeom prst="rect">
            <a:avLst/>
          </a:prstGeom>
          <a:noFill/>
          <a:ln w="9525">
            <a:noFill/>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0" y="0"/>
            <a:ext cx="12192000" cy="3569335"/>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Exception Handling</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Exception handling is the process of </a:t>
            </a:r>
            <a:r>
              <a:rPr lang="en-US">
                <a:solidFill>
                  <a:srgbClr val="00B0F0"/>
                </a:solidFill>
              </a:rPr>
              <a:t>responding to unwanted or unexpected events</a:t>
            </a:r>
            <a:r>
              <a:rPr lang="en-US"/>
              <a:t> when a computer program runs. Exception handling deals with these events to avoid the program or system crashing, and without this process, exceptions would disrupt the normal operation of a program.</a:t>
            </a:r>
            <a:endParaRPr lang="en-US"/>
          </a:p>
          <a:p>
            <a:pPr marL="285750" indent="-285750">
              <a:buFont typeface="Wingdings" panose="05000000000000000000" charset="0"/>
              <a:buChar char="Ø"/>
            </a:pPr>
            <a:r>
              <a:rPr lang="en-US"/>
              <a:t>Exceptions in Python</a:t>
            </a:r>
            <a:endParaRPr lang="en-US"/>
          </a:p>
          <a:p>
            <a:endParaRPr lang="en-US"/>
          </a:p>
          <a:p>
            <a:pPr marL="285750" indent="-285750">
              <a:buFont typeface="Wingdings" panose="05000000000000000000" charset="0"/>
              <a:buChar char="Ø"/>
            </a:pPr>
            <a:r>
              <a:rPr lang="en-US"/>
              <a:t>Python has many built-in exceptions that are raised when your program encounters an error (something in the program goes wrong).</a:t>
            </a:r>
            <a:endParaRPr lang="en-US"/>
          </a:p>
          <a:p>
            <a:endParaRPr lang="en-US"/>
          </a:p>
          <a:p>
            <a:pPr marL="285750" indent="-285750">
              <a:buFont typeface="Wingdings" panose="05000000000000000000" charset="0"/>
              <a:buChar char="Ø"/>
            </a:pPr>
            <a:r>
              <a:rPr lang="en-US"/>
              <a:t>When these exceptions occur, the Python interpreter stops the current process and passes it to the calling process until it is handled. If not handled, the program will crash.</a:t>
            </a:r>
            <a:endParaRPr lang="en-US"/>
          </a:p>
        </p:txBody>
      </p:sp>
      <p:sp>
        <p:nvSpPr>
          <p:cNvPr id="5" name="Text Box 4"/>
          <p:cNvSpPr txBox="1"/>
          <p:nvPr/>
        </p:nvSpPr>
        <p:spPr>
          <a:xfrm>
            <a:off x="-29210" y="3429000"/>
            <a:ext cx="10041890" cy="3569335"/>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Python try...except</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try….. except blocks are used in python to handle errors and exceptions. The code in try block runs when there is no error. If the try block catches the error, then the except block is executed.</a:t>
            </a:r>
            <a:endParaRPr lang="en-US"/>
          </a:p>
          <a:p>
            <a:pPr marL="285750" indent="-285750">
              <a:buFont typeface="Wingdings" panose="05000000000000000000" charset="0"/>
              <a:buChar char="v"/>
            </a:pPr>
            <a:r>
              <a:rPr lang="en-US" b="1" u="sng">
                <a:solidFill>
                  <a:srgbClr val="FF0000"/>
                </a:solidFill>
              </a:rPr>
              <a:t>Syntax:</a:t>
            </a:r>
            <a:endParaRPr lang="en-US" b="1" u="sng">
              <a:solidFill>
                <a:srgbClr val="FF0000"/>
              </a:solidFill>
            </a:endParaRPr>
          </a:p>
          <a:p>
            <a:endParaRPr lang="en-US"/>
          </a:p>
          <a:p>
            <a:r>
              <a:rPr lang="en-US">
                <a:solidFill>
                  <a:schemeClr val="bg1"/>
                </a:solidFill>
                <a:highlight>
                  <a:srgbClr val="000000"/>
                </a:highlight>
              </a:rPr>
              <a:t>try:</a:t>
            </a:r>
            <a:endParaRPr lang="en-US">
              <a:solidFill>
                <a:schemeClr val="bg1"/>
              </a:solidFill>
              <a:highlight>
                <a:srgbClr val="000000"/>
              </a:highlight>
            </a:endParaRPr>
          </a:p>
          <a:p>
            <a:r>
              <a:rPr lang="en-US">
                <a:solidFill>
                  <a:schemeClr val="bg1"/>
                </a:solidFill>
                <a:highlight>
                  <a:srgbClr val="000000"/>
                </a:highlight>
              </a:rPr>
              <a:t>     #statements which could generate </a:t>
            </a:r>
            <a:endParaRPr lang="en-US">
              <a:solidFill>
                <a:schemeClr val="bg1"/>
              </a:solidFill>
              <a:highlight>
                <a:srgbClr val="000000"/>
              </a:highlight>
            </a:endParaRPr>
          </a:p>
          <a:p>
            <a:r>
              <a:rPr lang="en-US">
                <a:solidFill>
                  <a:schemeClr val="bg1"/>
                </a:solidFill>
                <a:highlight>
                  <a:srgbClr val="000000"/>
                </a:highlight>
              </a:rPr>
              <a:t>     #exception</a:t>
            </a:r>
            <a:endParaRPr lang="en-US">
              <a:solidFill>
                <a:schemeClr val="bg1"/>
              </a:solidFill>
              <a:highlight>
                <a:srgbClr val="000000"/>
              </a:highlight>
            </a:endParaRPr>
          </a:p>
          <a:p>
            <a:r>
              <a:rPr lang="en-US">
                <a:solidFill>
                  <a:schemeClr val="bg1"/>
                </a:solidFill>
                <a:highlight>
                  <a:srgbClr val="000000"/>
                </a:highlight>
              </a:rPr>
              <a:t>except:</a:t>
            </a:r>
            <a:endParaRPr lang="en-US">
              <a:solidFill>
                <a:schemeClr val="bg1"/>
              </a:solidFill>
              <a:highlight>
                <a:srgbClr val="000000"/>
              </a:highlight>
            </a:endParaRPr>
          </a:p>
          <a:p>
            <a:r>
              <a:rPr lang="en-US">
                <a:solidFill>
                  <a:schemeClr val="bg1"/>
                </a:solidFill>
                <a:highlight>
                  <a:srgbClr val="000000"/>
                </a:highlight>
              </a:rPr>
              <a:t>     #Soloution of generated exception</a:t>
            </a:r>
            <a:endParaRPr lang="en-US">
              <a:solidFill>
                <a:schemeClr val="bg1"/>
              </a:solidFill>
              <a:highlight>
                <a:srgbClr val="000000"/>
              </a:highlight>
            </a:endParaRPr>
          </a:p>
          <a:p>
            <a:endParaRPr lang="en-US">
              <a:solidFill>
                <a:schemeClr val="bg1"/>
              </a:solidFill>
              <a:highlight>
                <a:srgbClr val="000000"/>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6096000" cy="3138170"/>
          </a:xfrm>
          <a:prstGeom prst="rect">
            <a:avLst/>
          </a:prstGeom>
          <a:noFill/>
        </p:spPr>
        <p:txBody>
          <a:bodyPr wrap="square" rtlCol="0" anchor="t">
            <a:spAutoFit/>
          </a:bodyPr>
          <a:p>
            <a:r>
              <a:rPr lang="en-US">
                <a:solidFill>
                  <a:schemeClr val="bg1"/>
                </a:solidFill>
                <a:highlight>
                  <a:srgbClr val="000000"/>
                </a:highlight>
              </a:rPr>
              <a:t>Example:</a:t>
            </a:r>
            <a:endParaRPr lang="en-US">
              <a:solidFill>
                <a:schemeClr val="bg1"/>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try:</a:t>
            </a:r>
            <a:endParaRPr lang="en-US">
              <a:solidFill>
                <a:schemeClr val="bg1"/>
              </a:solidFill>
              <a:highlight>
                <a:srgbClr val="000000"/>
              </a:highlight>
            </a:endParaRPr>
          </a:p>
          <a:p>
            <a:r>
              <a:rPr lang="en-US">
                <a:solidFill>
                  <a:schemeClr val="bg1"/>
                </a:solidFill>
                <a:highlight>
                  <a:srgbClr val="000000"/>
                </a:highlight>
              </a:rPr>
              <a:t>    num = int(input("Enter an integer: "))</a:t>
            </a:r>
            <a:endParaRPr lang="en-US">
              <a:solidFill>
                <a:schemeClr val="bg1"/>
              </a:solidFill>
              <a:highlight>
                <a:srgbClr val="000000"/>
              </a:highlight>
            </a:endParaRPr>
          </a:p>
          <a:p>
            <a:r>
              <a:rPr lang="en-US">
                <a:solidFill>
                  <a:schemeClr val="bg1"/>
                </a:solidFill>
                <a:highlight>
                  <a:srgbClr val="000000"/>
                </a:highlight>
              </a:rPr>
              <a:t>except ValueError:</a:t>
            </a:r>
            <a:endParaRPr lang="en-US">
              <a:solidFill>
                <a:schemeClr val="bg1"/>
              </a:solidFill>
              <a:highlight>
                <a:srgbClr val="000000"/>
              </a:highlight>
            </a:endParaRPr>
          </a:p>
          <a:p>
            <a:r>
              <a:rPr lang="en-US">
                <a:solidFill>
                  <a:schemeClr val="bg1"/>
                </a:solidFill>
                <a:highlight>
                  <a:srgbClr val="000000"/>
                </a:highlight>
              </a:rPr>
              <a:t>    print("Number entered is not an integer.")</a:t>
            </a:r>
            <a:endParaRPr lang="en-US">
              <a:solidFill>
                <a:schemeClr val="bg1"/>
              </a:solidFill>
              <a:highlight>
                <a:srgbClr val="000000"/>
              </a:highlight>
            </a:endParaRPr>
          </a:p>
          <a:p>
            <a:endParaRPr lang="en-US">
              <a:solidFill>
                <a:schemeClr val="bg1"/>
              </a:solidFill>
              <a:highlight>
                <a:srgbClr val="000000"/>
              </a:highlight>
            </a:endParaRPr>
          </a:p>
          <a:p>
            <a:r>
              <a:rPr lang="en-US">
                <a:solidFill>
                  <a:srgbClr val="00B0F0"/>
                </a:solidFill>
                <a:highlight>
                  <a:srgbClr val="000000"/>
                </a:highlight>
              </a:rPr>
              <a:t>Output:</a:t>
            </a:r>
            <a:endParaRPr lang="en-US">
              <a:solidFill>
                <a:srgbClr val="00B0F0"/>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Enter an integer: 6.022</a:t>
            </a:r>
            <a:endParaRPr lang="en-US">
              <a:solidFill>
                <a:schemeClr val="bg1"/>
              </a:solidFill>
              <a:highlight>
                <a:srgbClr val="000000"/>
              </a:highlight>
            </a:endParaRPr>
          </a:p>
          <a:p>
            <a:r>
              <a:rPr lang="en-US">
                <a:solidFill>
                  <a:schemeClr val="bg1"/>
                </a:solidFill>
                <a:highlight>
                  <a:srgbClr val="000000"/>
                </a:highlight>
              </a:rPr>
              <a:t>Number entered is not an integer.</a:t>
            </a:r>
            <a:endParaRPr lang="en-US">
              <a:solidFill>
                <a:schemeClr val="bg1"/>
              </a:solidFill>
              <a:highlight>
                <a:srgbClr val="000000"/>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000" cy="4769485"/>
          </a:xfrm>
          <a:prstGeom prst="rect">
            <a:avLst/>
          </a:prstGeom>
          <a:noFill/>
        </p:spPr>
        <p:txBody>
          <a:bodyPr wrap="square" rtlCol="0" anchor="t">
            <a:spAutoFit/>
          </a:bodyPr>
          <a:p>
            <a:pPr marL="285750" indent="-285750">
              <a:buFont typeface="Wingdings" panose="05000000000000000000" charset="0"/>
              <a:buChar char="q"/>
            </a:pPr>
            <a:r>
              <a:rPr lang="en-US" sz="2800" u="sng">
                <a:solidFill>
                  <a:srgbClr val="FF0000"/>
                </a:solidFill>
                <a:latin typeface="Broadway" panose="04040905080B02020502" charset="0"/>
                <a:cs typeface="Broadway" panose="04040905080B02020502" charset="0"/>
              </a:rPr>
              <a:t>Finally Clause</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The finally code block is also a part of exception handling. When we handle exception using the try and except block, we can include a finally block at the end. The finally block is always executed, so it is generally used for doing the concluding tasks like closing file resources or closing database connection or may be ending the program execution with a delightful message.</a:t>
            </a:r>
            <a:endParaRPr lang="en-US"/>
          </a:p>
          <a:p>
            <a:pPr marL="285750" indent="-285750">
              <a:buFont typeface="Wingdings" panose="05000000000000000000" charset="0"/>
              <a:buChar char="Ø"/>
            </a:pPr>
            <a:endParaRPr lang="en-US"/>
          </a:p>
          <a:p>
            <a:pPr marL="285750" indent="-285750">
              <a:buFont typeface="Wingdings" panose="05000000000000000000" charset="0"/>
              <a:buChar char="v"/>
            </a:pPr>
            <a:r>
              <a:rPr lang="en-US" sz="2400" b="1" u="sng">
                <a:solidFill>
                  <a:srgbClr val="FF0000"/>
                </a:solidFill>
              </a:rPr>
              <a:t>Syntax:</a:t>
            </a:r>
            <a:endParaRPr lang="en-US" sz="2400" b="1" u="sng">
              <a:solidFill>
                <a:srgbClr val="FF0000"/>
              </a:solidFill>
            </a:endParaRPr>
          </a:p>
          <a:p>
            <a:endParaRPr lang="en-US"/>
          </a:p>
          <a:p>
            <a:r>
              <a:rPr lang="en-US">
                <a:solidFill>
                  <a:schemeClr val="bg1"/>
                </a:solidFill>
                <a:highlight>
                  <a:srgbClr val="000000"/>
                </a:highlight>
              </a:rPr>
              <a:t>try:</a:t>
            </a:r>
            <a:endParaRPr lang="en-US">
              <a:solidFill>
                <a:schemeClr val="bg1"/>
              </a:solidFill>
              <a:highlight>
                <a:srgbClr val="000000"/>
              </a:highlight>
            </a:endParaRPr>
          </a:p>
          <a:p>
            <a:r>
              <a:rPr lang="en-US">
                <a:solidFill>
                  <a:schemeClr val="bg1"/>
                </a:solidFill>
                <a:highlight>
                  <a:srgbClr val="000000"/>
                </a:highlight>
              </a:rPr>
              <a:t>   #statements which could generate </a:t>
            </a:r>
            <a:endParaRPr lang="en-US">
              <a:solidFill>
                <a:schemeClr val="bg1"/>
              </a:solidFill>
              <a:highlight>
                <a:srgbClr val="000000"/>
              </a:highlight>
            </a:endParaRPr>
          </a:p>
          <a:p>
            <a:r>
              <a:rPr lang="en-US">
                <a:solidFill>
                  <a:schemeClr val="bg1"/>
                </a:solidFill>
                <a:highlight>
                  <a:srgbClr val="000000"/>
                </a:highlight>
              </a:rPr>
              <a:t>   #exception</a:t>
            </a:r>
            <a:endParaRPr lang="en-US">
              <a:solidFill>
                <a:schemeClr val="bg1"/>
              </a:solidFill>
              <a:highlight>
                <a:srgbClr val="000000"/>
              </a:highlight>
            </a:endParaRPr>
          </a:p>
          <a:p>
            <a:r>
              <a:rPr lang="en-US">
                <a:solidFill>
                  <a:schemeClr val="bg1"/>
                </a:solidFill>
                <a:highlight>
                  <a:srgbClr val="000000"/>
                </a:highlight>
              </a:rPr>
              <a:t>except:</a:t>
            </a:r>
            <a:endParaRPr lang="en-US">
              <a:solidFill>
                <a:schemeClr val="bg1"/>
              </a:solidFill>
              <a:highlight>
                <a:srgbClr val="000000"/>
              </a:highlight>
            </a:endParaRPr>
          </a:p>
          <a:p>
            <a:r>
              <a:rPr lang="en-US">
                <a:solidFill>
                  <a:schemeClr val="bg1"/>
                </a:solidFill>
                <a:highlight>
                  <a:srgbClr val="000000"/>
                </a:highlight>
              </a:rPr>
              <a:t>   #solution of generated exception</a:t>
            </a:r>
            <a:endParaRPr lang="en-US">
              <a:solidFill>
                <a:schemeClr val="bg1"/>
              </a:solidFill>
              <a:highlight>
                <a:srgbClr val="000000"/>
              </a:highlight>
            </a:endParaRPr>
          </a:p>
          <a:p>
            <a:r>
              <a:rPr lang="en-US">
                <a:solidFill>
                  <a:schemeClr val="bg1"/>
                </a:solidFill>
                <a:highlight>
                  <a:srgbClr val="000000"/>
                </a:highlight>
              </a:rPr>
              <a:t>finally:</a:t>
            </a:r>
            <a:endParaRPr lang="en-US">
              <a:solidFill>
                <a:schemeClr val="bg1"/>
              </a:solidFill>
              <a:highlight>
                <a:srgbClr val="000000"/>
              </a:highlight>
            </a:endParaRPr>
          </a:p>
          <a:p>
            <a:r>
              <a:rPr lang="en-US">
                <a:solidFill>
                  <a:schemeClr val="bg1"/>
                </a:solidFill>
                <a:highlight>
                  <a:srgbClr val="000000"/>
                </a:highlight>
              </a:rPr>
              <a:t>    #block of code which is going to </a:t>
            </a:r>
            <a:endParaRPr lang="en-US">
              <a:solidFill>
                <a:schemeClr val="bg1"/>
              </a:solidFill>
              <a:highlight>
                <a:srgbClr val="000000"/>
              </a:highlight>
            </a:endParaRPr>
          </a:p>
          <a:p>
            <a:r>
              <a:rPr lang="en-US">
                <a:solidFill>
                  <a:schemeClr val="bg1"/>
                </a:solidFill>
                <a:highlight>
                  <a:srgbClr val="000000"/>
                </a:highlight>
              </a:rPr>
              <a:t>    #execute in any situation</a:t>
            </a:r>
            <a:endParaRPr lang="en-US">
              <a:solidFill>
                <a:schemeClr val="bg1"/>
              </a:solidFill>
              <a:highlight>
                <a:srgbClr val="000000"/>
              </a:highlight>
            </a:endParaRPr>
          </a:p>
        </p:txBody>
      </p:sp>
      <p:sp>
        <p:nvSpPr>
          <p:cNvPr id="3" name="Text Box 2"/>
          <p:cNvSpPr txBox="1"/>
          <p:nvPr/>
        </p:nvSpPr>
        <p:spPr>
          <a:xfrm>
            <a:off x="0" y="4888865"/>
            <a:ext cx="11915140" cy="645160"/>
          </a:xfrm>
          <a:prstGeom prst="rect">
            <a:avLst/>
          </a:prstGeom>
          <a:noFill/>
        </p:spPr>
        <p:txBody>
          <a:bodyPr wrap="square" rtlCol="0" anchor="t">
            <a:spAutoFit/>
          </a:bodyPr>
          <a:p>
            <a:pPr marL="285750" indent="-285750">
              <a:buFont typeface="Wingdings" panose="05000000000000000000" charset="0"/>
              <a:buChar char="Ø"/>
            </a:pPr>
            <a:r>
              <a:rPr lang="en-US"/>
              <a:t>The finally block is executed irrespective of the outcome of try……except…..else blocks</a:t>
            </a:r>
            <a:endParaRPr lang="en-US"/>
          </a:p>
          <a:p>
            <a:pPr marL="285750" indent="-285750">
              <a:buFont typeface="Wingdings" panose="05000000000000000000" charset="0"/>
              <a:buChar char="Ø"/>
            </a:pPr>
            <a:r>
              <a:rPr lang="en-US"/>
              <a:t>One of the important use cases of finally block is in a function which returns a value.</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0995025" cy="6216015"/>
          </a:xfrm>
          <a:prstGeom prst="rect">
            <a:avLst/>
          </a:prstGeom>
          <a:noFill/>
        </p:spPr>
        <p:txBody>
          <a:bodyPr wrap="square" rtlCol="0" anchor="t">
            <a:spAutoFit/>
          </a:bodyPr>
          <a:p>
            <a:pPr marL="285750" indent="-285750">
              <a:buFont typeface="Wingdings" panose="05000000000000000000" charset="0"/>
              <a:buChar char="v"/>
            </a:pPr>
            <a:r>
              <a:rPr lang="en-US" sz="2000" b="1" u="sng">
                <a:solidFill>
                  <a:srgbClr val="FF0000"/>
                </a:solidFill>
              </a:rPr>
              <a:t>Example:</a:t>
            </a:r>
            <a:endParaRPr lang="en-US" sz="2000" b="1" u="sng">
              <a:solidFill>
                <a:srgbClr val="FF0000"/>
              </a:solidFill>
            </a:endParaRPr>
          </a:p>
          <a:p>
            <a:endParaRPr lang="en-US"/>
          </a:p>
          <a:p>
            <a:r>
              <a:rPr lang="en-US">
                <a:solidFill>
                  <a:schemeClr val="bg1"/>
                </a:solidFill>
                <a:highlight>
                  <a:srgbClr val="000000"/>
                </a:highlight>
              </a:rPr>
              <a:t>try:</a:t>
            </a:r>
            <a:endParaRPr lang="en-US">
              <a:solidFill>
                <a:schemeClr val="bg1"/>
              </a:solidFill>
              <a:highlight>
                <a:srgbClr val="000000"/>
              </a:highlight>
            </a:endParaRPr>
          </a:p>
          <a:p>
            <a:r>
              <a:rPr lang="en-US">
                <a:solidFill>
                  <a:schemeClr val="bg1"/>
                </a:solidFill>
                <a:highlight>
                  <a:srgbClr val="000000"/>
                </a:highlight>
              </a:rPr>
              <a:t>    num = int(input("Enter an integer: "))</a:t>
            </a:r>
            <a:endParaRPr lang="en-US">
              <a:solidFill>
                <a:schemeClr val="bg1"/>
              </a:solidFill>
              <a:highlight>
                <a:srgbClr val="000000"/>
              </a:highlight>
            </a:endParaRPr>
          </a:p>
          <a:p>
            <a:r>
              <a:rPr lang="en-US">
                <a:solidFill>
                  <a:schemeClr val="bg1"/>
                </a:solidFill>
                <a:highlight>
                  <a:srgbClr val="000000"/>
                </a:highlight>
              </a:rPr>
              <a:t>except ValueError:</a:t>
            </a:r>
            <a:endParaRPr lang="en-US">
              <a:solidFill>
                <a:schemeClr val="bg1"/>
              </a:solidFill>
              <a:highlight>
                <a:srgbClr val="000000"/>
              </a:highlight>
            </a:endParaRPr>
          </a:p>
          <a:p>
            <a:r>
              <a:rPr lang="en-US">
                <a:solidFill>
                  <a:schemeClr val="bg1"/>
                </a:solidFill>
                <a:highlight>
                  <a:srgbClr val="000000"/>
                </a:highlight>
              </a:rPr>
              <a:t>    print("Number entered is not an integer.")</a:t>
            </a:r>
            <a:endParaRPr lang="en-US">
              <a:solidFill>
                <a:schemeClr val="bg1"/>
              </a:solidFill>
              <a:highlight>
                <a:srgbClr val="000000"/>
              </a:highlight>
            </a:endParaRPr>
          </a:p>
          <a:p>
            <a:r>
              <a:rPr lang="en-US">
                <a:solidFill>
                  <a:schemeClr val="bg1"/>
                </a:solidFill>
                <a:highlight>
                  <a:srgbClr val="000000"/>
                </a:highlight>
              </a:rPr>
              <a:t>else:</a:t>
            </a:r>
            <a:endParaRPr lang="en-US">
              <a:solidFill>
                <a:schemeClr val="bg1"/>
              </a:solidFill>
              <a:highlight>
                <a:srgbClr val="000000"/>
              </a:highlight>
            </a:endParaRPr>
          </a:p>
          <a:p>
            <a:r>
              <a:rPr lang="en-US">
                <a:solidFill>
                  <a:schemeClr val="bg1"/>
                </a:solidFill>
                <a:highlight>
                  <a:srgbClr val="000000"/>
                </a:highlight>
              </a:rPr>
              <a:t>    print("Integer Accepted.")</a:t>
            </a:r>
            <a:endParaRPr lang="en-US">
              <a:solidFill>
                <a:schemeClr val="bg1"/>
              </a:solidFill>
              <a:highlight>
                <a:srgbClr val="000000"/>
              </a:highlight>
            </a:endParaRPr>
          </a:p>
          <a:p>
            <a:r>
              <a:rPr lang="en-US">
                <a:solidFill>
                  <a:schemeClr val="bg1"/>
                </a:solidFill>
                <a:highlight>
                  <a:srgbClr val="000000"/>
                </a:highlight>
              </a:rPr>
              <a:t>finally:</a:t>
            </a:r>
            <a:endParaRPr lang="en-US">
              <a:solidFill>
                <a:schemeClr val="bg1"/>
              </a:solidFill>
              <a:highlight>
                <a:srgbClr val="000000"/>
              </a:highlight>
            </a:endParaRPr>
          </a:p>
          <a:p>
            <a:r>
              <a:rPr lang="en-US">
                <a:solidFill>
                  <a:schemeClr val="bg1"/>
                </a:solidFill>
                <a:highlight>
                  <a:srgbClr val="000000"/>
                </a:highlight>
              </a:rPr>
              <a:t>    print("This block is always executed.")</a:t>
            </a:r>
            <a:endParaRPr lang="en-US">
              <a:solidFill>
                <a:schemeClr val="bg1"/>
              </a:solidFill>
              <a:highlight>
                <a:srgbClr val="000000"/>
              </a:highlight>
            </a:endParaRPr>
          </a:p>
          <a:p>
            <a:endParaRPr lang="en-US">
              <a:solidFill>
                <a:schemeClr val="bg1"/>
              </a:solidFill>
              <a:highlight>
                <a:srgbClr val="000000"/>
              </a:highlight>
            </a:endParaRPr>
          </a:p>
          <a:p>
            <a:r>
              <a:rPr lang="en-US">
                <a:solidFill>
                  <a:srgbClr val="00B0F0"/>
                </a:solidFill>
                <a:highlight>
                  <a:srgbClr val="000000"/>
                </a:highlight>
              </a:rPr>
              <a:t>Output 1:</a:t>
            </a:r>
            <a:endParaRPr lang="en-US">
              <a:solidFill>
                <a:srgbClr val="00B0F0"/>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Enter an integer: 19</a:t>
            </a:r>
            <a:endParaRPr lang="en-US">
              <a:solidFill>
                <a:schemeClr val="bg1"/>
              </a:solidFill>
              <a:highlight>
                <a:srgbClr val="000000"/>
              </a:highlight>
            </a:endParaRPr>
          </a:p>
          <a:p>
            <a:r>
              <a:rPr lang="en-US">
                <a:solidFill>
                  <a:schemeClr val="bg1"/>
                </a:solidFill>
                <a:highlight>
                  <a:srgbClr val="000000"/>
                </a:highlight>
              </a:rPr>
              <a:t>Integer Accepted.</a:t>
            </a:r>
            <a:endParaRPr lang="en-US">
              <a:solidFill>
                <a:schemeClr val="bg1"/>
              </a:solidFill>
              <a:highlight>
                <a:srgbClr val="000000"/>
              </a:highlight>
            </a:endParaRPr>
          </a:p>
          <a:p>
            <a:r>
              <a:rPr lang="en-US">
                <a:solidFill>
                  <a:schemeClr val="bg1"/>
                </a:solidFill>
                <a:highlight>
                  <a:srgbClr val="000000"/>
                </a:highlight>
              </a:rPr>
              <a:t>This block is always executed.</a:t>
            </a:r>
            <a:endParaRPr lang="en-US">
              <a:solidFill>
                <a:schemeClr val="bg1"/>
              </a:solidFill>
              <a:highlight>
                <a:srgbClr val="000000"/>
              </a:highlight>
            </a:endParaRPr>
          </a:p>
          <a:p>
            <a:endParaRPr lang="en-US">
              <a:solidFill>
                <a:schemeClr val="bg1"/>
              </a:solidFill>
              <a:highlight>
                <a:srgbClr val="000000"/>
              </a:highlight>
            </a:endParaRPr>
          </a:p>
          <a:p>
            <a:r>
              <a:rPr lang="en-US">
                <a:solidFill>
                  <a:srgbClr val="00B0F0"/>
                </a:solidFill>
                <a:highlight>
                  <a:srgbClr val="000000"/>
                </a:highlight>
              </a:rPr>
              <a:t>Output 2:</a:t>
            </a:r>
            <a:endParaRPr lang="en-US">
              <a:solidFill>
                <a:srgbClr val="00B0F0"/>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Enter an integer: 3.142</a:t>
            </a:r>
            <a:endParaRPr lang="en-US">
              <a:solidFill>
                <a:schemeClr val="bg1"/>
              </a:solidFill>
              <a:highlight>
                <a:srgbClr val="000000"/>
              </a:highlight>
            </a:endParaRPr>
          </a:p>
          <a:p>
            <a:r>
              <a:rPr lang="en-US">
                <a:solidFill>
                  <a:schemeClr val="bg1"/>
                </a:solidFill>
                <a:highlight>
                  <a:srgbClr val="000000"/>
                </a:highlight>
              </a:rPr>
              <a:t>Number entered is not an integer.</a:t>
            </a:r>
            <a:endParaRPr lang="en-US">
              <a:solidFill>
                <a:schemeClr val="bg1"/>
              </a:solidFill>
              <a:highlight>
                <a:srgbClr val="000000"/>
              </a:highlight>
            </a:endParaRPr>
          </a:p>
          <a:p>
            <a:r>
              <a:rPr lang="en-US">
                <a:solidFill>
                  <a:schemeClr val="bg1"/>
                </a:solidFill>
                <a:highlight>
                  <a:srgbClr val="000000"/>
                </a:highlight>
              </a:rPr>
              <a:t>This block is always executed.</a:t>
            </a:r>
            <a:endParaRPr lang="en-US">
              <a:solidFill>
                <a:schemeClr val="bg1"/>
              </a:solidFill>
              <a:highlight>
                <a:srgbClr val="000000"/>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1226820"/>
            <a:ext cx="6096000" cy="5631180"/>
          </a:xfrm>
          <a:prstGeom prst="rect">
            <a:avLst/>
          </a:prstGeom>
          <a:noFill/>
        </p:spPr>
        <p:txBody>
          <a:bodyPr wrap="square" rtlCol="0" anchor="t">
            <a:spAutoFit/>
          </a:bodyPr>
          <a:p>
            <a:r>
              <a:rPr lang="en-US">
                <a:solidFill>
                  <a:schemeClr val="bg1"/>
                </a:solidFill>
                <a:highlight>
                  <a:srgbClr val="000000"/>
                </a:highlight>
              </a:rPr>
              <a:t>def divide_numbers():</a:t>
            </a:r>
            <a:endParaRPr lang="en-US">
              <a:solidFill>
                <a:schemeClr val="bg1"/>
              </a:solidFill>
              <a:highlight>
                <a:srgbClr val="000000"/>
              </a:highlight>
            </a:endParaRPr>
          </a:p>
          <a:p>
            <a:r>
              <a:rPr lang="en-US">
                <a:solidFill>
                  <a:schemeClr val="bg1"/>
                </a:solidFill>
                <a:highlight>
                  <a:srgbClr val="000000"/>
                </a:highlight>
              </a:rPr>
              <a:t>    try:</a:t>
            </a:r>
            <a:endParaRPr lang="en-US">
              <a:solidFill>
                <a:schemeClr val="bg1"/>
              </a:solidFill>
              <a:highlight>
                <a:srgbClr val="000000"/>
              </a:highlight>
            </a:endParaRPr>
          </a:p>
          <a:p>
            <a:r>
              <a:rPr lang="en-US">
                <a:solidFill>
                  <a:schemeClr val="bg1"/>
                </a:solidFill>
                <a:highlight>
                  <a:srgbClr val="000000"/>
                </a:highlight>
              </a:rPr>
              <a:t>        # Code that may raise an exception</a:t>
            </a:r>
            <a:endParaRPr lang="en-US">
              <a:solidFill>
                <a:schemeClr val="bg1"/>
              </a:solidFill>
              <a:highlight>
                <a:srgbClr val="000000"/>
              </a:highlight>
            </a:endParaRPr>
          </a:p>
          <a:p>
            <a:r>
              <a:rPr lang="en-US">
                <a:solidFill>
                  <a:schemeClr val="bg1"/>
                </a:solidFill>
                <a:highlight>
                  <a:srgbClr val="000000"/>
                </a:highlight>
              </a:rPr>
              <a:t>        x = int(input("Enter a number: "))</a:t>
            </a:r>
            <a:endParaRPr lang="en-US">
              <a:solidFill>
                <a:schemeClr val="bg1"/>
              </a:solidFill>
              <a:highlight>
                <a:srgbClr val="000000"/>
              </a:highlight>
            </a:endParaRPr>
          </a:p>
          <a:p>
            <a:r>
              <a:rPr lang="en-US">
                <a:solidFill>
                  <a:schemeClr val="bg1"/>
                </a:solidFill>
                <a:highlight>
                  <a:srgbClr val="000000"/>
                </a:highlight>
              </a:rPr>
              <a:t>        result = 10 / x</a:t>
            </a:r>
            <a:endParaRPr lang="en-US">
              <a:solidFill>
                <a:schemeClr val="bg1"/>
              </a:solidFill>
              <a:highlight>
                <a:srgbClr val="000000"/>
              </a:highlight>
            </a:endParaRPr>
          </a:p>
          <a:p>
            <a:r>
              <a:rPr lang="en-US">
                <a:solidFill>
                  <a:schemeClr val="bg1"/>
                </a:solidFill>
                <a:highlight>
                  <a:srgbClr val="000000"/>
                </a:highlight>
              </a:rPr>
              <a:t>        print("Result:", result)</a:t>
            </a:r>
            <a:endParaRPr lang="en-US">
              <a:solidFill>
                <a:schemeClr val="bg1"/>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    except ZeroDivisionError:</a:t>
            </a:r>
            <a:endParaRPr lang="en-US">
              <a:solidFill>
                <a:schemeClr val="bg1"/>
              </a:solidFill>
              <a:highlight>
                <a:srgbClr val="000000"/>
              </a:highlight>
            </a:endParaRPr>
          </a:p>
          <a:p>
            <a:r>
              <a:rPr lang="en-US">
                <a:solidFill>
                  <a:schemeClr val="bg1"/>
                </a:solidFill>
                <a:highlight>
                  <a:srgbClr val="000000"/>
                </a:highlight>
              </a:rPr>
              <a:t>        print("Cannot divide by zero!")</a:t>
            </a:r>
            <a:endParaRPr lang="en-US">
              <a:solidFill>
                <a:schemeClr val="bg1"/>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    except ValueError:</a:t>
            </a:r>
            <a:endParaRPr lang="en-US">
              <a:solidFill>
                <a:schemeClr val="bg1"/>
              </a:solidFill>
              <a:highlight>
                <a:srgbClr val="000000"/>
              </a:highlight>
            </a:endParaRPr>
          </a:p>
          <a:p>
            <a:r>
              <a:rPr lang="en-US">
                <a:solidFill>
                  <a:schemeClr val="bg1"/>
                </a:solidFill>
                <a:highlight>
                  <a:srgbClr val="000000"/>
                </a:highlight>
              </a:rPr>
              <a:t>        print("Invalid input! Please enter a valid number.")</a:t>
            </a:r>
            <a:endParaRPr lang="en-US">
              <a:solidFill>
                <a:schemeClr val="bg1"/>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    else:</a:t>
            </a:r>
            <a:endParaRPr lang="en-US">
              <a:solidFill>
                <a:schemeClr val="bg1"/>
              </a:solidFill>
              <a:highlight>
                <a:srgbClr val="000000"/>
              </a:highlight>
            </a:endParaRPr>
          </a:p>
          <a:p>
            <a:r>
              <a:rPr lang="en-US">
                <a:solidFill>
                  <a:schemeClr val="bg1"/>
                </a:solidFill>
                <a:highlight>
                  <a:srgbClr val="000000"/>
                </a:highlight>
              </a:rPr>
              <a:t>        print("No exceptions occurred.")</a:t>
            </a:r>
            <a:endParaRPr lang="en-US">
              <a:solidFill>
                <a:schemeClr val="bg1"/>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    finally:</a:t>
            </a:r>
            <a:endParaRPr lang="en-US">
              <a:solidFill>
                <a:schemeClr val="bg1"/>
              </a:solidFill>
              <a:highlight>
                <a:srgbClr val="000000"/>
              </a:highlight>
            </a:endParaRPr>
          </a:p>
          <a:p>
            <a:r>
              <a:rPr lang="en-US">
                <a:solidFill>
                  <a:schemeClr val="bg1"/>
                </a:solidFill>
                <a:highlight>
                  <a:srgbClr val="000000"/>
                </a:highlight>
              </a:rPr>
              <a:t>        print("Exiting function.")</a:t>
            </a:r>
            <a:endParaRPr lang="en-US">
              <a:solidFill>
                <a:schemeClr val="bg1"/>
              </a:solidFill>
              <a:highlight>
                <a:srgbClr val="000000"/>
              </a:highlight>
            </a:endParaRPr>
          </a:p>
          <a:p>
            <a:endParaRPr lang="en-US">
              <a:solidFill>
                <a:schemeClr val="bg1"/>
              </a:solidFill>
              <a:highlight>
                <a:srgbClr val="000000"/>
              </a:highlight>
            </a:endParaRPr>
          </a:p>
          <a:p>
            <a:r>
              <a:rPr lang="en-US">
                <a:solidFill>
                  <a:schemeClr val="bg1"/>
                </a:solidFill>
                <a:highlight>
                  <a:srgbClr val="000000"/>
                </a:highlight>
              </a:rPr>
              <a:t>divide_numbers()</a:t>
            </a:r>
            <a:endParaRPr lang="en-US">
              <a:solidFill>
                <a:schemeClr val="bg1"/>
              </a:solidFill>
              <a:highlight>
                <a:srgbClr val="000000"/>
              </a:highlight>
            </a:endParaRPr>
          </a:p>
        </p:txBody>
      </p:sp>
      <p:sp>
        <p:nvSpPr>
          <p:cNvPr id="3" name="Text Box 2"/>
          <p:cNvSpPr txBox="1"/>
          <p:nvPr/>
        </p:nvSpPr>
        <p:spPr>
          <a:xfrm>
            <a:off x="6096000" y="5935980"/>
            <a:ext cx="6096000" cy="922020"/>
          </a:xfrm>
          <a:prstGeom prst="rect">
            <a:avLst/>
          </a:prstGeom>
          <a:noFill/>
        </p:spPr>
        <p:txBody>
          <a:bodyPr wrap="square" rtlCol="0" anchor="t">
            <a:spAutoFit/>
          </a:bodyPr>
          <a:p>
            <a:r>
              <a:rPr lang="en-US">
                <a:solidFill>
                  <a:schemeClr val="bg1"/>
                </a:solidFill>
                <a:highlight>
                  <a:srgbClr val="000000"/>
                </a:highlight>
              </a:rPr>
              <a:t>Enter a number: a</a:t>
            </a:r>
            <a:endParaRPr lang="en-US">
              <a:solidFill>
                <a:schemeClr val="bg1"/>
              </a:solidFill>
              <a:highlight>
                <a:srgbClr val="000000"/>
              </a:highlight>
            </a:endParaRPr>
          </a:p>
          <a:p>
            <a:r>
              <a:rPr lang="en-US">
                <a:solidFill>
                  <a:schemeClr val="bg1"/>
                </a:solidFill>
                <a:highlight>
                  <a:srgbClr val="000000"/>
                </a:highlight>
              </a:rPr>
              <a:t>Invalid input! Please enter a valid number.</a:t>
            </a:r>
            <a:endParaRPr lang="en-US">
              <a:solidFill>
                <a:schemeClr val="bg1"/>
              </a:solidFill>
              <a:highlight>
                <a:srgbClr val="000000"/>
              </a:highlight>
            </a:endParaRPr>
          </a:p>
          <a:p>
            <a:r>
              <a:rPr lang="en-US">
                <a:solidFill>
                  <a:schemeClr val="bg1"/>
                </a:solidFill>
                <a:highlight>
                  <a:srgbClr val="000000"/>
                </a:highlight>
              </a:rPr>
              <a:t>Exiting function.</a:t>
            </a:r>
            <a:endParaRPr lang="en-US">
              <a:solidFill>
                <a:schemeClr val="bg1"/>
              </a:solidFill>
              <a:highlight>
                <a:srgbClr val="000000"/>
              </a:highlight>
            </a:endParaRPr>
          </a:p>
        </p:txBody>
      </p:sp>
      <p:sp>
        <p:nvSpPr>
          <p:cNvPr id="5" name="Text Box 4"/>
          <p:cNvSpPr txBox="1"/>
          <p:nvPr/>
        </p:nvSpPr>
        <p:spPr>
          <a:xfrm>
            <a:off x="0" y="0"/>
            <a:ext cx="11265535" cy="645160"/>
          </a:xfrm>
          <a:prstGeom prst="rect">
            <a:avLst/>
          </a:prstGeom>
          <a:noFill/>
        </p:spPr>
        <p:txBody>
          <a:bodyPr wrap="square" rtlCol="0">
            <a:spAutoFit/>
          </a:bodyPr>
          <a:p>
            <a:pPr marL="285750" indent="-285750">
              <a:buFont typeface="Wingdings" panose="05000000000000000000" charset="0"/>
              <a:buChar char="v"/>
            </a:pPr>
            <a:r>
              <a:rPr lang="en-US" b="1" u="sng">
                <a:solidFill>
                  <a:srgbClr val="FF0000"/>
                </a:solidFill>
              </a:rPr>
              <a:t>This function divides 10 by a user-provided number, handling potential exceptions such as zero division or invalid input.</a:t>
            </a:r>
            <a:endParaRPr lang="en-US" b="1" u="sng">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000" cy="6858000"/>
          </a:xfrm>
          <a:prstGeom prst="rect">
            <a:avLst/>
          </a:prstGeom>
          <a:noFill/>
        </p:spPr>
        <p:txBody>
          <a:bodyPr wrap="square" rtlCol="0" anchor="t">
            <a:noAutofit/>
          </a:bodyPr>
          <a:p>
            <a:pPr marL="285750" indent="-285750">
              <a:buFont typeface="Wingdings" panose="05000000000000000000" charset="0"/>
              <a:buChar char="q"/>
            </a:pPr>
            <a:r>
              <a:rPr lang="en-US" sz="2800" b="1" u="sng">
                <a:solidFill>
                  <a:srgbClr val="FF0000"/>
                </a:solidFill>
                <a:latin typeface="Broadway" panose="04040905080B02020502" charset="0"/>
                <a:cs typeface="Broadway" panose="04040905080B02020502" charset="0"/>
              </a:rPr>
              <a:t>Here's a summarized flow:</a:t>
            </a:r>
            <a:endParaRPr lang="en-US" sz="2800" b="1" u="sng">
              <a:solidFill>
                <a:srgbClr val="FF0000"/>
              </a:solidFill>
              <a:latin typeface="Broadway" panose="04040905080B02020502" charset="0"/>
              <a:cs typeface="Broadway" panose="04040905080B02020502" charset="0"/>
            </a:endParaRPr>
          </a:p>
          <a:p>
            <a:pPr marL="285750" indent="-285750">
              <a:buFont typeface="Wingdings" panose="05000000000000000000" charset="0"/>
              <a:buChar char="q"/>
            </a:pPr>
            <a:endParaRPr lang="en-US" sz="2800" b="1" u="sng">
              <a:solidFill>
                <a:srgbClr val="FF0000"/>
              </a:solidFill>
              <a:latin typeface="Broadway" panose="04040905080B02020502" charset="0"/>
              <a:cs typeface="Broadway" panose="04040905080B02020502" charset="0"/>
            </a:endParaRPr>
          </a:p>
          <a:p>
            <a:pPr marL="285750" indent="-285750">
              <a:buFont typeface="Wingdings" panose="05000000000000000000" charset="0"/>
              <a:buChar char="Ø"/>
            </a:pPr>
            <a:r>
              <a:rPr lang="en-US"/>
              <a:t>The code inside the try block is executed.</a:t>
            </a:r>
            <a:endParaRPr lang="en-US"/>
          </a:p>
          <a:p>
            <a:pPr marL="285750" indent="-285750">
              <a:buFont typeface="Wingdings" panose="05000000000000000000" charset="0"/>
              <a:buChar char="Ø"/>
            </a:pPr>
            <a:endParaRPr lang="en-US"/>
          </a:p>
          <a:p>
            <a:pPr marL="285750" indent="-285750">
              <a:buFont typeface="Wingdings" panose="05000000000000000000" charset="0"/>
              <a:buChar char="Ø"/>
            </a:pPr>
            <a:r>
              <a:rPr lang="en-US"/>
              <a:t>If an exception occurs during the execution of the try block:</a:t>
            </a:r>
            <a:endParaRPr lang="en-US"/>
          </a:p>
          <a:p>
            <a:pPr marL="285750" indent="-285750">
              <a:buFont typeface="Wingdings" panose="05000000000000000000" charset="0"/>
              <a:buChar char="Ø"/>
            </a:pPr>
            <a:endParaRPr lang="en-US"/>
          </a:p>
          <a:p>
            <a:pPr marL="285750" indent="-285750">
              <a:buFont typeface="Wingdings" panose="05000000000000000000" charset="0"/>
              <a:buChar char="Ø"/>
            </a:pPr>
            <a:r>
              <a:rPr lang="en-US"/>
              <a:t>Python searches for a matching except block.</a:t>
            </a:r>
            <a:endParaRPr lang="en-US"/>
          </a:p>
          <a:p>
            <a:pPr marL="285750" indent="-285750">
              <a:buFont typeface="Wingdings" panose="05000000000000000000" charset="0"/>
              <a:buChar char="Ø"/>
            </a:pPr>
            <a:endParaRPr lang="en-US"/>
          </a:p>
          <a:p>
            <a:pPr marL="285750" indent="-285750">
              <a:buFont typeface="Wingdings" panose="05000000000000000000" charset="0"/>
              <a:buChar char="Ø"/>
            </a:pPr>
            <a:r>
              <a:rPr lang="en-US"/>
              <a:t>If found, the code inside that except block is executed.</a:t>
            </a:r>
            <a:endParaRPr lang="en-US"/>
          </a:p>
          <a:p>
            <a:pPr marL="285750" indent="-285750">
              <a:buFont typeface="Wingdings" panose="05000000000000000000" charset="0"/>
              <a:buChar char="Ø"/>
            </a:pPr>
            <a:endParaRPr lang="en-US"/>
          </a:p>
          <a:p>
            <a:pPr marL="285750" indent="-285750">
              <a:buFont typeface="Wingdings" panose="05000000000000000000" charset="0"/>
              <a:buChar char="Ø"/>
            </a:pPr>
            <a:r>
              <a:rPr lang="en-US"/>
              <a:t>If no exceptions occur during the execution of the try block:</a:t>
            </a:r>
            <a:endParaRPr lang="en-US"/>
          </a:p>
          <a:p>
            <a:pPr marL="285750" indent="-285750">
              <a:buFont typeface="Wingdings" panose="05000000000000000000" charset="0"/>
              <a:buChar char="Ø"/>
            </a:pPr>
            <a:endParaRPr lang="en-US"/>
          </a:p>
          <a:p>
            <a:pPr marL="285750" indent="-285750">
              <a:buFont typeface="Wingdings" panose="05000000000000000000" charset="0"/>
              <a:buChar char="Ø"/>
            </a:pPr>
            <a:r>
              <a:rPr lang="en-US"/>
              <a:t>The code inside the else block (if present) is executed.</a:t>
            </a:r>
            <a:endParaRPr lang="en-US"/>
          </a:p>
          <a:p>
            <a:pPr marL="285750" indent="-285750">
              <a:buFont typeface="Wingdings" panose="05000000000000000000" charset="0"/>
              <a:buChar char="Ø"/>
            </a:pPr>
            <a:endParaRPr lang="en-US"/>
          </a:p>
          <a:p>
            <a:pPr marL="285750" indent="-285750">
              <a:buFont typeface="Wingdings" panose="05000000000000000000" charset="0"/>
              <a:buChar char="Ø"/>
            </a:pPr>
            <a:r>
              <a:rPr lang="en-US"/>
              <a:t>Regardless of whether an exception occurs or not: The code inside the finally block (if present) is executed.</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23" name="Rectangles 22"/>
          <p:cNvSpPr/>
          <p:nvPr/>
        </p:nvSpPr>
        <p:spPr>
          <a:xfrm>
            <a:off x="2947670" y="1454150"/>
            <a:ext cx="6710045" cy="3559810"/>
          </a:xfrm>
          <a:prstGeom prst="rect">
            <a:avLst/>
          </a:prstGeom>
          <a:solidFill>
            <a:schemeClr val="accent5">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2" name="Rectangles 21"/>
          <p:cNvSpPr/>
          <p:nvPr/>
        </p:nvSpPr>
        <p:spPr>
          <a:xfrm>
            <a:off x="3248025" y="1789430"/>
            <a:ext cx="6568440" cy="3279775"/>
          </a:xfrm>
          <a:prstGeom prst="rect">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101" name="Picture 100"/>
          <p:cNvPicPr>
            <a:picLocks noChangeAspect="1"/>
          </p:cNvPicPr>
          <p:nvPr/>
        </p:nvPicPr>
        <p:blipFill>
          <a:blip r:embed="rId1"/>
          <a:srcRect l="31283" t="35602" r="21039" b="36009"/>
          <a:stretch>
            <a:fillRect/>
          </a:stretch>
        </p:blipFill>
        <p:spPr>
          <a:xfrm>
            <a:off x="3325495" y="2144395"/>
            <a:ext cx="5813425" cy="1946910"/>
          </a:xfrm>
          <a:custGeom>
            <a:avLst/>
            <a:gdLst/>
            <a:ahLst/>
            <a:cxnLst>
              <a:cxn ang="3cd4">
                <a:pos x="hc" y="t"/>
              </a:cxn>
              <a:cxn ang="cd2">
                <a:pos x="l" y="vc"/>
              </a:cxn>
              <a:cxn ang="cd4">
                <a:pos x="hc" y="b"/>
              </a:cxn>
              <a:cxn ang="0">
                <a:pos x="r" y="vc"/>
              </a:cxn>
            </a:cxnLst>
            <a:rect l="l" t="t" r="r" b="b"/>
            <a:pathLst>
              <a:path w="9155" h="3066">
                <a:moveTo>
                  <a:pt x="4403" y="2534"/>
                </a:moveTo>
                <a:cubicBezTo>
                  <a:pt x="4373" y="2534"/>
                  <a:pt x="4353" y="2546"/>
                  <a:pt x="4344" y="2570"/>
                </a:cubicBezTo>
                <a:cubicBezTo>
                  <a:pt x="4339" y="2583"/>
                  <a:pt x="4336" y="2621"/>
                  <a:pt x="4336" y="2683"/>
                </a:cubicBezTo>
                <a:lnTo>
                  <a:pt x="4336" y="2869"/>
                </a:lnTo>
                <a:cubicBezTo>
                  <a:pt x="4337" y="2910"/>
                  <a:pt x="4338" y="2935"/>
                  <a:pt x="4340" y="2944"/>
                </a:cubicBezTo>
                <a:cubicBezTo>
                  <a:pt x="4345" y="2968"/>
                  <a:pt x="4363" y="2980"/>
                  <a:pt x="4393" y="2980"/>
                </a:cubicBezTo>
                <a:cubicBezTo>
                  <a:pt x="4417" y="2980"/>
                  <a:pt x="4443" y="2973"/>
                  <a:pt x="4473" y="2959"/>
                </a:cubicBezTo>
                <a:cubicBezTo>
                  <a:pt x="4502" y="2944"/>
                  <a:pt x="4529" y="2925"/>
                  <a:pt x="4553" y="2902"/>
                </a:cubicBezTo>
                <a:lnTo>
                  <a:pt x="4555" y="2583"/>
                </a:lnTo>
                <a:cubicBezTo>
                  <a:pt x="4490" y="2550"/>
                  <a:pt x="4439" y="2534"/>
                  <a:pt x="4403" y="2534"/>
                </a:cubicBezTo>
                <a:close/>
                <a:moveTo>
                  <a:pt x="7077" y="2222"/>
                </a:moveTo>
                <a:cubicBezTo>
                  <a:pt x="7031" y="2222"/>
                  <a:pt x="7002" y="2234"/>
                  <a:pt x="6991" y="2257"/>
                </a:cubicBezTo>
                <a:cubicBezTo>
                  <a:pt x="6984" y="2271"/>
                  <a:pt x="6980" y="2308"/>
                  <a:pt x="6980" y="2367"/>
                </a:cubicBezTo>
                <a:lnTo>
                  <a:pt x="6980" y="2595"/>
                </a:lnTo>
                <a:lnTo>
                  <a:pt x="7075" y="2598"/>
                </a:lnTo>
                <a:lnTo>
                  <a:pt x="7180" y="2595"/>
                </a:lnTo>
                <a:lnTo>
                  <a:pt x="7180" y="2367"/>
                </a:lnTo>
                <a:cubicBezTo>
                  <a:pt x="7179" y="2318"/>
                  <a:pt x="7178" y="2289"/>
                  <a:pt x="7177" y="2279"/>
                </a:cubicBezTo>
                <a:cubicBezTo>
                  <a:pt x="7176" y="2270"/>
                  <a:pt x="7172" y="2261"/>
                  <a:pt x="7166" y="2252"/>
                </a:cubicBezTo>
                <a:cubicBezTo>
                  <a:pt x="7151" y="2232"/>
                  <a:pt x="7122" y="2222"/>
                  <a:pt x="7077" y="2222"/>
                </a:cubicBezTo>
                <a:close/>
                <a:moveTo>
                  <a:pt x="8303" y="2177"/>
                </a:moveTo>
                <a:cubicBezTo>
                  <a:pt x="8333" y="2177"/>
                  <a:pt x="8357" y="2183"/>
                  <a:pt x="8376" y="2196"/>
                </a:cubicBezTo>
                <a:cubicBezTo>
                  <a:pt x="8395" y="2208"/>
                  <a:pt x="8404" y="2224"/>
                  <a:pt x="8404" y="2244"/>
                </a:cubicBezTo>
                <a:cubicBezTo>
                  <a:pt x="8404" y="2259"/>
                  <a:pt x="8398" y="2271"/>
                  <a:pt x="8387" y="2281"/>
                </a:cubicBezTo>
                <a:cubicBezTo>
                  <a:pt x="8375" y="2291"/>
                  <a:pt x="8361" y="2296"/>
                  <a:pt x="8344" y="2296"/>
                </a:cubicBezTo>
                <a:cubicBezTo>
                  <a:pt x="8333" y="2296"/>
                  <a:pt x="8321" y="2293"/>
                  <a:pt x="8307" y="2287"/>
                </a:cubicBezTo>
                <a:cubicBezTo>
                  <a:pt x="8285" y="2276"/>
                  <a:pt x="8266" y="2270"/>
                  <a:pt x="8251" y="2270"/>
                </a:cubicBezTo>
                <a:cubicBezTo>
                  <a:pt x="8213" y="2270"/>
                  <a:pt x="8177" y="2283"/>
                  <a:pt x="8142" y="2308"/>
                </a:cubicBezTo>
                <a:cubicBezTo>
                  <a:pt x="8108" y="2334"/>
                  <a:pt x="8069" y="2376"/>
                  <a:pt x="8026" y="2436"/>
                </a:cubicBezTo>
                <a:lnTo>
                  <a:pt x="8024" y="2736"/>
                </a:lnTo>
                <a:lnTo>
                  <a:pt x="8027" y="3047"/>
                </a:lnTo>
                <a:lnTo>
                  <a:pt x="7625" y="3047"/>
                </a:lnTo>
                <a:lnTo>
                  <a:pt x="7626" y="3004"/>
                </a:lnTo>
                <a:lnTo>
                  <a:pt x="7627" y="2845"/>
                </a:lnTo>
                <a:lnTo>
                  <a:pt x="7630" y="2558"/>
                </a:lnTo>
                <a:lnTo>
                  <a:pt x="7626" y="2239"/>
                </a:lnTo>
                <a:lnTo>
                  <a:pt x="7625" y="2194"/>
                </a:lnTo>
                <a:lnTo>
                  <a:pt x="8026" y="2194"/>
                </a:lnTo>
                <a:lnTo>
                  <a:pt x="8026" y="2354"/>
                </a:lnTo>
                <a:cubicBezTo>
                  <a:pt x="8086" y="2291"/>
                  <a:pt x="8127" y="2251"/>
                  <a:pt x="8151" y="2234"/>
                </a:cubicBezTo>
                <a:cubicBezTo>
                  <a:pt x="8205" y="2196"/>
                  <a:pt x="8256" y="2177"/>
                  <a:pt x="8303" y="2177"/>
                </a:cubicBezTo>
                <a:close/>
                <a:moveTo>
                  <a:pt x="7060" y="2174"/>
                </a:moveTo>
                <a:cubicBezTo>
                  <a:pt x="7156" y="2174"/>
                  <a:pt x="7244" y="2202"/>
                  <a:pt x="7322" y="2259"/>
                </a:cubicBezTo>
                <a:cubicBezTo>
                  <a:pt x="7444" y="2348"/>
                  <a:pt x="7504" y="2476"/>
                  <a:pt x="7503" y="2644"/>
                </a:cubicBezTo>
                <a:lnTo>
                  <a:pt x="7321" y="2644"/>
                </a:lnTo>
                <a:lnTo>
                  <a:pt x="7087" y="2645"/>
                </a:lnTo>
                <a:lnTo>
                  <a:pt x="6980" y="2647"/>
                </a:lnTo>
                <a:lnTo>
                  <a:pt x="6980" y="2888"/>
                </a:lnTo>
                <a:cubicBezTo>
                  <a:pt x="6980" y="2934"/>
                  <a:pt x="6983" y="2964"/>
                  <a:pt x="6989" y="2976"/>
                </a:cubicBezTo>
                <a:cubicBezTo>
                  <a:pt x="7000" y="3000"/>
                  <a:pt x="7025" y="3012"/>
                  <a:pt x="7066" y="3012"/>
                </a:cubicBezTo>
                <a:cubicBezTo>
                  <a:pt x="7126" y="3012"/>
                  <a:pt x="7186" y="2995"/>
                  <a:pt x="7245" y="2962"/>
                </a:cubicBezTo>
                <a:cubicBezTo>
                  <a:pt x="7304" y="2929"/>
                  <a:pt x="7356" y="2884"/>
                  <a:pt x="7399" y="2825"/>
                </a:cubicBezTo>
                <a:cubicBezTo>
                  <a:pt x="7413" y="2806"/>
                  <a:pt x="7423" y="2794"/>
                  <a:pt x="7429" y="2789"/>
                </a:cubicBezTo>
                <a:cubicBezTo>
                  <a:pt x="7436" y="2784"/>
                  <a:pt x="7442" y="2781"/>
                  <a:pt x="7450" y="2781"/>
                </a:cubicBezTo>
                <a:cubicBezTo>
                  <a:pt x="7458" y="2781"/>
                  <a:pt x="7466" y="2784"/>
                  <a:pt x="7471" y="2791"/>
                </a:cubicBezTo>
                <a:cubicBezTo>
                  <a:pt x="7477" y="2797"/>
                  <a:pt x="7480" y="2805"/>
                  <a:pt x="7480" y="2815"/>
                </a:cubicBezTo>
                <a:cubicBezTo>
                  <a:pt x="7480" y="2837"/>
                  <a:pt x="7463" y="2867"/>
                  <a:pt x="7428" y="2904"/>
                </a:cubicBezTo>
                <a:cubicBezTo>
                  <a:pt x="7382" y="2951"/>
                  <a:pt x="7325" y="2990"/>
                  <a:pt x="7257" y="3019"/>
                </a:cubicBezTo>
                <a:cubicBezTo>
                  <a:pt x="7189" y="3049"/>
                  <a:pt x="7123" y="3064"/>
                  <a:pt x="7058" y="3064"/>
                </a:cubicBezTo>
                <a:cubicBezTo>
                  <a:pt x="6947" y="3064"/>
                  <a:pt x="6849" y="3027"/>
                  <a:pt x="6764" y="2952"/>
                </a:cubicBezTo>
                <a:cubicBezTo>
                  <a:pt x="6715" y="2909"/>
                  <a:pt x="6677" y="2855"/>
                  <a:pt x="6650" y="2791"/>
                </a:cubicBezTo>
                <a:cubicBezTo>
                  <a:pt x="6627" y="2735"/>
                  <a:pt x="6615" y="2679"/>
                  <a:pt x="6615" y="2623"/>
                </a:cubicBezTo>
                <a:cubicBezTo>
                  <a:pt x="6615" y="2568"/>
                  <a:pt x="6625" y="2514"/>
                  <a:pt x="6646" y="2460"/>
                </a:cubicBezTo>
                <a:cubicBezTo>
                  <a:pt x="6667" y="2406"/>
                  <a:pt x="6696" y="2359"/>
                  <a:pt x="6732" y="2319"/>
                </a:cubicBezTo>
                <a:cubicBezTo>
                  <a:pt x="6774" y="2273"/>
                  <a:pt x="6824" y="2237"/>
                  <a:pt x="6882" y="2211"/>
                </a:cubicBezTo>
                <a:cubicBezTo>
                  <a:pt x="6939" y="2186"/>
                  <a:pt x="6998" y="2174"/>
                  <a:pt x="7060" y="2174"/>
                </a:cubicBezTo>
                <a:close/>
                <a:moveTo>
                  <a:pt x="6211" y="2174"/>
                </a:moveTo>
                <a:cubicBezTo>
                  <a:pt x="6275" y="2174"/>
                  <a:pt x="6343" y="2188"/>
                  <a:pt x="6414" y="2215"/>
                </a:cubicBezTo>
                <a:cubicBezTo>
                  <a:pt x="6470" y="2236"/>
                  <a:pt x="6498" y="2259"/>
                  <a:pt x="6498" y="2284"/>
                </a:cubicBezTo>
                <a:cubicBezTo>
                  <a:pt x="6498" y="2292"/>
                  <a:pt x="6495" y="2299"/>
                  <a:pt x="6488" y="2306"/>
                </a:cubicBezTo>
                <a:cubicBezTo>
                  <a:pt x="6482" y="2312"/>
                  <a:pt x="6474" y="2315"/>
                  <a:pt x="6466" y="2315"/>
                </a:cubicBezTo>
                <a:cubicBezTo>
                  <a:pt x="6456" y="2315"/>
                  <a:pt x="6438" y="2305"/>
                  <a:pt x="6410" y="2286"/>
                </a:cubicBezTo>
                <a:cubicBezTo>
                  <a:pt x="6355" y="2246"/>
                  <a:pt x="6295" y="2226"/>
                  <a:pt x="6230" y="2226"/>
                </a:cubicBezTo>
                <a:cubicBezTo>
                  <a:pt x="6207" y="2226"/>
                  <a:pt x="6189" y="2230"/>
                  <a:pt x="6178" y="2237"/>
                </a:cubicBezTo>
                <a:cubicBezTo>
                  <a:pt x="6166" y="2244"/>
                  <a:pt x="6160" y="2255"/>
                  <a:pt x="6160" y="2271"/>
                </a:cubicBezTo>
                <a:cubicBezTo>
                  <a:pt x="6160" y="2288"/>
                  <a:pt x="6171" y="2311"/>
                  <a:pt x="6192" y="2338"/>
                </a:cubicBezTo>
                <a:cubicBezTo>
                  <a:pt x="6214" y="2365"/>
                  <a:pt x="6258" y="2411"/>
                  <a:pt x="6324" y="2475"/>
                </a:cubicBezTo>
                <a:cubicBezTo>
                  <a:pt x="6389" y="2538"/>
                  <a:pt x="6430" y="2579"/>
                  <a:pt x="6447" y="2599"/>
                </a:cubicBezTo>
                <a:cubicBezTo>
                  <a:pt x="6465" y="2618"/>
                  <a:pt x="6481" y="2641"/>
                  <a:pt x="6498" y="2666"/>
                </a:cubicBezTo>
                <a:cubicBezTo>
                  <a:pt x="6525" y="2710"/>
                  <a:pt x="6539" y="2757"/>
                  <a:pt x="6539" y="2808"/>
                </a:cubicBezTo>
                <a:cubicBezTo>
                  <a:pt x="6539" y="2888"/>
                  <a:pt x="6500" y="2953"/>
                  <a:pt x="6423" y="3002"/>
                </a:cubicBezTo>
                <a:cubicBezTo>
                  <a:pt x="6359" y="3043"/>
                  <a:pt x="6281" y="3064"/>
                  <a:pt x="6188" y="3064"/>
                </a:cubicBezTo>
                <a:cubicBezTo>
                  <a:pt x="6085" y="3064"/>
                  <a:pt x="5994" y="3041"/>
                  <a:pt x="5914" y="2995"/>
                </a:cubicBezTo>
                <a:cubicBezTo>
                  <a:pt x="5891" y="2981"/>
                  <a:pt x="5874" y="2970"/>
                  <a:pt x="5866" y="2961"/>
                </a:cubicBezTo>
                <a:cubicBezTo>
                  <a:pt x="5857" y="2952"/>
                  <a:pt x="5853" y="2942"/>
                  <a:pt x="5853" y="2932"/>
                </a:cubicBezTo>
                <a:cubicBezTo>
                  <a:pt x="5853" y="2912"/>
                  <a:pt x="5863" y="2903"/>
                  <a:pt x="5883" y="2902"/>
                </a:cubicBezTo>
                <a:cubicBezTo>
                  <a:pt x="5894" y="2902"/>
                  <a:pt x="5907" y="2910"/>
                  <a:pt x="5923" y="2926"/>
                </a:cubicBezTo>
                <a:cubicBezTo>
                  <a:pt x="5949" y="2951"/>
                  <a:pt x="5986" y="2972"/>
                  <a:pt x="6034" y="2989"/>
                </a:cubicBezTo>
                <a:cubicBezTo>
                  <a:pt x="6082" y="3007"/>
                  <a:pt x="6127" y="3016"/>
                  <a:pt x="6168" y="3016"/>
                </a:cubicBezTo>
                <a:cubicBezTo>
                  <a:pt x="6188" y="3016"/>
                  <a:pt x="6202" y="3013"/>
                  <a:pt x="6212" y="3006"/>
                </a:cubicBezTo>
                <a:cubicBezTo>
                  <a:pt x="6221" y="3000"/>
                  <a:pt x="6226" y="2990"/>
                  <a:pt x="6226" y="2977"/>
                </a:cubicBezTo>
                <a:cubicBezTo>
                  <a:pt x="6226" y="2965"/>
                  <a:pt x="6219" y="2949"/>
                  <a:pt x="6206" y="2932"/>
                </a:cubicBezTo>
                <a:cubicBezTo>
                  <a:pt x="6193" y="2914"/>
                  <a:pt x="6164" y="2881"/>
                  <a:pt x="6118" y="2831"/>
                </a:cubicBezTo>
                <a:cubicBezTo>
                  <a:pt x="6006" y="2712"/>
                  <a:pt x="5933" y="2628"/>
                  <a:pt x="5900" y="2580"/>
                </a:cubicBezTo>
                <a:cubicBezTo>
                  <a:pt x="5867" y="2531"/>
                  <a:pt x="5851" y="2484"/>
                  <a:pt x="5851" y="2439"/>
                </a:cubicBezTo>
                <a:cubicBezTo>
                  <a:pt x="5851" y="2400"/>
                  <a:pt x="5862" y="2363"/>
                  <a:pt x="5885" y="2327"/>
                </a:cubicBezTo>
                <a:cubicBezTo>
                  <a:pt x="5908" y="2292"/>
                  <a:pt x="5939" y="2261"/>
                  <a:pt x="5980" y="2236"/>
                </a:cubicBezTo>
                <a:cubicBezTo>
                  <a:pt x="6047" y="2195"/>
                  <a:pt x="6124" y="2174"/>
                  <a:pt x="6211" y="2174"/>
                </a:cubicBezTo>
                <a:close/>
                <a:moveTo>
                  <a:pt x="5441" y="2174"/>
                </a:moveTo>
                <a:cubicBezTo>
                  <a:pt x="5505" y="2174"/>
                  <a:pt x="5573" y="2188"/>
                  <a:pt x="5644" y="2215"/>
                </a:cubicBezTo>
                <a:cubicBezTo>
                  <a:pt x="5700" y="2236"/>
                  <a:pt x="5728" y="2259"/>
                  <a:pt x="5728" y="2284"/>
                </a:cubicBezTo>
                <a:cubicBezTo>
                  <a:pt x="5728" y="2292"/>
                  <a:pt x="5725" y="2299"/>
                  <a:pt x="5718" y="2306"/>
                </a:cubicBezTo>
                <a:cubicBezTo>
                  <a:pt x="5712" y="2312"/>
                  <a:pt x="5704" y="2315"/>
                  <a:pt x="5696" y="2315"/>
                </a:cubicBezTo>
                <a:cubicBezTo>
                  <a:pt x="5686" y="2315"/>
                  <a:pt x="5668" y="2305"/>
                  <a:pt x="5640" y="2286"/>
                </a:cubicBezTo>
                <a:cubicBezTo>
                  <a:pt x="5585" y="2246"/>
                  <a:pt x="5525" y="2226"/>
                  <a:pt x="5460" y="2226"/>
                </a:cubicBezTo>
                <a:cubicBezTo>
                  <a:pt x="5437" y="2226"/>
                  <a:pt x="5419" y="2230"/>
                  <a:pt x="5408" y="2237"/>
                </a:cubicBezTo>
                <a:cubicBezTo>
                  <a:pt x="5396" y="2244"/>
                  <a:pt x="5390" y="2255"/>
                  <a:pt x="5390" y="2271"/>
                </a:cubicBezTo>
                <a:cubicBezTo>
                  <a:pt x="5390" y="2288"/>
                  <a:pt x="5401" y="2311"/>
                  <a:pt x="5422" y="2338"/>
                </a:cubicBezTo>
                <a:cubicBezTo>
                  <a:pt x="5444" y="2365"/>
                  <a:pt x="5488" y="2411"/>
                  <a:pt x="5554" y="2475"/>
                </a:cubicBezTo>
                <a:cubicBezTo>
                  <a:pt x="5619" y="2538"/>
                  <a:pt x="5660" y="2579"/>
                  <a:pt x="5677" y="2599"/>
                </a:cubicBezTo>
                <a:cubicBezTo>
                  <a:pt x="5695" y="2618"/>
                  <a:pt x="5711" y="2641"/>
                  <a:pt x="5728" y="2666"/>
                </a:cubicBezTo>
                <a:cubicBezTo>
                  <a:pt x="5755" y="2710"/>
                  <a:pt x="5769" y="2757"/>
                  <a:pt x="5769" y="2808"/>
                </a:cubicBezTo>
                <a:cubicBezTo>
                  <a:pt x="5769" y="2888"/>
                  <a:pt x="5730" y="2953"/>
                  <a:pt x="5653" y="3002"/>
                </a:cubicBezTo>
                <a:cubicBezTo>
                  <a:pt x="5589" y="3043"/>
                  <a:pt x="5511" y="3064"/>
                  <a:pt x="5418" y="3064"/>
                </a:cubicBezTo>
                <a:cubicBezTo>
                  <a:pt x="5315" y="3064"/>
                  <a:pt x="5224" y="3041"/>
                  <a:pt x="5144" y="2995"/>
                </a:cubicBezTo>
                <a:cubicBezTo>
                  <a:pt x="5121" y="2981"/>
                  <a:pt x="5104" y="2970"/>
                  <a:pt x="5096" y="2961"/>
                </a:cubicBezTo>
                <a:cubicBezTo>
                  <a:pt x="5087" y="2952"/>
                  <a:pt x="5083" y="2942"/>
                  <a:pt x="5083" y="2932"/>
                </a:cubicBezTo>
                <a:cubicBezTo>
                  <a:pt x="5083" y="2912"/>
                  <a:pt x="5093" y="2903"/>
                  <a:pt x="5113" y="2902"/>
                </a:cubicBezTo>
                <a:cubicBezTo>
                  <a:pt x="5124" y="2902"/>
                  <a:pt x="5137" y="2910"/>
                  <a:pt x="5153" y="2926"/>
                </a:cubicBezTo>
                <a:cubicBezTo>
                  <a:pt x="5179" y="2951"/>
                  <a:pt x="5216" y="2972"/>
                  <a:pt x="5264" y="2989"/>
                </a:cubicBezTo>
                <a:cubicBezTo>
                  <a:pt x="5312" y="3007"/>
                  <a:pt x="5357" y="3016"/>
                  <a:pt x="5398" y="3016"/>
                </a:cubicBezTo>
                <a:cubicBezTo>
                  <a:pt x="5418" y="3016"/>
                  <a:pt x="5432" y="3013"/>
                  <a:pt x="5442" y="3006"/>
                </a:cubicBezTo>
                <a:cubicBezTo>
                  <a:pt x="5451" y="3000"/>
                  <a:pt x="5456" y="2990"/>
                  <a:pt x="5456" y="2977"/>
                </a:cubicBezTo>
                <a:cubicBezTo>
                  <a:pt x="5456" y="2965"/>
                  <a:pt x="5449" y="2949"/>
                  <a:pt x="5436" y="2932"/>
                </a:cubicBezTo>
                <a:cubicBezTo>
                  <a:pt x="5423" y="2914"/>
                  <a:pt x="5394" y="2881"/>
                  <a:pt x="5348" y="2831"/>
                </a:cubicBezTo>
                <a:cubicBezTo>
                  <a:pt x="5236" y="2712"/>
                  <a:pt x="5163" y="2628"/>
                  <a:pt x="5130" y="2580"/>
                </a:cubicBezTo>
                <a:cubicBezTo>
                  <a:pt x="5097" y="2531"/>
                  <a:pt x="5081" y="2484"/>
                  <a:pt x="5081" y="2439"/>
                </a:cubicBezTo>
                <a:cubicBezTo>
                  <a:pt x="5081" y="2400"/>
                  <a:pt x="5092" y="2363"/>
                  <a:pt x="5115" y="2327"/>
                </a:cubicBezTo>
                <a:cubicBezTo>
                  <a:pt x="5138" y="2292"/>
                  <a:pt x="5169" y="2261"/>
                  <a:pt x="5210" y="2236"/>
                </a:cubicBezTo>
                <a:cubicBezTo>
                  <a:pt x="5277" y="2195"/>
                  <a:pt x="5354" y="2174"/>
                  <a:pt x="5441" y="2174"/>
                </a:cubicBezTo>
                <a:close/>
                <a:moveTo>
                  <a:pt x="4460" y="2174"/>
                </a:moveTo>
                <a:cubicBezTo>
                  <a:pt x="4652" y="2174"/>
                  <a:pt x="4788" y="2203"/>
                  <a:pt x="4867" y="2261"/>
                </a:cubicBezTo>
                <a:cubicBezTo>
                  <a:pt x="4902" y="2287"/>
                  <a:pt x="4924" y="2315"/>
                  <a:pt x="4934" y="2347"/>
                </a:cubicBezTo>
                <a:cubicBezTo>
                  <a:pt x="4945" y="2379"/>
                  <a:pt x="4950" y="2435"/>
                  <a:pt x="4950" y="2515"/>
                </a:cubicBezTo>
                <a:lnTo>
                  <a:pt x="4950" y="2825"/>
                </a:lnTo>
                <a:cubicBezTo>
                  <a:pt x="4948" y="2882"/>
                  <a:pt x="4950" y="2925"/>
                  <a:pt x="4955" y="2954"/>
                </a:cubicBezTo>
                <a:cubicBezTo>
                  <a:pt x="4960" y="2983"/>
                  <a:pt x="4973" y="3014"/>
                  <a:pt x="4992" y="3047"/>
                </a:cubicBezTo>
                <a:lnTo>
                  <a:pt x="4554" y="3047"/>
                </a:lnTo>
                <a:lnTo>
                  <a:pt x="4554" y="2965"/>
                </a:lnTo>
                <a:cubicBezTo>
                  <a:pt x="4506" y="2998"/>
                  <a:pt x="4459" y="3022"/>
                  <a:pt x="4412" y="3039"/>
                </a:cubicBezTo>
                <a:cubicBezTo>
                  <a:pt x="4365" y="3056"/>
                  <a:pt x="4318" y="3064"/>
                  <a:pt x="4272" y="3064"/>
                </a:cubicBezTo>
                <a:cubicBezTo>
                  <a:pt x="4195" y="3064"/>
                  <a:pt x="4126" y="3041"/>
                  <a:pt x="4066" y="2996"/>
                </a:cubicBezTo>
                <a:cubicBezTo>
                  <a:pt x="3987" y="2937"/>
                  <a:pt x="3948" y="2860"/>
                  <a:pt x="3948" y="2765"/>
                </a:cubicBezTo>
                <a:cubicBezTo>
                  <a:pt x="3948" y="2681"/>
                  <a:pt x="3980" y="2614"/>
                  <a:pt x="4043" y="2562"/>
                </a:cubicBezTo>
                <a:cubicBezTo>
                  <a:pt x="4117" y="2501"/>
                  <a:pt x="4209" y="2471"/>
                  <a:pt x="4318" y="2471"/>
                </a:cubicBezTo>
                <a:cubicBezTo>
                  <a:pt x="4363" y="2471"/>
                  <a:pt x="4403" y="2475"/>
                  <a:pt x="4437" y="2483"/>
                </a:cubicBezTo>
                <a:cubicBezTo>
                  <a:pt x="4471" y="2491"/>
                  <a:pt x="4511" y="2506"/>
                  <a:pt x="4555" y="2527"/>
                </a:cubicBezTo>
                <a:lnTo>
                  <a:pt x="4555" y="2432"/>
                </a:lnTo>
                <a:cubicBezTo>
                  <a:pt x="4554" y="2366"/>
                  <a:pt x="4553" y="2325"/>
                  <a:pt x="4552" y="2310"/>
                </a:cubicBezTo>
                <a:cubicBezTo>
                  <a:pt x="4550" y="2295"/>
                  <a:pt x="4546" y="2282"/>
                  <a:pt x="4538" y="2270"/>
                </a:cubicBezTo>
                <a:cubicBezTo>
                  <a:pt x="4519" y="2241"/>
                  <a:pt x="4475" y="2226"/>
                  <a:pt x="4407" y="2226"/>
                </a:cubicBezTo>
                <a:cubicBezTo>
                  <a:pt x="4301" y="2226"/>
                  <a:pt x="4219" y="2259"/>
                  <a:pt x="4161" y="2326"/>
                </a:cubicBezTo>
                <a:cubicBezTo>
                  <a:pt x="4137" y="2353"/>
                  <a:pt x="4118" y="2366"/>
                  <a:pt x="4101" y="2366"/>
                </a:cubicBezTo>
                <a:cubicBezTo>
                  <a:pt x="4090" y="2366"/>
                  <a:pt x="4079" y="2362"/>
                  <a:pt x="4070" y="2354"/>
                </a:cubicBezTo>
                <a:cubicBezTo>
                  <a:pt x="4061" y="2345"/>
                  <a:pt x="4057" y="2336"/>
                  <a:pt x="4057" y="2325"/>
                </a:cubicBezTo>
                <a:cubicBezTo>
                  <a:pt x="4057" y="2292"/>
                  <a:pt x="4096" y="2258"/>
                  <a:pt x="4173" y="2224"/>
                </a:cubicBezTo>
                <a:cubicBezTo>
                  <a:pt x="4247" y="2191"/>
                  <a:pt x="4343" y="2174"/>
                  <a:pt x="4460" y="2174"/>
                </a:cubicBezTo>
                <a:close/>
                <a:moveTo>
                  <a:pt x="8946" y="1918"/>
                </a:moveTo>
                <a:lnTo>
                  <a:pt x="8937" y="2170"/>
                </a:lnTo>
                <a:lnTo>
                  <a:pt x="8937" y="2195"/>
                </a:lnTo>
                <a:cubicBezTo>
                  <a:pt x="8982" y="2195"/>
                  <a:pt x="9023" y="2193"/>
                  <a:pt x="9060" y="2190"/>
                </a:cubicBezTo>
                <a:cubicBezTo>
                  <a:pt x="9066" y="2189"/>
                  <a:pt x="9072" y="2189"/>
                  <a:pt x="9077" y="2189"/>
                </a:cubicBezTo>
                <a:cubicBezTo>
                  <a:pt x="9100" y="2189"/>
                  <a:pt x="9111" y="2199"/>
                  <a:pt x="9111" y="2220"/>
                </a:cubicBezTo>
                <a:cubicBezTo>
                  <a:pt x="9111" y="2240"/>
                  <a:pt x="9099" y="2249"/>
                  <a:pt x="9075" y="2249"/>
                </a:cubicBezTo>
                <a:cubicBezTo>
                  <a:pt x="9068" y="2249"/>
                  <a:pt x="9059" y="2249"/>
                  <a:pt x="9048" y="2248"/>
                </a:cubicBezTo>
                <a:cubicBezTo>
                  <a:pt x="9007" y="2245"/>
                  <a:pt x="8977" y="2243"/>
                  <a:pt x="8959" y="2243"/>
                </a:cubicBezTo>
                <a:lnTo>
                  <a:pt x="8937" y="2243"/>
                </a:lnTo>
                <a:lnTo>
                  <a:pt x="8936" y="2395"/>
                </a:lnTo>
                <a:lnTo>
                  <a:pt x="8939" y="2699"/>
                </a:lnTo>
                <a:lnTo>
                  <a:pt x="8941" y="2861"/>
                </a:lnTo>
                <a:cubicBezTo>
                  <a:pt x="8941" y="2899"/>
                  <a:pt x="8944" y="2926"/>
                  <a:pt x="8950" y="2941"/>
                </a:cubicBezTo>
                <a:cubicBezTo>
                  <a:pt x="8955" y="2956"/>
                  <a:pt x="8965" y="2964"/>
                  <a:pt x="8979" y="2964"/>
                </a:cubicBezTo>
                <a:cubicBezTo>
                  <a:pt x="8998" y="2964"/>
                  <a:pt x="9018" y="2953"/>
                  <a:pt x="9040" y="2931"/>
                </a:cubicBezTo>
                <a:cubicBezTo>
                  <a:pt x="9061" y="2909"/>
                  <a:pt x="9077" y="2882"/>
                  <a:pt x="9089" y="2850"/>
                </a:cubicBezTo>
                <a:cubicBezTo>
                  <a:pt x="9100" y="2820"/>
                  <a:pt x="9113" y="2805"/>
                  <a:pt x="9128" y="2805"/>
                </a:cubicBezTo>
                <a:cubicBezTo>
                  <a:pt x="9146" y="2805"/>
                  <a:pt x="9155" y="2815"/>
                  <a:pt x="9155" y="2835"/>
                </a:cubicBezTo>
                <a:cubicBezTo>
                  <a:pt x="9155" y="2854"/>
                  <a:pt x="9146" y="2879"/>
                  <a:pt x="9128" y="2909"/>
                </a:cubicBezTo>
                <a:cubicBezTo>
                  <a:pt x="9111" y="2938"/>
                  <a:pt x="9089" y="2964"/>
                  <a:pt x="9064" y="2986"/>
                </a:cubicBezTo>
                <a:cubicBezTo>
                  <a:pt x="9003" y="3039"/>
                  <a:pt x="8923" y="3066"/>
                  <a:pt x="8825" y="3066"/>
                </a:cubicBezTo>
                <a:cubicBezTo>
                  <a:pt x="8733" y="3066"/>
                  <a:pt x="8662" y="3038"/>
                  <a:pt x="8611" y="2982"/>
                </a:cubicBezTo>
                <a:cubicBezTo>
                  <a:pt x="8585" y="2954"/>
                  <a:pt x="8567" y="2923"/>
                  <a:pt x="8557" y="2888"/>
                </a:cubicBezTo>
                <a:cubicBezTo>
                  <a:pt x="8547" y="2853"/>
                  <a:pt x="8542" y="2805"/>
                  <a:pt x="8542" y="2744"/>
                </a:cubicBezTo>
                <a:lnTo>
                  <a:pt x="8542" y="2685"/>
                </a:lnTo>
                <a:lnTo>
                  <a:pt x="8543" y="2520"/>
                </a:lnTo>
                <a:lnTo>
                  <a:pt x="8543" y="2240"/>
                </a:lnTo>
                <a:cubicBezTo>
                  <a:pt x="8536" y="2240"/>
                  <a:pt x="8531" y="2239"/>
                  <a:pt x="8527" y="2239"/>
                </a:cubicBezTo>
                <a:cubicBezTo>
                  <a:pt x="8522" y="2239"/>
                  <a:pt x="8512" y="2240"/>
                  <a:pt x="8496" y="2241"/>
                </a:cubicBezTo>
                <a:cubicBezTo>
                  <a:pt x="8483" y="2242"/>
                  <a:pt x="8472" y="2243"/>
                  <a:pt x="8463" y="2243"/>
                </a:cubicBezTo>
                <a:cubicBezTo>
                  <a:pt x="8438" y="2243"/>
                  <a:pt x="8425" y="2233"/>
                  <a:pt x="8425" y="2214"/>
                </a:cubicBezTo>
                <a:cubicBezTo>
                  <a:pt x="8425" y="2195"/>
                  <a:pt x="8437" y="2185"/>
                  <a:pt x="8462" y="2185"/>
                </a:cubicBezTo>
                <a:cubicBezTo>
                  <a:pt x="8473" y="2185"/>
                  <a:pt x="8481" y="2186"/>
                  <a:pt x="8486" y="2186"/>
                </a:cubicBezTo>
                <a:lnTo>
                  <a:pt x="8543" y="2190"/>
                </a:lnTo>
                <a:lnTo>
                  <a:pt x="8543" y="2102"/>
                </a:lnTo>
                <a:cubicBezTo>
                  <a:pt x="8697" y="2046"/>
                  <a:pt x="8831" y="1985"/>
                  <a:pt x="8946" y="1918"/>
                </a:cubicBezTo>
                <a:close/>
                <a:moveTo>
                  <a:pt x="4835" y="639"/>
                </a:moveTo>
                <a:cubicBezTo>
                  <a:pt x="4767" y="679"/>
                  <a:pt x="4719" y="718"/>
                  <a:pt x="4691" y="754"/>
                </a:cubicBezTo>
                <a:cubicBezTo>
                  <a:pt x="4664" y="791"/>
                  <a:pt x="4650" y="833"/>
                  <a:pt x="4650" y="882"/>
                </a:cubicBezTo>
                <a:cubicBezTo>
                  <a:pt x="4650" y="941"/>
                  <a:pt x="4668" y="988"/>
                  <a:pt x="4703" y="1025"/>
                </a:cubicBezTo>
                <a:cubicBezTo>
                  <a:pt x="4723" y="1046"/>
                  <a:pt x="4749" y="1063"/>
                  <a:pt x="4782" y="1075"/>
                </a:cubicBezTo>
                <a:cubicBezTo>
                  <a:pt x="4815" y="1088"/>
                  <a:pt x="4848" y="1094"/>
                  <a:pt x="4883" y="1094"/>
                </a:cubicBezTo>
                <a:cubicBezTo>
                  <a:pt x="4959" y="1094"/>
                  <a:pt x="5029" y="1068"/>
                  <a:pt x="5095" y="1015"/>
                </a:cubicBezTo>
                <a:cubicBezTo>
                  <a:pt x="5046" y="955"/>
                  <a:pt x="5005" y="903"/>
                  <a:pt x="4974" y="857"/>
                </a:cubicBezTo>
                <a:cubicBezTo>
                  <a:pt x="4942" y="811"/>
                  <a:pt x="4896" y="738"/>
                  <a:pt x="4835" y="639"/>
                </a:cubicBezTo>
                <a:close/>
                <a:moveTo>
                  <a:pt x="1209" y="614"/>
                </a:moveTo>
                <a:cubicBezTo>
                  <a:pt x="1179" y="614"/>
                  <a:pt x="1159" y="626"/>
                  <a:pt x="1150" y="650"/>
                </a:cubicBezTo>
                <a:cubicBezTo>
                  <a:pt x="1145" y="663"/>
                  <a:pt x="1142" y="701"/>
                  <a:pt x="1142" y="763"/>
                </a:cubicBezTo>
                <a:lnTo>
                  <a:pt x="1142" y="949"/>
                </a:lnTo>
                <a:cubicBezTo>
                  <a:pt x="1143" y="990"/>
                  <a:pt x="1144" y="1015"/>
                  <a:pt x="1146" y="1024"/>
                </a:cubicBezTo>
                <a:cubicBezTo>
                  <a:pt x="1151" y="1048"/>
                  <a:pt x="1169" y="1060"/>
                  <a:pt x="1199" y="1060"/>
                </a:cubicBezTo>
                <a:cubicBezTo>
                  <a:pt x="1223" y="1060"/>
                  <a:pt x="1249" y="1053"/>
                  <a:pt x="1279" y="1039"/>
                </a:cubicBezTo>
                <a:cubicBezTo>
                  <a:pt x="1308" y="1024"/>
                  <a:pt x="1335" y="1005"/>
                  <a:pt x="1359" y="982"/>
                </a:cubicBezTo>
                <a:lnTo>
                  <a:pt x="1361" y="663"/>
                </a:lnTo>
                <a:cubicBezTo>
                  <a:pt x="1296" y="630"/>
                  <a:pt x="1245" y="614"/>
                  <a:pt x="1209" y="614"/>
                </a:cubicBezTo>
                <a:close/>
                <a:moveTo>
                  <a:pt x="3701" y="302"/>
                </a:moveTo>
                <a:cubicBezTo>
                  <a:pt x="3655" y="302"/>
                  <a:pt x="3626" y="314"/>
                  <a:pt x="3615" y="337"/>
                </a:cubicBezTo>
                <a:cubicBezTo>
                  <a:pt x="3608" y="351"/>
                  <a:pt x="3604" y="388"/>
                  <a:pt x="3604" y="447"/>
                </a:cubicBezTo>
                <a:lnTo>
                  <a:pt x="3604" y="675"/>
                </a:lnTo>
                <a:lnTo>
                  <a:pt x="3699" y="678"/>
                </a:lnTo>
                <a:lnTo>
                  <a:pt x="3804" y="675"/>
                </a:lnTo>
                <a:lnTo>
                  <a:pt x="3804" y="447"/>
                </a:lnTo>
                <a:cubicBezTo>
                  <a:pt x="3803" y="398"/>
                  <a:pt x="3802" y="369"/>
                  <a:pt x="3801" y="359"/>
                </a:cubicBezTo>
                <a:cubicBezTo>
                  <a:pt x="3800" y="350"/>
                  <a:pt x="3796" y="341"/>
                  <a:pt x="3790" y="332"/>
                </a:cubicBezTo>
                <a:cubicBezTo>
                  <a:pt x="3775" y="312"/>
                  <a:pt x="3746" y="302"/>
                  <a:pt x="3701" y="302"/>
                </a:cubicBezTo>
                <a:close/>
                <a:moveTo>
                  <a:pt x="1937" y="274"/>
                </a:moveTo>
                <a:lnTo>
                  <a:pt x="2336" y="274"/>
                </a:lnTo>
                <a:lnTo>
                  <a:pt x="2336" y="297"/>
                </a:lnTo>
                <a:lnTo>
                  <a:pt x="2335" y="419"/>
                </a:lnTo>
                <a:lnTo>
                  <a:pt x="2333" y="608"/>
                </a:lnTo>
                <a:lnTo>
                  <a:pt x="2331" y="895"/>
                </a:lnTo>
                <a:lnTo>
                  <a:pt x="2334" y="1057"/>
                </a:lnTo>
                <a:lnTo>
                  <a:pt x="2335" y="1127"/>
                </a:lnTo>
                <a:lnTo>
                  <a:pt x="1934" y="1127"/>
                </a:lnTo>
                <a:lnTo>
                  <a:pt x="1938" y="840"/>
                </a:lnTo>
                <a:lnTo>
                  <a:pt x="1940" y="586"/>
                </a:lnTo>
                <a:lnTo>
                  <a:pt x="1939" y="452"/>
                </a:lnTo>
                <a:lnTo>
                  <a:pt x="1936" y="304"/>
                </a:lnTo>
                <a:lnTo>
                  <a:pt x="1937" y="274"/>
                </a:lnTo>
                <a:close/>
                <a:moveTo>
                  <a:pt x="678" y="257"/>
                </a:moveTo>
                <a:cubicBezTo>
                  <a:pt x="708" y="257"/>
                  <a:pt x="732" y="263"/>
                  <a:pt x="751" y="276"/>
                </a:cubicBezTo>
                <a:cubicBezTo>
                  <a:pt x="770" y="288"/>
                  <a:pt x="779" y="304"/>
                  <a:pt x="779" y="324"/>
                </a:cubicBezTo>
                <a:cubicBezTo>
                  <a:pt x="779" y="339"/>
                  <a:pt x="773" y="351"/>
                  <a:pt x="762" y="361"/>
                </a:cubicBezTo>
                <a:cubicBezTo>
                  <a:pt x="750" y="371"/>
                  <a:pt x="736" y="376"/>
                  <a:pt x="719" y="376"/>
                </a:cubicBezTo>
                <a:cubicBezTo>
                  <a:pt x="708" y="376"/>
                  <a:pt x="696" y="373"/>
                  <a:pt x="682" y="367"/>
                </a:cubicBezTo>
                <a:cubicBezTo>
                  <a:pt x="660" y="356"/>
                  <a:pt x="641" y="350"/>
                  <a:pt x="626" y="350"/>
                </a:cubicBezTo>
                <a:cubicBezTo>
                  <a:pt x="588" y="350"/>
                  <a:pt x="552" y="363"/>
                  <a:pt x="517" y="388"/>
                </a:cubicBezTo>
                <a:cubicBezTo>
                  <a:pt x="483" y="414"/>
                  <a:pt x="444" y="456"/>
                  <a:pt x="401" y="516"/>
                </a:cubicBezTo>
                <a:lnTo>
                  <a:pt x="399" y="816"/>
                </a:lnTo>
                <a:lnTo>
                  <a:pt x="402" y="1127"/>
                </a:lnTo>
                <a:lnTo>
                  <a:pt x="0" y="1127"/>
                </a:lnTo>
                <a:lnTo>
                  <a:pt x="1" y="1084"/>
                </a:lnTo>
                <a:lnTo>
                  <a:pt x="2" y="925"/>
                </a:lnTo>
                <a:lnTo>
                  <a:pt x="5" y="638"/>
                </a:lnTo>
                <a:lnTo>
                  <a:pt x="1" y="319"/>
                </a:lnTo>
                <a:lnTo>
                  <a:pt x="0" y="274"/>
                </a:lnTo>
                <a:lnTo>
                  <a:pt x="401" y="274"/>
                </a:lnTo>
                <a:lnTo>
                  <a:pt x="401" y="434"/>
                </a:lnTo>
                <a:cubicBezTo>
                  <a:pt x="461" y="371"/>
                  <a:pt x="502" y="331"/>
                  <a:pt x="526" y="314"/>
                </a:cubicBezTo>
                <a:cubicBezTo>
                  <a:pt x="580" y="276"/>
                  <a:pt x="631" y="257"/>
                  <a:pt x="678" y="257"/>
                </a:cubicBezTo>
                <a:close/>
                <a:moveTo>
                  <a:pt x="3684" y="254"/>
                </a:moveTo>
                <a:cubicBezTo>
                  <a:pt x="3780" y="254"/>
                  <a:pt x="3868" y="282"/>
                  <a:pt x="3946" y="339"/>
                </a:cubicBezTo>
                <a:cubicBezTo>
                  <a:pt x="4068" y="428"/>
                  <a:pt x="4128" y="556"/>
                  <a:pt x="4127" y="724"/>
                </a:cubicBezTo>
                <a:lnTo>
                  <a:pt x="3945" y="724"/>
                </a:lnTo>
                <a:lnTo>
                  <a:pt x="3711" y="725"/>
                </a:lnTo>
                <a:lnTo>
                  <a:pt x="3604" y="727"/>
                </a:lnTo>
                <a:lnTo>
                  <a:pt x="3604" y="968"/>
                </a:lnTo>
                <a:cubicBezTo>
                  <a:pt x="3604" y="1014"/>
                  <a:pt x="3607" y="1044"/>
                  <a:pt x="3613" y="1056"/>
                </a:cubicBezTo>
                <a:cubicBezTo>
                  <a:pt x="3624" y="1080"/>
                  <a:pt x="3649" y="1092"/>
                  <a:pt x="3690" y="1092"/>
                </a:cubicBezTo>
                <a:cubicBezTo>
                  <a:pt x="3750" y="1092"/>
                  <a:pt x="3810" y="1075"/>
                  <a:pt x="3869" y="1042"/>
                </a:cubicBezTo>
                <a:cubicBezTo>
                  <a:pt x="3928" y="1009"/>
                  <a:pt x="3980" y="964"/>
                  <a:pt x="4023" y="905"/>
                </a:cubicBezTo>
                <a:cubicBezTo>
                  <a:pt x="4037" y="886"/>
                  <a:pt x="4047" y="874"/>
                  <a:pt x="4053" y="869"/>
                </a:cubicBezTo>
                <a:cubicBezTo>
                  <a:pt x="4060" y="864"/>
                  <a:pt x="4066" y="861"/>
                  <a:pt x="4074" y="861"/>
                </a:cubicBezTo>
                <a:cubicBezTo>
                  <a:pt x="4082" y="861"/>
                  <a:pt x="4090" y="864"/>
                  <a:pt x="4095" y="871"/>
                </a:cubicBezTo>
                <a:cubicBezTo>
                  <a:pt x="4101" y="877"/>
                  <a:pt x="4104" y="885"/>
                  <a:pt x="4104" y="895"/>
                </a:cubicBezTo>
                <a:cubicBezTo>
                  <a:pt x="4104" y="917"/>
                  <a:pt x="4087" y="947"/>
                  <a:pt x="4052" y="984"/>
                </a:cubicBezTo>
                <a:cubicBezTo>
                  <a:pt x="4006" y="1031"/>
                  <a:pt x="3949" y="1070"/>
                  <a:pt x="3881" y="1099"/>
                </a:cubicBezTo>
                <a:cubicBezTo>
                  <a:pt x="3813" y="1129"/>
                  <a:pt x="3747" y="1144"/>
                  <a:pt x="3682" y="1144"/>
                </a:cubicBezTo>
                <a:cubicBezTo>
                  <a:pt x="3571" y="1144"/>
                  <a:pt x="3473" y="1107"/>
                  <a:pt x="3388" y="1032"/>
                </a:cubicBezTo>
                <a:cubicBezTo>
                  <a:pt x="3339" y="989"/>
                  <a:pt x="3301" y="935"/>
                  <a:pt x="3274" y="871"/>
                </a:cubicBezTo>
                <a:cubicBezTo>
                  <a:pt x="3251" y="815"/>
                  <a:pt x="3239" y="759"/>
                  <a:pt x="3239" y="703"/>
                </a:cubicBezTo>
                <a:cubicBezTo>
                  <a:pt x="3239" y="648"/>
                  <a:pt x="3249" y="594"/>
                  <a:pt x="3270" y="540"/>
                </a:cubicBezTo>
                <a:cubicBezTo>
                  <a:pt x="3291" y="486"/>
                  <a:pt x="3320" y="439"/>
                  <a:pt x="3356" y="399"/>
                </a:cubicBezTo>
                <a:cubicBezTo>
                  <a:pt x="3398" y="353"/>
                  <a:pt x="3448" y="317"/>
                  <a:pt x="3506" y="291"/>
                </a:cubicBezTo>
                <a:cubicBezTo>
                  <a:pt x="3563" y="266"/>
                  <a:pt x="3622" y="254"/>
                  <a:pt x="3684" y="254"/>
                </a:cubicBezTo>
                <a:close/>
                <a:moveTo>
                  <a:pt x="2835" y="254"/>
                </a:moveTo>
                <a:cubicBezTo>
                  <a:pt x="2899" y="254"/>
                  <a:pt x="2967" y="268"/>
                  <a:pt x="3038" y="295"/>
                </a:cubicBezTo>
                <a:cubicBezTo>
                  <a:pt x="3094" y="316"/>
                  <a:pt x="3122" y="339"/>
                  <a:pt x="3122" y="364"/>
                </a:cubicBezTo>
                <a:cubicBezTo>
                  <a:pt x="3122" y="372"/>
                  <a:pt x="3119" y="379"/>
                  <a:pt x="3112" y="386"/>
                </a:cubicBezTo>
                <a:cubicBezTo>
                  <a:pt x="3106" y="392"/>
                  <a:pt x="3098" y="395"/>
                  <a:pt x="3090" y="395"/>
                </a:cubicBezTo>
                <a:cubicBezTo>
                  <a:pt x="3080" y="395"/>
                  <a:pt x="3062" y="385"/>
                  <a:pt x="3034" y="366"/>
                </a:cubicBezTo>
                <a:cubicBezTo>
                  <a:pt x="2979" y="326"/>
                  <a:pt x="2919" y="306"/>
                  <a:pt x="2854" y="306"/>
                </a:cubicBezTo>
                <a:cubicBezTo>
                  <a:pt x="2831" y="306"/>
                  <a:pt x="2813" y="310"/>
                  <a:pt x="2802" y="317"/>
                </a:cubicBezTo>
                <a:cubicBezTo>
                  <a:pt x="2790" y="324"/>
                  <a:pt x="2784" y="335"/>
                  <a:pt x="2784" y="351"/>
                </a:cubicBezTo>
                <a:cubicBezTo>
                  <a:pt x="2784" y="368"/>
                  <a:pt x="2795" y="391"/>
                  <a:pt x="2816" y="418"/>
                </a:cubicBezTo>
                <a:cubicBezTo>
                  <a:pt x="2838" y="445"/>
                  <a:pt x="2882" y="491"/>
                  <a:pt x="2948" y="555"/>
                </a:cubicBezTo>
                <a:cubicBezTo>
                  <a:pt x="3013" y="618"/>
                  <a:pt x="3054" y="659"/>
                  <a:pt x="3071" y="679"/>
                </a:cubicBezTo>
                <a:cubicBezTo>
                  <a:pt x="3089" y="698"/>
                  <a:pt x="3105" y="721"/>
                  <a:pt x="3122" y="746"/>
                </a:cubicBezTo>
                <a:cubicBezTo>
                  <a:pt x="3149" y="790"/>
                  <a:pt x="3163" y="837"/>
                  <a:pt x="3163" y="888"/>
                </a:cubicBezTo>
                <a:cubicBezTo>
                  <a:pt x="3163" y="968"/>
                  <a:pt x="3124" y="1033"/>
                  <a:pt x="3047" y="1082"/>
                </a:cubicBezTo>
                <a:cubicBezTo>
                  <a:pt x="2983" y="1123"/>
                  <a:pt x="2905" y="1144"/>
                  <a:pt x="2812" y="1144"/>
                </a:cubicBezTo>
                <a:cubicBezTo>
                  <a:pt x="2709" y="1144"/>
                  <a:pt x="2618" y="1121"/>
                  <a:pt x="2538" y="1075"/>
                </a:cubicBezTo>
                <a:cubicBezTo>
                  <a:pt x="2515" y="1061"/>
                  <a:pt x="2498" y="1050"/>
                  <a:pt x="2490" y="1041"/>
                </a:cubicBezTo>
                <a:cubicBezTo>
                  <a:pt x="2481" y="1032"/>
                  <a:pt x="2477" y="1022"/>
                  <a:pt x="2477" y="1012"/>
                </a:cubicBezTo>
                <a:cubicBezTo>
                  <a:pt x="2477" y="992"/>
                  <a:pt x="2487" y="983"/>
                  <a:pt x="2507" y="982"/>
                </a:cubicBezTo>
                <a:cubicBezTo>
                  <a:pt x="2518" y="982"/>
                  <a:pt x="2531" y="990"/>
                  <a:pt x="2547" y="1006"/>
                </a:cubicBezTo>
                <a:cubicBezTo>
                  <a:pt x="2573" y="1031"/>
                  <a:pt x="2610" y="1052"/>
                  <a:pt x="2658" y="1069"/>
                </a:cubicBezTo>
                <a:cubicBezTo>
                  <a:pt x="2706" y="1087"/>
                  <a:pt x="2751" y="1096"/>
                  <a:pt x="2792" y="1096"/>
                </a:cubicBezTo>
                <a:cubicBezTo>
                  <a:pt x="2812" y="1096"/>
                  <a:pt x="2826" y="1093"/>
                  <a:pt x="2836" y="1086"/>
                </a:cubicBezTo>
                <a:cubicBezTo>
                  <a:pt x="2845" y="1080"/>
                  <a:pt x="2850" y="1070"/>
                  <a:pt x="2850" y="1057"/>
                </a:cubicBezTo>
                <a:cubicBezTo>
                  <a:pt x="2850" y="1045"/>
                  <a:pt x="2843" y="1029"/>
                  <a:pt x="2830" y="1012"/>
                </a:cubicBezTo>
                <a:cubicBezTo>
                  <a:pt x="2817" y="994"/>
                  <a:pt x="2788" y="961"/>
                  <a:pt x="2742" y="911"/>
                </a:cubicBezTo>
                <a:cubicBezTo>
                  <a:pt x="2630" y="792"/>
                  <a:pt x="2557" y="708"/>
                  <a:pt x="2524" y="660"/>
                </a:cubicBezTo>
                <a:cubicBezTo>
                  <a:pt x="2491" y="611"/>
                  <a:pt x="2475" y="564"/>
                  <a:pt x="2475" y="519"/>
                </a:cubicBezTo>
                <a:cubicBezTo>
                  <a:pt x="2475" y="480"/>
                  <a:pt x="2486" y="443"/>
                  <a:pt x="2509" y="407"/>
                </a:cubicBezTo>
                <a:cubicBezTo>
                  <a:pt x="2532" y="372"/>
                  <a:pt x="2563" y="341"/>
                  <a:pt x="2604" y="316"/>
                </a:cubicBezTo>
                <a:cubicBezTo>
                  <a:pt x="2671" y="275"/>
                  <a:pt x="2748" y="254"/>
                  <a:pt x="2835" y="254"/>
                </a:cubicBezTo>
                <a:close/>
                <a:moveTo>
                  <a:pt x="1266" y="254"/>
                </a:moveTo>
                <a:cubicBezTo>
                  <a:pt x="1458" y="254"/>
                  <a:pt x="1594" y="283"/>
                  <a:pt x="1673" y="341"/>
                </a:cubicBezTo>
                <a:cubicBezTo>
                  <a:pt x="1708" y="367"/>
                  <a:pt x="1730" y="395"/>
                  <a:pt x="1740" y="427"/>
                </a:cubicBezTo>
                <a:cubicBezTo>
                  <a:pt x="1751" y="459"/>
                  <a:pt x="1756" y="515"/>
                  <a:pt x="1756" y="595"/>
                </a:cubicBezTo>
                <a:lnTo>
                  <a:pt x="1756" y="905"/>
                </a:lnTo>
                <a:cubicBezTo>
                  <a:pt x="1754" y="962"/>
                  <a:pt x="1756" y="1005"/>
                  <a:pt x="1761" y="1034"/>
                </a:cubicBezTo>
                <a:cubicBezTo>
                  <a:pt x="1766" y="1063"/>
                  <a:pt x="1779" y="1094"/>
                  <a:pt x="1798" y="1127"/>
                </a:cubicBezTo>
                <a:lnTo>
                  <a:pt x="1360" y="1127"/>
                </a:lnTo>
                <a:lnTo>
                  <a:pt x="1360" y="1045"/>
                </a:lnTo>
                <a:cubicBezTo>
                  <a:pt x="1312" y="1078"/>
                  <a:pt x="1265" y="1102"/>
                  <a:pt x="1218" y="1119"/>
                </a:cubicBezTo>
                <a:cubicBezTo>
                  <a:pt x="1171" y="1136"/>
                  <a:pt x="1124" y="1144"/>
                  <a:pt x="1078" y="1144"/>
                </a:cubicBezTo>
                <a:cubicBezTo>
                  <a:pt x="1001" y="1144"/>
                  <a:pt x="932" y="1121"/>
                  <a:pt x="872" y="1076"/>
                </a:cubicBezTo>
                <a:cubicBezTo>
                  <a:pt x="793" y="1017"/>
                  <a:pt x="754" y="940"/>
                  <a:pt x="754" y="845"/>
                </a:cubicBezTo>
                <a:cubicBezTo>
                  <a:pt x="754" y="761"/>
                  <a:pt x="786" y="694"/>
                  <a:pt x="849" y="642"/>
                </a:cubicBezTo>
                <a:cubicBezTo>
                  <a:pt x="923" y="581"/>
                  <a:pt x="1015" y="551"/>
                  <a:pt x="1124" y="551"/>
                </a:cubicBezTo>
                <a:cubicBezTo>
                  <a:pt x="1169" y="551"/>
                  <a:pt x="1209" y="555"/>
                  <a:pt x="1243" y="563"/>
                </a:cubicBezTo>
                <a:cubicBezTo>
                  <a:pt x="1277" y="571"/>
                  <a:pt x="1317" y="586"/>
                  <a:pt x="1361" y="607"/>
                </a:cubicBezTo>
                <a:lnTo>
                  <a:pt x="1361" y="512"/>
                </a:lnTo>
                <a:cubicBezTo>
                  <a:pt x="1360" y="446"/>
                  <a:pt x="1359" y="405"/>
                  <a:pt x="1358" y="390"/>
                </a:cubicBezTo>
                <a:cubicBezTo>
                  <a:pt x="1356" y="375"/>
                  <a:pt x="1352" y="362"/>
                  <a:pt x="1344" y="350"/>
                </a:cubicBezTo>
                <a:cubicBezTo>
                  <a:pt x="1325" y="321"/>
                  <a:pt x="1281" y="306"/>
                  <a:pt x="1213" y="306"/>
                </a:cubicBezTo>
                <a:cubicBezTo>
                  <a:pt x="1107" y="306"/>
                  <a:pt x="1025" y="339"/>
                  <a:pt x="967" y="406"/>
                </a:cubicBezTo>
                <a:cubicBezTo>
                  <a:pt x="943" y="433"/>
                  <a:pt x="924" y="446"/>
                  <a:pt x="907" y="446"/>
                </a:cubicBezTo>
                <a:cubicBezTo>
                  <a:pt x="896" y="446"/>
                  <a:pt x="885" y="442"/>
                  <a:pt x="876" y="434"/>
                </a:cubicBezTo>
                <a:cubicBezTo>
                  <a:pt x="867" y="425"/>
                  <a:pt x="863" y="416"/>
                  <a:pt x="863" y="405"/>
                </a:cubicBezTo>
                <a:cubicBezTo>
                  <a:pt x="863" y="372"/>
                  <a:pt x="902" y="338"/>
                  <a:pt x="979" y="304"/>
                </a:cubicBezTo>
                <a:cubicBezTo>
                  <a:pt x="1053" y="271"/>
                  <a:pt x="1149" y="254"/>
                  <a:pt x="1266" y="254"/>
                </a:cubicBezTo>
                <a:close/>
                <a:moveTo>
                  <a:pt x="5104" y="86"/>
                </a:moveTo>
                <a:cubicBezTo>
                  <a:pt x="5090" y="86"/>
                  <a:pt x="5077" y="87"/>
                  <a:pt x="5066" y="88"/>
                </a:cubicBezTo>
                <a:cubicBezTo>
                  <a:pt x="5086" y="168"/>
                  <a:pt x="5134" y="272"/>
                  <a:pt x="5211" y="399"/>
                </a:cubicBezTo>
                <a:cubicBezTo>
                  <a:pt x="5306" y="355"/>
                  <a:pt x="5354" y="301"/>
                  <a:pt x="5354" y="235"/>
                </a:cubicBezTo>
                <a:cubicBezTo>
                  <a:pt x="5354" y="188"/>
                  <a:pt x="5332" y="151"/>
                  <a:pt x="5289" y="125"/>
                </a:cubicBezTo>
                <a:cubicBezTo>
                  <a:pt x="5245" y="99"/>
                  <a:pt x="5184" y="86"/>
                  <a:pt x="5104" y="86"/>
                </a:cubicBezTo>
                <a:close/>
                <a:moveTo>
                  <a:pt x="5108" y="34"/>
                </a:moveTo>
                <a:cubicBezTo>
                  <a:pt x="5212" y="34"/>
                  <a:pt x="5292" y="58"/>
                  <a:pt x="5349" y="107"/>
                </a:cubicBezTo>
                <a:cubicBezTo>
                  <a:pt x="5388" y="139"/>
                  <a:pt x="5407" y="181"/>
                  <a:pt x="5407" y="234"/>
                </a:cubicBezTo>
                <a:cubicBezTo>
                  <a:pt x="5407" y="317"/>
                  <a:pt x="5351" y="387"/>
                  <a:pt x="5240" y="442"/>
                </a:cubicBezTo>
                <a:cubicBezTo>
                  <a:pt x="5269" y="494"/>
                  <a:pt x="5332" y="590"/>
                  <a:pt x="5428" y="730"/>
                </a:cubicBezTo>
                <a:cubicBezTo>
                  <a:pt x="5548" y="611"/>
                  <a:pt x="5639" y="552"/>
                  <a:pt x="5702" y="552"/>
                </a:cubicBezTo>
                <a:cubicBezTo>
                  <a:pt x="5729" y="552"/>
                  <a:pt x="5742" y="564"/>
                  <a:pt x="5742" y="587"/>
                </a:cubicBezTo>
                <a:cubicBezTo>
                  <a:pt x="5742" y="599"/>
                  <a:pt x="5739" y="607"/>
                  <a:pt x="5732" y="611"/>
                </a:cubicBezTo>
                <a:cubicBezTo>
                  <a:pt x="5726" y="614"/>
                  <a:pt x="5710" y="617"/>
                  <a:pt x="5684" y="620"/>
                </a:cubicBezTo>
                <a:cubicBezTo>
                  <a:pt x="5658" y="623"/>
                  <a:pt x="5629" y="635"/>
                  <a:pt x="5596" y="658"/>
                </a:cubicBezTo>
                <a:cubicBezTo>
                  <a:pt x="5563" y="680"/>
                  <a:pt x="5518" y="718"/>
                  <a:pt x="5460" y="772"/>
                </a:cubicBezTo>
                <a:cubicBezTo>
                  <a:pt x="5543" y="890"/>
                  <a:pt x="5640" y="1008"/>
                  <a:pt x="5753" y="1127"/>
                </a:cubicBezTo>
                <a:lnTo>
                  <a:pt x="5206" y="1127"/>
                </a:lnTo>
                <a:cubicBezTo>
                  <a:pt x="5181" y="1105"/>
                  <a:pt x="5155" y="1081"/>
                  <a:pt x="5130" y="1054"/>
                </a:cubicBezTo>
                <a:cubicBezTo>
                  <a:pt x="5056" y="1115"/>
                  <a:pt x="4973" y="1145"/>
                  <a:pt x="4882" y="1145"/>
                </a:cubicBezTo>
                <a:cubicBezTo>
                  <a:pt x="4837" y="1145"/>
                  <a:pt x="4795" y="1137"/>
                  <a:pt x="4754" y="1120"/>
                </a:cubicBezTo>
                <a:cubicBezTo>
                  <a:pt x="4713" y="1104"/>
                  <a:pt x="4681" y="1082"/>
                  <a:pt x="4656" y="1054"/>
                </a:cubicBezTo>
                <a:cubicBezTo>
                  <a:pt x="4617" y="1009"/>
                  <a:pt x="4597" y="953"/>
                  <a:pt x="4597" y="886"/>
                </a:cubicBezTo>
                <a:cubicBezTo>
                  <a:pt x="4597" y="826"/>
                  <a:pt x="4614" y="773"/>
                  <a:pt x="4648" y="726"/>
                </a:cubicBezTo>
                <a:cubicBezTo>
                  <a:pt x="4682" y="679"/>
                  <a:pt x="4736" y="635"/>
                  <a:pt x="4811" y="594"/>
                </a:cubicBezTo>
                <a:cubicBezTo>
                  <a:pt x="4776" y="528"/>
                  <a:pt x="4752" y="476"/>
                  <a:pt x="4739" y="439"/>
                </a:cubicBezTo>
                <a:cubicBezTo>
                  <a:pt x="4726" y="402"/>
                  <a:pt x="4720" y="366"/>
                  <a:pt x="4720" y="330"/>
                </a:cubicBezTo>
                <a:cubicBezTo>
                  <a:pt x="4720" y="248"/>
                  <a:pt x="4749" y="182"/>
                  <a:pt x="4808" y="130"/>
                </a:cubicBezTo>
                <a:cubicBezTo>
                  <a:pt x="4882" y="66"/>
                  <a:pt x="4982" y="34"/>
                  <a:pt x="5108" y="34"/>
                </a:cubicBezTo>
                <a:close/>
                <a:moveTo>
                  <a:pt x="2134" y="0"/>
                </a:moveTo>
                <a:cubicBezTo>
                  <a:pt x="2271" y="0"/>
                  <a:pt x="2340" y="36"/>
                  <a:pt x="2340" y="108"/>
                </a:cubicBezTo>
                <a:cubicBezTo>
                  <a:pt x="2340" y="143"/>
                  <a:pt x="2322" y="170"/>
                  <a:pt x="2286" y="190"/>
                </a:cubicBezTo>
                <a:cubicBezTo>
                  <a:pt x="2250" y="209"/>
                  <a:pt x="2199" y="219"/>
                  <a:pt x="2133" y="219"/>
                </a:cubicBezTo>
                <a:cubicBezTo>
                  <a:pt x="2002" y="219"/>
                  <a:pt x="1937" y="182"/>
                  <a:pt x="1937" y="108"/>
                </a:cubicBezTo>
                <a:cubicBezTo>
                  <a:pt x="1937" y="37"/>
                  <a:pt x="2003" y="1"/>
                  <a:pt x="2134" y="0"/>
                </a:cubicBezTo>
                <a:close/>
              </a:path>
            </a:pathLst>
          </a:cu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635" cy="953135"/>
          </a:xfrm>
          <a:prstGeom prst="rect">
            <a:avLst/>
          </a:prstGeom>
          <a:noFill/>
        </p:spPr>
        <p:txBody>
          <a:bodyPr wrap="square" rtlCol="0" anchor="t">
            <a:spAutoFit/>
          </a:bodyPr>
          <a:p>
            <a:pPr marL="285750" indent="-285750">
              <a:buFont typeface="Wingdings" panose="05000000000000000000" charset="0"/>
              <a:buChar char="q"/>
            </a:pPr>
            <a:r>
              <a:rPr lang="en-IN" altLang="en-US" sz="2800" u="sng">
                <a:solidFill>
                  <a:srgbClr val="FF0000"/>
                </a:solidFill>
                <a:latin typeface="Broadway" panose="04040905080B02020502" charset="0"/>
                <a:cs typeface="Broadway" panose="04040905080B02020502" charset="0"/>
              </a:rPr>
              <a:t>D</a:t>
            </a:r>
            <a:r>
              <a:rPr lang="en-US" sz="2800" u="sng">
                <a:solidFill>
                  <a:srgbClr val="FF0000"/>
                </a:solidFill>
                <a:latin typeface="Broadway" panose="04040905080B02020502" charset="0"/>
                <a:cs typeface="Broadway" panose="04040905080B02020502" charset="0"/>
              </a:rPr>
              <a:t>ifference between the raise and assert statements in Python.</a:t>
            </a:r>
            <a:endParaRPr lang="en-US" sz="2800" u="sng">
              <a:solidFill>
                <a:srgbClr val="FF0000"/>
              </a:solidFill>
              <a:latin typeface="Broadway" panose="04040905080B02020502" charset="0"/>
              <a:cs typeface="Broadway" panose="04040905080B02020502" charset="0"/>
            </a:endParaRPr>
          </a:p>
        </p:txBody>
      </p:sp>
      <p:sp>
        <p:nvSpPr>
          <p:cNvPr id="3" name="Text Box 2"/>
          <p:cNvSpPr txBox="1"/>
          <p:nvPr/>
        </p:nvSpPr>
        <p:spPr>
          <a:xfrm>
            <a:off x="0" y="1123315"/>
            <a:ext cx="5316855" cy="922020"/>
          </a:xfrm>
          <a:prstGeom prst="rect">
            <a:avLst/>
          </a:prstGeom>
          <a:noFill/>
        </p:spPr>
        <p:txBody>
          <a:bodyPr wrap="square" rtlCol="0" anchor="t">
            <a:spAutoFit/>
          </a:bodyPr>
          <a:p>
            <a:pPr marL="285750" indent="-285750">
              <a:buFont typeface="Wingdings" panose="05000000000000000000" charset="0"/>
              <a:buChar char="Ø"/>
            </a:pPr>
            <a:r>
              <a:rPr lang="en-US"/>
              <a:t>raise is a general-purpose statement used to raise exceptions programmatically. It allows you to raise any exception at any point in your code.</a:t>
            </a:r>
            <a:endParaRPr lang="en-US"/>
          </a:p>
        </p:txBody>
      </p:sp>
      <p:sp>
        <p:nvSpPr>
          <p:cNvPr id="4" name="Text Box 3"/>
          <p:cNvSpPr txBox="1"/>
          <p:nvPr/>
        </p:nvSpPr>
        <p:spPr>
          <a:xfrm>
            <a:off x="0" y="2538095"/>
            <a:ext cx="6096000" cy="645160"/>
          </a:xfrm>
          <a:prstGeom prst="rect">
            <a:avLst/>
          </a:prstGeom>
          <a:noFill/>
        </p:spPr>
        <p:txBody>
          <a:bodyPr wrap="square" rtlCol="0" anchor="t">
            <a:spAutoFit/>
          </a:bodyPr>
          <a:p>
            <a:r>
              <a:rPr lang="en-US">
                <a:solidFill>
                  <a:schemeClr val="accent5">
                    <a:lumMod val="40000"/>
                    <a:lumOff val="60000"/>
                  </a:schemeClr>
                </a:solidFill>
                <a:highlight>
                  <a:srgbClr val="000000"/>
                </a:highlight>
              </a:rPr>
              <a:t>if x &lt; 0:</a:t>
            </a:r>
            <a:endParaRPr lang="en-US">
              <a:solidFill>
                <a:schemeClr val="accent5">
                  <a:lumMod val="40000"/>
                  <a:lumOff val="60000"/>
                </a:schemeClr>
              </a:solidFill>
              <a:highlight>
                <a:srgbClr val="000000"/>
              </a:highlight>
            </a:endParaRPr>
          </a:p>
          <a:p>
            <a:r>
              <a:rPr lang="en-US">
                <a:solidFill>
                  <a:schemeClr val="accent5">
                    <a:lumMod val="40000"/>
                    <a:lumOff val="60000"/>
                  </a:schemeClr>
                </a:solidFill>
                <a:highlight>
                  <a:srgbClr val="000000"/>
                </a:highlight>
              </a:rPr>
              <a:t>    raise ValueError("x cannot be negative")</a:t>
            </a:r>
            <a:endParaRPr lang="en-US">
              <a:solidFill>
                <a:schemeClr val="accent5">
                  <a:lumMod val="40000"/>
                  <a:lumOff val="60000"/>
                </a:schemeClr>
              </a:solidFill>
              <a:highlight>
                <a:srgbClr val="000000"/>
              </a:highlight>
            </a:endParaRPr>
          </a:p>
        </p:txBody>
      </p:sp>
      <p:sp>
        <p:nvSpPr>
          <p:cNvPr id="5" name="Text Box 4"/>
          <p:cNvSpPr txBox="1"/>
          <p:nvPr/>
        </p:nvSpPr>
        <p:spPr>
          <a:xfrm>
            <a:off x="0" y="3183890"/>
            <a:ext cx="4759325" cy="1476375"/>
          </a:xfrm>
          <a:prstGeom prst="rect">
            <a:avLst/>
          </a:prstGeom>
          <a:noFill/>
        </p:spPr>
        <p:txBody>
          <a:bodyPr wrap="square" rtlCol="0" anchor="t">
            <a:spAutoFit/>
          </a:bodyPr>
          <a:p>
            <a:pPr marL="285750" indent="-285750">
              <a:buFont typeface="Wingdings" panose="05000000000000000000" charset="0"/>
              <a:buChar char="v"/>
            </a:pPr>
            <a:r>
              <a:rPr lang="en-US"/>
              <a:t>In this example, if x is negative, a ValueError exception is raised with the specified error message.</a:t>
            </a:r>
            <a:endParaRPr lang="en-US"/>
          </a:p>
          <a:p>
            <a:endParaRPr lang="en-US"/>
          </a:p>
          <a:p>
            <a:endParaRPr lang="en-US"/>
          </a:p>
        </p:txBody>
      </p:sp>
      <p:sp>
        <p:nvSpPr>
          <p:cNvPr id="6" name="Text Box 5"/>
          <p:cNvSpPr txBox="1"/>
          <p:nvPr/>
        </p:nvSpPr>
        <p:spPr>
          <a:xfrm>
            <a:off x="6409690" y="1123315"/>
            <a:ext cx="5850255" cy="1198880"/>
          </a:xfrm>
          <a:prstGeom prst="rect">
            <a:avLst/>
          </a:prstGeom>
          <a:noFill/>
        </p:spPr>
        <p:txBody>
          <a:bodyPr wrap="square" rtlCol="0" anchor="t">
            <a:spAutoFit/>
          </a:bodyPr>
          <a:p>
            <a:pPr marL="285750" indent="-285750">
              <a:buFont typeface="Wingdings" panose="05000000000000000000" charset="0"/>
              <a:buChar char="Ø"/>
            </a:pPr>
            <a:r>
              <a:rPr lang="en-US">
                <a:sym typeface="+mn-ea"/>
              </a:rPr>
              <a:t>assert, on the other hand, is primarily used for debugging purposes to check the correctness of conditions that are expected to be true. It's typically used during development and testing.</a:t>
            </a:r>
            <a:endParaRPr lang="en-US">
              <a:sym typeface="+mn-ea"/>
            </a:endParaRPr>
          </a:p>
        </p:txBody>
      </p:sp>
      <p:sp>
        <p:nvSpPr>
          <p:cNvPr id="7" name="Text Box 6"/>
          <p:cNvSpPr txBox="1"/>
          <p:nvPr/>
        </p:nvSpPr>
        <p:spPr>
          <a:xfrm>
            <a:off x="6163945" y="2538095"/>
            <a:ext cx="6096000" cy="368300"/>
          </a:xfrm>
          <a:prstGeom prst="rect">
            <a:avLst/>
          </a:prstGeom>
          <a:noFill/>
        </p:spPr>
        <p:txBody>
          <a:bodyPr wrap="square" rtlCol="0" anchor="t">
            <a:spAutoFit/>
          </a:bodyPr>
          <a:p>
            <a:r>
              <a:rPr lang="en-US">
                <a:solidFill>
                  <a:schemeClr val="accent5">
                    <a:lumMod val="40000"/>
                    <a:lumOff val="60000"/>
                  </a:schemeClr>
                </a:solidFill>
                <a:highlight>
                  <a:srgbClr val="000000"/>
                </a:highlight>
              </a:rPr>
              <a:t>assert x &gt;= 0, "x cannot be negative"</a:t>
            </a:r>
            <a:endParaRPr lang="en-US">
              <a:solidFill>
                <a:schemeClr val="accent5">
                  <a:lumMod val="40000"/>
                  <a:lumOff val="60000"/>
                </a:schemeClr>
              </a:solidFill>
              <a:highlight>
                <a:srgbClr val="000000"/>
              </a:highlight>
            </a:endParaRPr>
          </a:p>
        </p:txBody>
      </p:sp>
      <p:sp>
        <p:nvSpPr>
          <p:cNvPr id="8" name="Text Box 7"/>
          <p:cNvSpPr txBox="1"/>
          <p:nvPr/>
        </p:nvSpPr>
        <p:spPr>
          <a:xfrm>
            <a:off x="0" y="4460240"/>
            <a:ext cx="12192635" cy="645160"/>
          </a:xfrm>
          <a:prstGeom prst="rect">
            <a:avLst/>
          </a:prstGeom>
          <a:noFill/>
        </p:spPr>
        <p:txBody>
          <a:bodyPr wrap="square" rtlCol="0" anchor="t">
            <a:spAutoFit/>
          </a:bodyPr>
          <a:p>
            <a:pPr marL="285750" indent="-285750">
              <a:buFont typeface="Wingdings" panose="05000000000000000000" charset="0"/>
              <a:buChar char="v"/>
            </a:pPr>
            <a:r>
              <a:rPr lang="en-US"/>
              <a:t>So, while both can be used to handle error conditions, raise is more general-purpose and is used to raise exceptions explicitly, while assert is more for debugging and verifying conditions during development.</a:t>
            </a:r>
            <a:endParaRPr lang="en-US"/>
          </a:p>
        </p:txBody>
      </p:sp>
      <p:sp>
        <p:nvSpPr>
          <p:cNvPr id="9" name="Text Box 8"/>
          <p:cNvSpPr txBox="1"/>
          <p:nvPr/>
        </p:nvSpPr>
        <p:spPr>
          <a:xfrm>
            <a:off x="6409690" y="3183890"/>
            <a:ext cx="5849620" cy="922020"/>
          </a:xfrm>
          <a:prstGeom prst="rect">
            <a:avLst/>
          </a:prstGeom>
          <a:noFill/>
        </p:spPr>
        <p:txBody>
          <a:bodyPr wrap="square" rtlCol="0" anchor="t">
            <a:spAutoFit/>
          </a:bodyPr>
          <a:p>
            <a:pPr marL="285750" indent="-285750">
              <a:buFont typeface="Wingdings" panose="05000000000000000000" charset="0"/>
              <a:buChar char="v"/>
            </a:pPr>
            <a:r>
              <a:rPr lang="en-US"/>
              <a:t>Here, if x is negative, an AssertionError is raised with the specified error message. Unlike raise, assert is typically disabled in optimized Python code.</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0" y="635"/>
            <a:ext cx="12192000" cy="685736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5412</Words>
  <Application>WPS Presentation</Application>
  <PresentationFormat>Widescreen</PresentationFormat>
  <Paragraphs>156</Paragraphs>
  <Slides>14</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14</vt:i4>
      </vt:variant>
    </vt:vector>
  </HeadingPairs>
  <TitlesOfParts>
    <vt:vector size="34" baseType="lpstr">
      <vt:lpstr>Arial</vt:lpstr>
      <vt:lpstr>SimSun</vt:lpstr>
      <vt:lpstr>Wingdings</vt:lpstr>
      <vt:lpstr>Wingdings</vt:lpstr>
      <vt:lpstr>Broadway</vt:lpstr>
      <vt:lpstr>Microsoft YaHei</vt:lpstr>
      <vt:lpstr>Arial Unicode MS</vt:lpstr>
      <vt:lpstr>Calibri Light</vt:lpstr>
      <vt:lpstr>Calibri</vt:lpstr>
      <vt:lpstr>Blackoak Std</vt:lpstr>
      <vt:lpstr>Arial Black</vt:lpstr>
      <vt:lpstr>Constantia</vt:lpstr>
      <vt:lpstr>Cooper Black</vt:lpstr>
      <vt:lpstr>Cooper Std Black</vt:lpstr>
      <vt:lpstr>Copperplate Gothic Bold</vt:lpstr>
      <vt:lpstr>Eras Light ITC</vt:lpstr>
      <vt:lpstr>Eras Bold ITC</vt:lpstr>
      <vt:lpstr>Elephant</vt:lpstr>
      <vt:lpstr>Engravers MT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Rahul</cp:lastModifiedBy>
  <cp:revision>6</cp:revision>
  <dcterms:created xsi:type="dcterms:W3CDTF">2024-05-02T15:06:00Z</dcterms:created>
  <dcterms:modified xsi:type="dcterms:W3CDTF">2024-05-13T12:22:33Z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A6722BD61E5E477EA93016EE5BE634C2_11</vt:lpwstr>
  </property>
  <property fmtid="{D5CDD505-2E9C-101B-9397-08002B2CF9AE}" pid="3" name="KSOProductBuildVer">
    <vt:lpwstr>1033-12.2.0.16909</vt:lpwstr>
  </property>
</Properties>
</file>