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59" r:id="rId4"/>
    <p:sldId id="260" r:id="rId5"/>
    <p:sldId id="258" r:id="rId6"/>
    <p:sldId id="270" r:id="rId7"/>
    <p:sldId id="261" r:id="rId8"/>
    <p:sldId id="262" r:id="rId9"/>
    <p:sldId id="263" r:id="rId10"/>
    <p:sldId id="271" r:id="rId11"/>
    <p:sldId id="264" r:id="rId12"/>
    <p:sldId id="265" r:id="rId13"/>
    <p:sldId id="266" r:id="rId14"/>
    <p:sldId id="272" r:id="rId15"/>
    <p:sldId id="28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9850" y="36830"/>
            <a:ext cx="12339320" cy="683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-635" y="13970"/>
            <a:ext cx="12076430" cy="38461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C00000"/>
                </a:solidFill>
                <a:latin typeface="Broadway" panose="04040905080B02020502" charset="0"/>
                <a:cs typeface="Broadway" panose="04040905080B02020502" charset="0"/>
              </a:rPr>
              <a:t>What is a variable?</a:t>
            </a:r>
            <a:endParaRPr lang="en-US" sz="2800" u="sng">
              <a:solidFill>
                <a:srgbClr val="C0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Variable is like a container that holds data.Creating a variable is like creating a placeholder in memory and assigning it some value. 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An </a:t>
            </a:r>
            <a:r>
              <a:rPr lang="en-US">
                <a:solidFill>
                  <a:srgbClr val="00B0F0"/>
                </a:solidFill>
              </a:rPr>
              <a:t>assignment </a:t>
            </a:r>
            <a:r>
              <a:rPr lang="en-US"/>
              <a:t>in Python is the process of assigning a value to a variable. This is typically done using the assignment operator "</a:t>
            </a:r>
            <a:r>
              <a:rPr lang="en-US">
                <a:solidFill>
                  <a:srgbClr val="00B0F0"/>
                </a:solidFill>
              </a:rPr>
              <a:t>=</a:t>
            </a:r>
            <a:r>
              <a:rPr lang="en-US"/>
              <a:t>", like this: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a = 1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b = True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c = "Harry"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d = None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These are four variables of different data types.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0" y="4192905"/>
            <a:ext cx="12190730" cy="2664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C00000"/>
                </a:solidFill>
                <a:latin typeface="Broadway" panose="04040905080B02020502" charset="0"/>
                <a:cs typeface="Broadway" panose="04040905080B02020502" charset="0"/>
              </a:rPr>
              <a:t>What is a Data Type?</a:t>
            </a:r>
            <a:endParaRPr lang="en-US" sz="2800" u="sng">
              <a:solidFill>
                <a:srgbClr val="C0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Data type specifies the type of value a variable holds.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In python, we can print the type of any operator using type function: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a = 1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print(type(a))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b = "1"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print(type(b))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0" y="0"/>
            <a:ext cx="1219136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C00000"/>
                </a:solidFill>
                <a:latin typeface="Broadway" panose="04040905080B02020502" charset="0"/>
                <a:cs typeface="Broadway" panose="04040905080B02020502" charset="0"/>
              </a:rPr>
              <a:t>By default, python provides the following built-in data types:</a:t>
            </a:r>
            <a:endParaRPr lang="en-US" sz="2800" u="sng">
              <a:solidFill>
                <a:srgbClr val="C00000"/>
              </a:solidFill>
              <a:latin typeface="Broadway" panose="04040905080B02020502" charset="0"/>
              <a:cs typeface="Broadway" panose="04040905080B02020502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1044575"/>
            <a:ext cx="681101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u="sng">
                <a:solidFill>
                  <a:schemeClr val="accent1">
                    <a:lumMod val="75000"/>
                  </a:schemeClr>
                </a:solidFill>
              </a:rPr>
              <a:t>1. Numeric data:</a:t>
            </a: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/>
              <a:t>int, float, complex</a:t>
            </a:r>
            <a:endParaRPr lang="en-US"/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int: 3, -8, 0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float: 7.349, -9.0, 0.0000001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complex: 6 + 2i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0" y="2611755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u="sng">
                <a:solidFill>
                  <a:schemeClr val="accent1">
                    <a:lumMod val="75000"/>
                  </a:schemeClr>
                </a:solidFill>
              </a:rPr>
              <a:t>2. Text data:</a:t>
            </a:r>
            <a:r>
              <a:rPr lang="en-US"/>
              <a:t> str</a:t>
            </a:r>
            <a:endParaRPr lang="en-US"/>
          </a:p>
          <a:p>
            <a:endParaRPr lang="en-US"/>
          </a:p>
          <a:p>
            <a:r>
              <a:rPr lang="en-IN" altLang="en-US" u="sng">
                <a:solidFill>
                  <a:schemeClr val="accent1">
                    <a:lumMod val="75000"/>
                  </a:schemeClr>
                </a:solidFill>
              </a:rPr>
              <a:t>code:</a:t>
            </a:r>
            <a:endParaRPr lang="en-IN" altLang="en-US" u="sng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altLang="en-US">
                <a:solidFill>
                  <a:schemeClr val="bg1"/>
                </a:solidFill>
                <a:highlight>
                  <a:srgbClr val="000000"/>
                </a:highlight>
              </a:rPr>
              <a:t>a = “Hello World”</a:t>
            </a:r>
            <a:endParaRPr lang="en-IN" alt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IN" altLang="en-US">
                <a:solidFill>
                  <a:schemeClr val="bg1"/>
                </a:solidFill>
                <a:highlight>
                  <a:srgbClr val="000000"/>
                </a:highlight>
              </a:rPr>
              <a:t>print(a)</a:t>
            </a:r>
            <a:endParaRPr lang="en-IN" alt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/>
          </a:p>
          <a:p>
            <a:r>
              <a:rPr lang="en-US" u="sng">
                <a:solidFill>
                  <a:schemeClr val="accent1">
                    <a:lumMod val="75000"/>
                  </a:schemeClr>
                </a:solidFill>
              </a:rPr>
              <a:t>3. Boolean data:</a:t>
            </a:r>
            <a:endParaRPr lang="en-US" u="sng">
              <a:solidFill>
                <a:schemeClr val="accent1">
                  <a:lumMod val="75000"/>
                </a:schemeClr>
              </a:solidFill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Boolean data consists of values True or False.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r>
              <a:rPr lang="en-IN" altLang="en-US" u="sng">
                <a:solidFill>
                  <a:schemeClr val="accent1"/>
                </a:solidFill>
              </a:rPr>
              <a:t>code:</a:t>
            </a:r>
            <a:endParaRPr lang="en-IN" altLang="en-US" u="sng">
              <a:solidFill>
                <a:schemeClr val="accent1"/>
              </a:solidFill>
            </a:endParaRPr>
          </a:p>
          <a:p>
            <a:r>
              <a:rPr lang="en-IN" altLang="en-US">
                <a:solidFill>
                  <a:schemeClr val="bg1"/>
                </a:solidFill>
                <a:highlight>
                  <a:srgbClr val="000000"/>
                </a:highlight>
              </a:rPr>
              <a:t>a = True</a:t>
            </a:r>
            <a:endParaRPr lang="en-IN" alt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IN" altLang="en-US">
                <a:solidFill>
                  <a:schemeClr val="bg1"/>
                </a:solidFill>
                <a:highlight>
                  <a:srgbClr val="000000"/>
                </a:highlight>
              </a:rPr>
              <a:t>b = False</a:t>
            </a:r>
            <a:endParaRPr lang="en-IN" alt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IN" altLang="en-US">
                <a:solidFill>
                  <a:schemeClr val="bg1"/>
                </a:solidFill>
                <a:highlight>
                  <a:srgbClr val="000000"/>
                </a:highlight>
              </a:rPr>
              <a:t>print(a)</a:t>
            </a:r>
            <a:endParaRPr lang="en-IN" alt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IN" altLang="en-US">
                <a:solidFill>
                  <a:schemeClr val="bg1"/>
                </a:solidFill>
                <a:highlight>
                  <a:srgbClr val="000000"/>
                </a:highlight>
              </a:rPr>
              <a:t>print(b)</a:t>
            </a:r>
            <a:endParaRPr lang="en-IN" altLang="en-US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635" y="0"/>
            <a:ext cx="12191365" cy="685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u="sng">
                <a:solidFill>
                  <a:srgbClr val="00B0F0"/>
                </a:solidFill>
              </a:rPr>
              <a:t>4. Sequenced data: list, tuple</a:t>
            </a:r>
            <a:endParaRPr lang="en-US" u="sng">
              <a:solidFill>
                <a:srgbClr val="00B0F0"/>
              </a:solidFill>
            </a:endParaRPr>
          </a:p>
          <a:p>
            <a:endParaRPr lang="en-US"/>
          </a:p>
          <a:p>
            <a:r>
              <a:rPr lang="en-IN" altLang="en-US" u="sng">
                <a:solidFill>
                  <a:srgbClr val="00B0F0"/>
                </a:solidFill>
              </a:rPr>
              <a:t>List: </a:t>
            </a:r>
            <a:endParaRPr lang="en-IN" altLang="en-US" u="sng">
              <a:solidFill>
                <a:srgbClr val="00B0F0"/>
              </a:solidFill>
            </a:endParaRPr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list1 = [8, 2.3, [-4, 5], ["apple", "banana"]]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print(list1)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Output: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[8, 2.3, [-4, 5], ['apple', 'banana']]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/>
          </a:p>
          <a:p>
            <a:r>
              <a:rPr lang="en-US" u="sng">
                <a:solidFill>
                  <a:srgbClr val="00B0F0"/>
                </a:solidFill>
              </a:rPr>
              <a:t>Tuple</a:t>
            </a:r>
            <a:r>
              <a:rPr lang="en-IN" altLang="en-US" u="sng">
                <a:solidFill>
                  <a:srgbClr val="00B0F0"/>
                </a:solidFill>
              </a:rPr>
              <a:t>:</a:t>
            </a:r>
            <a:endParaRPr lang="en-US" u="sng">
              <a:solidFill>
                <a:srgbClr val="00B0F0"/>
              </a:solidFill>
            </a:endParaRPr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tuple1 = (("parrot", "sparrow"), ("Lion", "Tiger"))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print(tuple1)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Output: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(('parrot', 'sparrow'), ('Lion', 'Tiger'))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/>
          </a:p>
          <a:p>
            <a:r>
              <a:rPr lang="en-US" u="sng">
                <a:solidFill>
                  <a:srgbClr val="00B0F0"/>
                </a:solidFill>
              </a:rPr>
              <a:t>5. Mapped data: dict</a:t>
            </a:r>
            <a:endParaRPr lang="en-US" u="sng">
              <a:solidFill>
                <a:srgbClr val="00B0F0"/>
              </a:solidFill>
            </a:endParaRPr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dict1 = {"name":"Sakshi", "age":20, "canVote":True}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print(dict1)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Output: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{'name': 'Sakshi', 'age': 20, 'canVote': True}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-635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12192000" cy="37230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C00000"/>
                </a:solidFill>
                <a:latin typeface="Broadway" panose="04040905080B02020502" charset="0"/>
                <a:cs typeface="Broadway" panose="04040905080B02020502" charset="0"/>
              </a:rPr>
              <a:t>Typecasting in python</a:t>
            </a:r>
            <a:endParaRPr lang="en-US" sz="2800" u="sng">
              <a:solidFill>
                <a:srgbClr val="C0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The conversion of one data type into the other data type is known as type casting in python or type conversion in python.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Python supports a wide variety of functions or methods like: int(), float(), str(), ord(), hex(), oct(), tuple(), set(), list(), dict(), etc. for the type casting in python.</a:t>
            </a:r>
            <a:endParaRPr lang="en-US"/>
          </a:p>
          <a:p>
            <a:endParaRPr lang="en-US"/>
          </a:p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C00000"/>
                </a:solidFill>
                <a:latin typeface="Broadway" panose="04040905080B02020502" charset="0"/>
                <a:cs typeface="Broadway" panose="04040905080B02020502" charset="0"/>
              </a:rPr>
              <a:t>Two Types of Typecasting:</a:t>
            </a:r>
            <a:endParaRPr lang="en-US" sz="2800" u="sng">
              <a:solidFill>
                <a:srgbClr val="C0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Explicit Conversion (Explicit type casting in python)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Implicit Conversion (Implicit type casting in python).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0" y="5047615"/>
            <a:ext cx="12192635" cy="18103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/>
              <a:t>The conversion of one data type into another data type, done via developer or programmer's intervention or manually as per the requirement, is known as explicit type conversion.</a:t>
            </a:r>
            <a:endParaRPr lang="en-US"/>
          </a:p>
          <a:p>
            <a:endParaRPr lang="en-US"/>
          </a:p>
          <a:p>
            <a:r>
              <a:rPr lang="en-US"/>
              <a:t>It can be achieved with the help of Python’s built-in type conversion functions such as int(), float(), hex(), oct(), str(), etc .</a:t>
            </a:r>
            <a:endParaRPr lang="en-US"/>
          </a:p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0" y="425831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C00000"/>
                </a:solidFill>
                <a:latin typeface="Broadway" panose="04040905080B02020502" charset="0"/>
                <a:cs typeface="Broadway" panose="04040905080B02020502" charset="0"/>
              </a:rPr>
              <a:t>Explicit typecasting:</a:t>
            </a:r>
            <a:endParaRPr lang="en-US" sz="2800" u="sng">
              <a:solidFill>
                <a:srgbClr val="C00000"/>
              </a:solidFill>
              <a:latin typeface="Broadway" panose="04040905080B02020502" charset="0"/>
              <a:cs typeface="Broadway" panose="04040905080B0202050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12192000" cy="2183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Ø"/>
            </a:pPr>
            <a:r>
              <a:rPr lang="en-US" sz="2800" u="sng">
                <a:solidFill>
                  <a:srgbClr val="00B0F0"/>
                </a:solidFill>
              </a:rPr>
              <a:t>Example of explicit typecasting:</a:t>
            </a:r>
            <a:endParaRPr lang="en-US" sz="2800" u="sng">
              <a:solidFill>
                <a:srgbClr val="00B0F0"/>
              </a:solidFill>
            </a:endParaRPr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string = "15"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number = 7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string_number = int(string) #throws an error if the string is not a valid integer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sum= number + string_number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print("The Sum of both the numbers is: ", sum)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4925" y="250698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rgbClr val="0070C0"/>
                </a:solidFill>
                <a:highlight>
                  <a:srgbClr val="000000"/>
                </a:highlight>
              </a:rPr>
              <a:t>Output:</a:t>
            </a:r>
            <a:endParaRPr lang="en-US">
              <a:solidFill>
                <a:srgbClr val="0070C0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The Sum of both the numbers is 22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34925" y="390080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C00000"/>
                </a:solidFill>
                <a:latin typeface="Broadway" panose="04040905080B02020502" charset="0"/>
                <a:cs typeface="Broadway" panose="04040905080B02020502" charset="0"/>
                <a:sym typeface="+mn-ea"/>
              </a:rPr>
              <a:t>Implicit typecasting</a:t>
            </a:r>
            <a:endParaRPr lang="en-US" sz="2800" u="sng">
              <a:solidFill>
                <a:srgbClr val="C00000"/>
              </a:solidFill>
              <a:latin typeface="Broadway" panose="04040905080B02020502" charset="0"/>
              <a:cs typeface="Broadway" panose="04040905080B02020502" charset="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0" y="4607560"/>
            <a:ext cx="115220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ym typeface="+mn-ea"/>
              </a:rPr>
              <a:t>Implicit typecasting in Python automatically converts lower data types to higher ones during operations to prevent data loss.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949960"/>
            <a:ext cx="6096000" cy="5908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# Python automatically converts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# a to int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a = 7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print(type(a))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 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# Python automatically converts b to float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b = 3.0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print(type(b))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 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# Python automatically converts c to float as it is a float addition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c = a + b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print(c)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print(type(c))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rgbClr val="0070C0"/>
                </a:solidFill>
                <a:highlight>
                  <a:srgbClr val="000000"/>
                </a:highlight>
                <a:sym typeface="+mn-ea"/>
              </a:rPr>
              <a:t>Ouput:</a:t>
            </a:r>
            <a:endParaRPr lang="en-US">
              <a:solidFill>
                <a:srgbClr val="0070C0"/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&lt;class 'int'&gt;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&lt;class 'float'&gt;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10.0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&lt;class 'float'&gt;</a:t>
            </a:r>
            <a:endParaRPr lang="en-US">
              <a:solidFill>
                <a:schemeClr val="bg1"/>
              </a:solidFill>
              <a:highlight>
                <a:srgbClr val="000000"/>
              </a:highlight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Ø"/>
            </a:pPr>
            <a:r>
              <a:rPr lang="en-US" sz="2800" u="sng">
                <a:solidFill>
                  <a:srgbClr val="00B0F0"/>
                </a:solidFill>
                <a:sym typeface="+mn-ea"/>
              </a:rPr>
              <a:t>Example of implicit type casting:</a:t>
            </a:r>
            <a:endParaRPr lang="en-US" sz="2800" u="sng">
              <a:solidFill>
                <a:srgbClr val="00B0F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" y="-6985"/>
            <a:ext cx="12181205" cy="6865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12192635" cy="3569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C00000"/>
                </a:solidFill>
                <a:latin typeface="Broadway" panose="04040905080B02020502" charset="0"/>
                <a:cs typeface="Broadway" panose="04040905080B02020502" charset="0"/>
              </a:rPr>
              <a:t>What are strings?</a:t>
            </a:r>
            <a:endParaRPr lang="en-US" sz="2800" u="sng">
              <a:solidFill>
                <a:srgbClr val="C0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In python, anything that you enclose between single or double quotation marks is considered a string. A string is essentially a sequence or array of textual data. Strings are used when working with Unicode characters.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u="sng"/>
              <a:t>Example</a:t>
            </a:r>
            <a:endParaRPr lang="en-US" u="sng"/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name = "Harry"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print("Hello, " + name)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rgbClr val="00B0F0"/>
                </a:solidFill>
                <a:highlight>
                  <a:srgbClr val="000000"/>
                </a:highlight>
              </a:rPr>
              <a:t>Output</a:t>
            </a:r>
            <a:endParaRPr lang="en-US">
              <a:solidFill>
                <a:srgbClr val="00B0F0"/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Hello, Harry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4087495"/>
            <a:ext cx="12193270" cy="2183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C00000"/>
                </a:solidFill>
                <a:latin typeface="Broadway" panose="04040905080B02020502" charset="0"/>
                <a:cs typeface="Broadway" panose="04040905080B02020502" charset="0"/>
              </a:rPr>
              <a:t>Accessing Characters of a String</a:t>
            </a:r>
            <a:endParaRPr lang="en-US" sz="2800" u="sng">
              <a:solidFill>
                <a:srgbClr val="C0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In Python, string is like an array of characters. We can access parts of string by using its index which starts from 0.</a:t>
            </a:r>
            <a:endParaRPr lang="en-US"/>
          </a:p>
          <a:p>
            <a:r>
              <a:rPr lang="en-US"/>
              <a:t>Square brackets can be used to access elements of the string.</a:t>
            </a:r>
            <a:endParaRPr lang="en-US"/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print(name[0])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print(name[1])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0"/>
            <a:ext cx="12192000" cy="439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C00000"/>
                </a:solidFill>
                <a:latin typeface="Broadway" panose="04040905080B02020502" charset="0"/>
                <a:cs typeface="Broadway" panose="04040905080B02020502" charset="0"/>
              </a:rPr>
              <a:t>String Slicing &amp; Operations on String</a:t>
            </a:r>
            <a:endParaRPr lang="en-US" sz="2800" u="sng">
              <a:solidFill>
                <a:srgbClr val="C0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u="sng">
                <a:solidFill>
                  <a:srgbClr val="00B0F0"/>
                </a:solidFill>
              </a:rPr>
              <a:t>Length of a String</a:t>
            </a:r>
            <a:r>
              <a:rPr lang="en-IN" altLang="en-US" u="sng">
                <a:solidFill>
                  <a:srgbClr val="00B0F0"/>
                </a:solidFill>
              </a:rPr>
              <a:t>:</a:t>
            </a:r>
            <a:endParaRPr lang="en-US" u="sng">
              <a:solidFill>
                <a:srgbClr val="00B0F0"/>
              </a:solidFill>
            </a:endParaRPr>
          </a:p>
          <a:p>
            <a:pPr indent="0">
              <a:buFont typeface="Wingdings" panose="05000000000000000000" charset="0"/>
              <a:buNone/>
            </a:pP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We can find the length of a string using len() function.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u="sng">
                <a:solidFill>
                  <a:srgbClr val="00B0F0"/>
                </a:solidFill>
              </a:rPr>
              <a:t>Example:</a:t>
            </a:r>
            <a:endParaRPr lang="en-US" u="sng">
              <a:solidFill>
                <a:srgbClr val="00B0F0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fruit = "Mango"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len1 = len(fruit)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print("Mango is a", len1, "letter word.")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/>
          </a:p>
          <a:p>
            <a:r>
              <a:rPr lang="en-US">
                <a:solidFill>
                  <a:srgbClr val="00B0F0"/>
                </a:solidFill>
                <a:highlight>
                  <a:srgbClr val="000000"/>
                </a:highlight>
              </a:rPr>
              <a:t>Output:</a:t>
            </a:r>
            <a:endParaRPr lang="en-US">
              <a:solidFill>
                <a:srgbClr val="00B0F0"/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Mango is a 5 letter word.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0" y="0"/>
            <a:ext cx="12192635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C00000"/>
                </a:solidFill>
                <a:latin typeface="Broadway" panose="04040905080B02020502" charset="0"/>
                <a:cs typeface="Broadway" panose="04040905080B02020502" charset="0"/>
              </a:rPr>
              <a:t>String as an array</a:t>
            </a:r>
            <a:endParaRPr lang="en-US" sz="2800" u="sng">
              <a:solidFill>
                <a:srgbClr val="C0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A string is essentially a sequence of characters also called an array. Thus we can access the elements of this array.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u="sng">
                <a:solidFill>
                  <a:srgbClr val="00B0F0"/>
                </a:solidFill>
              </a:rPr>
              <a:t>Example:</a:t>
            </a:r>
            <a:endParaRPr lang="en-US" u="sng">
              <a:solidFill>
                <a:srgbClr val="00B0F0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u="sng">
              <a:solidFill>
                <a:srgbClr val="00B0F0"/>
              </a:solidFill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pie = "ApplePie"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print(pie[:5])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print(pie[6])	#returns character at specified index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0" y="2861310"/>
            <a:ext cx="6096000" cy="41230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C00000"/>
                </a:solidFill>
                <a:latin typeface="Broadway" panose="04040905080B02020502" charset="0"/>
                <a:cs typeface="Broadway" panose="04040905080B02020502" charset="0"/>
              </a:rPr>
              <a:t>Slicing Example:</a:t>
            </a:r>
            <a:endParaRPr lang="en-US" sz="2800" u="sng">
              <a:solidFill>
                <a:srgbClr val="C0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pie = "ApplePie"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print(pie[:5])      #Slicing from Start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print(pie[5:])      #Slicing till End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print(pie[2:6])     #Slicing in between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print(pie[-8:])     #Slicing using negative index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rgbClr val="00B0F0"/>
                </a:solidFill>
                <a:highlight>
                  <a:srgbClr val="000000"/>
                </a:highlight>
              </a:rPr>
              <a:t>Output:</a:t>
            </a:r>
            <a:endParaRPr lang="en-US">
              <a:solidFill>
                <a:srgbClr val="00B0F0"/>
              </a:solidFill>
              <a:highlight>
                <a:srgbClr val="000000"/>
              </a:highlight>
            </a:endParaRPr>
          </a:p>
          <a:p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Apple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Pie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pleP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</a:rPr>
              <a:t>ApplePie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003925" y="125095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olidFill>
                  <a:srgbClr val="00B0F0"/>
                </a:solidFill>
                <a:highlight>
                  <a:srgbClr val="000000"/>
                </a:highlight>
                <a:sym typeface="+mn-ea"/>
              </a:rPr>
              <a:t>Output:</a:t>
            </a:r>
            <a:endParaRPr lang="en-US">
              <a:solidFill>
                <a:srgbClr val="00B0F0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Apple</a:t>
            </a:r>
            <a:endParaRPr 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sym typeface="+mn-ea"/>
              </a:rPr>
              <a:t>i</a:t>
            </a:r>
            <a:endParaRPr lang="en-US">
              <a:solidFill>
                <a:schemeClr val="bg1"/>
              </a:solidFill>
              <a:highlight>
                <a:srgbClr val="000000"/>
              </a:highlight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5710" y="3855720"/>
            <a:ext cx="5876925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1160145"/>
            <a:ext cx="12191365" cy="569785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22250" y="95885"/>
            <a:ext cx="56045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C00000"/>
                </a:solidFill>
                <a:latin typeface="Broadway" panose="04040905080B02020502" charset="0"/>
                <a:cs typeface="Broadway" panose="04040905080B02020502" charset="0"/>
              </a:rPr>
              <a:t>String Methods in Python</a:t>
            </a:r>
            <a:endParaRPr lang="en-US" sz="2800" u="sng">
              <a:solidFill>
                <a:srgbClr val="C00000"/>
              </a:solidFill>
              <a:latin typeface="Broadway" panose="04040905080B02020502" charset="0"/>
              <a:cs typeface="Broadway" panose="04040905080B0202050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4002</Words>
  <Application>WPS Presentation</Application>
  <PresentationFormat>Widescreen</PresentationFormat>
  <Paragraphs>196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Wingdings</vt:lpstr>
      <vt:lpstr>Broadway</vt:lpstr>
      <vt:lpstr>Microsoft YaHei</vt:lpstr>
      <vt:lpstr>Arial Unicode MS</vt:lpstr>
      <vt:lpstr>Calibri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Rahul</dc:creator>
  <cp:lastModifiedBy>Rahul</cp:lastModifiedBy>
  <cp:revision>11</cp:revision>
  <dcterms:created xsi:type="dcterms:W3CDTF">2024-04-29T19:18:00Z</dcterms:created>
  <dcterms:modified xsi:type="dcterms:W3CDTF">2024-05-04T14:41:42Z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A8EB28655CD84B6BAE515072137FCED4_12</vt:lpwstr>
  </property>
  <property fmtid="{D5CDD505-2E9C-101B-9397-08002B2CF9AE}" pid="3" name="KSOProductBuildVer">
    <vt:lpwstr>1033-12.2.0.16909</vt:lpwstr>
  </property>
</Properties>
</file>