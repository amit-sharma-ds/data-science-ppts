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3" r:id="rId3"/>
    <p:sldId id="285" r:id="rId4"/>
    <p:sldId id="264" r:id="rId5"/>
    <p:sldId id="265" r:id="rId6"/>
    <p:sldId id="274" r:id="rId7"/>
    <p:sldId id="275" r:id="rId8"/>
    <p:sldId id="266" r:id="rId9"/>
    <p:sldId id="267" r:id="rId10"/>
    <p:sldId id="268" r:id="rId11"/>
    <p:sldId id="269" r:id="rId12"/>
    <p:sldId id="270" r:id="rId13"/>
    <p:sldId id="271" r:id="rId14"/>
    <p:sldId id="260" r:id="rId15"/>
    <p:sldId id="259" r:id="rId16"/>
    <p:sldId id="258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2154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825" cy="685863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0" y="0"/>
            <a:ext cx="936561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457200" indent="-457200">
              <a:buFont typeface="Wingdings" panose="05000000000000000000" charset="0"/>
              <a:buChar char="q"/>
            </a:pPr>
            <a:r>
              <a:rPr lang="en-US" sz="2800" u="sng">
                <a:solidFill>
                  <a:srgbClr val="FF0000"/>
                </a:solidFill>
                <a:latin typeface="Broadway" panose="04040905080B02020502" charset="0"/>
                <a:cs typeface="Broadway" panose="04040905080B02020502" charset="0"/>
              </a:rPr>
              <a:t>What is Programming and Python?</a:t>
            </a:r>
            <a:endParaRPr lang="en-US" sz="2800" u="sng">
              <a:solidFill>
                <a:srgbClr val="FF0000"/>
              </a:solidFill>
              <a:latin typeface="Broadway" panose="04040905080B02020502" charset="0"/>
              <a:cs typeface="Broadway" panose="04040905080B02020502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-635" y="732155"/>
            <a:ext cx="11565255" cy="20300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85750" indent="-285750">
              <a:buFont typeface="Wingdings" panose="05000000000000000000" charset="0"/>
              <a:buChar char="Ø"/>
            </a:pPr>
            <a:r>
              <a:rPr lang="en-US">
                <a:solidFill>
                  <a:srgbClr val="00B0F0"/>
                </a:solidFill>
              </a:rPr>
              <a:t>Programming is a way for us to tell computers what to do.</a:t>
            </a:r>
            <a:r>
              <a:rPr lang="en-US"/>
              <a:t> Computer is a very dumb machine and it only does what we tell it to do. Hence we learn programming and tell computers to do what we are very slow at - computation. If I ask you to calculate 5+6, you will immediately say 11. How about 23453453 X 56456?</a:t>
            </a:r>
            <a:endParaRPr lang="en-US"/>
          </a:p>
          <a:p>
            <a:pPr marL="285750" indent="-285750">
              <a:buFont typeface="Wingdings" panose="05000000000000000000" charset="0"/>
              <a:buChar char="Ø"/>
            </a:pPr>
            <a:endParaRPr lang="en-US"/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/>
              <a:t>You will start searching for a calculator or jump to a new tab to calculate the same. This  series will help you learn python from starting to the end. We will start from 0 and by the time we end this course, I promise you will be a Job ready Python developer!</a:t>
            </a:r>
            <a:endParaRPr lang="en-US"/>
          </a:p>
        </p:txBody>
      </p:sp>
      <p:sp>
        <p:nvSpPr>
          <p:cNvPr id="6" name="Text Box 5"/>
          <p:cNvSpPr txBox="1"/>
          <p:nvPr/>
        </p:nvSpPr>
        <p:spPr>
          <a:xfrm>
            <a:off x="-635" y="3234690"/>
            <a:ext cx="6096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457200" indent="-457200">
              <a:buFont typeface="Wingdings" panose="05000000000000000000" charset="0"/>
              <a:buChar char="q"/>
            </a:pPr>
            <a:r>
              <a:rPr lang="en-US" sz="2800" u="sng">
                <a:solidFill>
                  <a:srgbClr val="FF0000"/>
                </a:solidFill>
                <a:latin typeface="Broadway" panose="04040905080B02020502" charset="0"/>
                <a:cs typeface="Broadway" panose="04040905080B02020502" charset="0"/>
              </a:rPr>
              <a:t>What is Python?</a:t>
            </a:r>
            <a:endParaRPr lang="en-US" sz="2800" u="sng">
              <a:solidFill>
                <a:srgbClr val="FF0000"/>
              </a:solidFill>
              <a:latin typeface="Broadway" panose="04040905080B02020502" charset="0"/>
              <a:cs typeface="Broadway" panose="04040905080B02020502" charset="0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-635" y="3637280"/>
            <a:ext cx="11286490" cy="1476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endParaRPr lang="en-US"/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/>
              <a:t>    Python is a dynamically typed, general purpose programming language that supports an </a:t>
            </a:r>
            <a:r>
              <a:rPr lang="en-US">
                <a:solidFill>
                  <a:srgbClr val="00B0F0"/>
                </a:solidFill>
              </a:rPr>
              <a:t>object-oriente</a:t>
            </a:r>
            <a:r>
              <a:rPr lang="en-US"/>
              <a:t>d </a:t>
            </a:r>
            <a:r>
              <a:rPr lang="en-US">
                <a:solidFill>
                  <a:srgbClr val="00B0F0"/>
                </a:solidFill>
              </a:rPr>
              <a:t>programming</a:t>
            </a:r>
            <a:r>
              <a:rPr lang="en-US"/>
              <a:t> </a:t>
            </a:r>
            <a:r>
              <a:rPr lang="en-US">
                <a:solidFill>
                  <a:srgbClr val="00B0F0"/>
                </a:solidFill>
              </a:rPr>
              <a:t>approach</a:t>
            </a:r>
            <a:r>
              <a:rPr lang="en-US"/>
              <a:t> as well as a </a:t>
            </a:r>
            <a:r>
              <a:rPr lang="en-US">
                <a:solidFill>
                  <a:srgbClr val="00B0F0"/>
                </a:solidFill>
              </a:rPr>
              <a:t>functional programming approach</a:t>
            </a:r>
            <a:r>
              <a:rPr lang="en-US"/>
              <a:t>.</a:t>
            </a:r>
            <a:endParaRPr lang="en-US"/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/>
              <a:t>    Python is an interpreted and a high-level programming language.</a:t>
            </a:r>
            <a:endParaRPr lang="en-US"/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/>
              <a:t>    It was created by </a:t>
            </a:r>
            <a:r>
              <a:rPr lang="en-US">
                <a:solidFill>
                  <a:srgbClr val="00B0F0"/>
                </a:solidFill>
              </a:rPr>
              <a:t>Guido Van Rossum in 1989.</a:t>
            </a:r>
            <a:endParaRPr lang="en-US">
              <a:solidFill>
                <a:srgbClr val="00B0F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0" y="0"/>
            <a:ext cx="12192635" cy="21837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457200" indent="-457200">
              <a:buFont typeface="Wingdings" panose="05000000000000000000" charset="0"/>
              <a:buChar char="q"/>
            </a:pPr>
            <a:r>
              <a:rPr lang="en-US" sz="2800" u="sng">
                <a:solidFill>
                  <a:srgbClr val="FF0000"/>
                </a:solidFill>
                <a:latin typeface="Broadway" panose="04040905080B02020502" charset="0"/>
                <a:cs typeface="Broadway" panose="04040905080B02020502" charset="0"/>
              </a:rPr>
              <a:t>Features of Python</a:t>
            </a:r>
            <a:endParaRPr lang="en-US" sz="2800" u="sng">
              <a:solidFill>
                <a:srgbClr val="FF0000"/>
              </a:solidFill>
            </a:endParaRPr>
          </a:p>
          <a:p>
            <a:endParaRPr lang="en-US"/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/>
              <a:t>    Python is </a:t>
            </a:r>
            <a:r>
              <a:rPr lang="en-US">
                <a:solidFill>
                  <a:srgbClr val="00B0F0"/>
                </a:solidFill>
              </a:rPr>
              <a:t>simple </a:t>
            </a:r>
            <a:r>
              <a:rPr lang="en-US">
                <a:solidFill>
                  <a:schemeClr val="tx1"/>
                </a:solidFill>
              </a:rPr>
              <a:t>and</a:t>
            </a:r>
            <a:r>
              <a:rPr lang="en-US">
                <a:solidFill>
                  <a:srgbClr val="00B0F0"/>
                </a:solidFill>
              </a:rPr>
              <a:t> easy</a:t>
            </a:r>
            <a:r>
              <a:rPr lang="en-US"/>
              <a:t> to understand.</a:t>
            </a:r>
            <a:endParaRPr lang="en-US"/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/>
              <a:t>    It is </a:t>
            </a:r>
            <a:r>
              <a:rPr lang="en-US">
                <a:solidFill>
                  <a:srgbClr val="00B0F0"/>
                </a:solidFill>
              </a:rPr>
              <a:t>Interpreted</a:t>
            </a:r>
            <a:r>
              <a:rPr lang="en-US"/>
              <a:t> and platform-independent which makes debugging very easy.</a:t>
            </a:r>
            <a:endParaRPr lang="en-US"/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/>
              <a:t>    Python is an </a:t>
            </a:r>
            <a:r>
              <a:rPr lang="en-US">
                <a:solidFill>
                  <a:srgbClr val="00B0F0"/>
                </a:solidFill>
              </a:rPr>
              <a:t>open-source </a:t>
            </a:r>
            <a:r>
              <a:rPr lang="en-US"/>
              <a:t>programming language.</a:t>
            </a:r>
            <a:endParaRPr lang="en-US"/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/>
              <a:t>    Python provides very big library support. Some of the </a:t>
            </a:r>
            <a:r>
              <a:rPr lang="en-US">
                <a:solidFill>
                  <a:srgbClr val="00B0F0"/>
                </a:solidFill>
              </a:rPr>
              <a:t>popular libraries include NumPy, Tensorflow, Selenium, OpenCV, etc.</a:t>
            </a:r>
            <a:endParaRPr lang="en-US">
              <a:solidFill>
                <a:srgbClr val="00B0F0"/>
              </a:solidFill>
            </a:endParaRPr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/>
              <a:t>    It is possible to integrate other programming languages within python.</a:t>
            </a:r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0" y="2811780"/>
            <a:ext cx="12192000" cy="27381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457200" indent="-457200">
              <a:buFont typeface="Wingdings" panose="05000000000000000000" charset="0"/>
              <a:buChar char="q"/>
            </a:pPr>
            <a:r>
              <a:rPr lang="en-US" sz="2800" u="sng">
                <a:solidFill>
                  <a:srgbClr val="FF0000"/>
                </a:solidFill>
                <a:latin typeface="Broadway" panose="04040905080B02020502" charset="0"/>
                <a:cs typeface="Broadway" panose="04040905080B02020502" charset="0"/>
              </a:rPr>
              <a:t>What is Python used for</a:t>
            </a:r>
            <a:endParaRPr lang="en-US"/>
          </a:p>
          <a:p>
            <a:endParaRPr lang="en-US"/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/>
              <a:t>    Python is used in </a:t>
            </a:r>
            <a:r>
              <a:rPr lang="en-US">
                <a:solidFill>
                  <a:srgbClr val="00B0F0"/>
                </a:solidFill>
              </a:rPr>
              <a:t>Data Visualization</a:t>
            </a:r>
            <a:r>
              <a:rPr lang="en-US"/>
              <a:t> to create plots and graphical representations.</a:t>
            </a:r>
            <a:endParaRPr lang="en-US"/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/>
              <a:t>    Python helps in </a:t>
            </a:r>
            <a:r>
              <a:rPr lang="en-US">
                <a:solidFill>
                  <a:srgbClr val="00B0F0"/>
                </a:solidFill>
              </a:rPr>
              <a:t>Data Analytics</a:t>
            </a:r>
            <a:r>
              <a:rPr lang="en-US"/>
              <a:t> to analyze and understand raw data for insights and trends.</a:t>
            </a:r>
            <a:endParaRPr lang="en-US"/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/>
              <a:t>    It is used in </a:t>
            </a:r>
            <a:r>
              <a:rPr lang="en-US">
                <a:solidFill>
                  <a:srgbClr val="00B0F0"/>
                </a:solidFill>
              </a:rPr>
              <a:t>AI</a:t>
            </a:r>
            <a:r>
              <a:rPr lang="en-US"/>
              <a:t> and </a:t>
            </a:r>
            <a:r>
              <a:rPr lang="en-US">
                <a:solidFill>
                  <a:srgbClr val="00B0F0"/>
                </a:solidFill>
              </a:rPr>
              <a:t>Machine Learning</a:t>
            </a:r>
            <a:r>
              <a:rPr lang="en-US"/>
              <a:t> to simulate human behavior and to learn from past data without hard coding.</a:t>
            </a:r>
            <a:endParaRPr lang="en-US"/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/>
              <a:t>    It is used to create </a:t>
            </a:r>
            <a:r>
              <a:rPr lang="en-US">
                <a:solidFill>
                  <a:srgbClr val="00B0F0"/>
                </a:solidFill>
              </a:rPr>
              <a:t>web applications.</a:t>
            </a:r>
            <a:endParaRPr lang="en-US"/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/>
              <a:t>    It can be used to handle </a:t>
            </a:r>
            <a:r>
              <a:rPr lang="en-US">
                <a:solidFill>
                  <a:srgbClr val="00B0F0"/>
                </a:solidFill>
              </a:rPr>
              <a:t>databases.</a:t>
            </a:r>
            <a:endParaRPr lang="en-US">
              <a:solidFill>
                <a:srgbClr val="00B0F0"/>
              </a:solidFill>
            </a:endParaRPr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/>
              <a:t>    It is used in business and accounting to perform </a:t>
            </a:r>
            <a:r>
              <a:rPr lang="en-US">
                <a:solidFill>
                  <a:srgbClr val="00B0F0"/>
                </a:solidFill>
              </a:rPr>
              <a:t>complex mathematical operations</a:t>
            </a:r>
            <a:r>
              <a:rPr lang="en-US"/>
              <a:t> along with quantitative and qualitative analysis.</a:t>
            </a:r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35"/>
            <a:ext cx="12192000" cy="685736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35"/>
            <a:ext cx="12191365" cy="685673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635"/>
            <a:ext cx="12191365" cy="685927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635" y="-635"/>
            <a:ext cx="12193270" cy="685927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199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0" y="711200"/>
            <a:ext cx="1150683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85750" indent="-285750">
              <a:buFont typeface="Wingdings" panose="05000000000000000000" charset="0"/>
              <a:buChar char="Ø"/>
            </a:pPr>
            <a:r>
              <a:rPr lang="en-US"/>
              <a:t>In Python, </a:t>
            </a:r>
            <a:r>
              <a:rPr lang="en-US">
                <a:solidFill>
                  <a:srgbClr val="00B0F0"/>
                </a:solidFill>
              </a:rPr>
              <a:t>IDEs (Integrated Development Environments)</a:t>
            </a:r>
            <a:r>
              <a:rPr lang="en-US"/>
              <a:t> are software applications that provide comprehensive facilities to programmers for software development. </a:t>
            </a:r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0" y="2736850"/>
            <a:ext cx="10224135" cy="36925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rgbClr val="00B0F0"/>
                </a:solidFill>
              </a:rPr>
              <a:t>    Interactive: </a:t>
            </a:r>
            <a:r>
              <a:rPr lang="en-US"/>
              <a:t>Jupyter allows for running code interactively in cells.</a:t>
            </a: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rgbClr val="00B0F0"/>
                </a:solidFill>
              </a:rPr>
              <a:t>    Notebook Format:</a:t>
            </a:r>
            <a:r>
              <a:rPr lang="en-US"/>
              <a:t> Code and text are organized in a notebook-style interface.</a:t>
            </a: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rgbClr val="00B0F0"/>
                </a:solidFill>
              </a:rPr>
              <a:t> </a:t>
            </a:r>
            <a:r>
              <a:rPr lang="en-US"/>
              <a:t>   </a:t>
            </a:r>
            <a:r>
              <a:rPr lang="en-US">
                <a:solidFill>
                  <a:srgbClr val="00B0F0"/>
                </a:solidFill>
              </a:rPr>
              <a:t>Visualization:</a:t>
            </a:r>
            <a:r>
              <a:rPr lang="en-US"/>
              <a:t> Supports rich data visualization inline with code.</a:t>
            </a: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rgbClr val="00B0F0"/>
                </a:solidFill>
              </a:rPr>
              <a:t>  </a:t>
            </a:r>
            <a:r>
              <a:rPr lang="en-US"/>
              <a:t>  </a:t>
            </a:r>
            <a:r>
              <a:rPr lang="en-US">
                <a:solidFill>
                  <a:srgbClr val="00B0F0"/>
                </a:solidFill>
              </a:rPr>
              <a:t>Kernel Support: </a:t>
            </a:r>
            <a:r>
              <a:rPr lang="en-US"/>
              <a:t>Multiple language kernels available, primarily used with Python.</a:t>
            </a: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rgbClr val="00B0F0"/>
                </a:solidFill>
              </a:rPr>
              <a:t>   </a:t>
            </a:r>
            <a:r>
              <a:rPr lang="en-US"/>
              <a:t> </a:t>
            </a:r>
            <a:r>
              <a:rPr lang="en-US">
                <a:solidFill>
                  <a:srgbClr val="00B0F0"/>
                </a:solidFill>
              </a:rPr>
              <a:t>Sharing:</a:t>
            </a:r>
            <a:r>
              <a:rPr lang="en-US"/>
              <a:t> Notebooks can be easily shared and collaborated on.</a:t>
            </a: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rgbClr val="00B0F0"/>
                </a:solidFill>
              </a:rPr>
              <a:t>   </a:t>
            </a:r>
            <a:r>
              <a:rPr lang="en-US"/>
              <a:t> </a:t>
            </a:r>
            <a:r>
              <a:rPr lang="en-US">
                <a:solidFill>
                  <a:srgbClr val="00B0F0"/>
                </a:solidFill>
              </a:rPr>
              <a:t>Extensions:</a:t>
            </a:r>
            <a:r>
              <a:rPr lang="en-US"/>
              <a:t> Offers a variety of extensions for customization and functionality enhancement.</a:t>
            </a: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rgbClr val="00B0F0"/>
                </a:solidFill>
              </a:rPr>
              <a:t>  </a:t>
            </a:r>
            <a:r>
              <a:rPr lang="en-US"/>
              <a:t>  </a:t>
            </a:r>
            <a:r>
              <a:rPr lang="en-US">
                <a:solidFill>
                  <a:srgbClr val="00B0F0"/>
                </a:solidFill>
              </a:rPr>
              <a:t>Educational: </a:t>
            </a:r>
            <a:r>
              <a:rPr lang="en-US"/>
              <a:t>Widely used in education for teaching programming and data science.</a:t>
            </a:r>
            <a:endParaRPr lang="en-US"/>
          </a:p>
        </p:txBody>
      </p:sp>
      <p:sp>
        <p:nvSpPr>
          <p:cNvPr id="6" name="Text Box 5"/>
          <p:cNvSpPr txBox="1"/>
          <p:nvPr/>
        </p:nvSpPr>
        <p:spPr>
          <a:xfrm>
            <a:off x="0" y="0"/>
            <a:ext cx="307721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457200" indent="-457200">
              <a:buFont typeface="Wingdings" panose="05000000000000000000" charset="0"/>
              <a:buChar char="q"/>
            </a:pPr>
            <a:r>
              <a:rPr lang="en-US" sz="2800" u="sng">
                <a:solidFill>
                  <a:srgbClr val="FF0000"/>
                </a:solidFill>
                <a:latin typeface="Broadway" panose="04040905080B02020502" charset="0"/>
                <a:cs typeface="Broadway" panose="04040905080B02020502" charset="0"/>
              </a:rPr>
              <a:t>What is IDEs ?</a:t>
            </a:r>
            <a:endParaRPr lang="en-US" sz="2800" u="sng">
              <a:solidFill>
                <a:srgbClr val="FF0000"/>
              </a:solidFill>
              <a:latin typeface="Broadway" panose="04040905080B02020502" charset="0"/>
              <a:cs typeface="Broadway" panose="04040905080B02020502" charset="0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0" y="2002790"/>
            <a:ext cx="731075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457200" indent="-457200">
              <a:buFont typeface="Wingdings" panose="05000000000000000000" charset="0"/>
              <a:buChar char="q"/>
            </a:pPr>
            <a:r>
              <a:rPr lang="en-US" sz="2800" u="sng">
                <a:solidFill>
                  <a:srgbClr val="FF0000"/>
                </a:solidFill>
                <a:latin typeface="Broadway" panose="04040905080B02020502" charset="0"/>
                <a:cs typeface="Broadway" panose="04040905080B02020502" charset="0"/>
              </a:rPr>
              <a:t>Why Jupyter Notebook ?</a:t>
            </a:r>
            <a:endParaRPr lang="en-US" sz="2800" u="sng">
              <a:solidFill>
                <a:srgbClr val="FF0000"/>
              </a:solidFill>
              <a:latin typeface="Broadway" panose="04040905080B02020502" charset="0"/>
              <a:cs typeface="Broadway" panose="04040905080B02020502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31020" y="2227580"/>
            <a:ext cx="2760980" cy="27609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635" y="0"/>
            <a:ext cx="12192635" cy="685863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0" y="0"/>
            <a:ext cx="12192635" cy="48310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457200" indent="-457200">
              <a:buFont typeface="Wingdings" panose="05000000000000000000" charset="0"/>
              <a:buChar char="q"/>
            </a:pPr>
            <a:r>
              <a:rPr lang="en-US" sz="2800" u="sng">
                <a:solidFill>
                  <a:srgbClr val="FF0000"/>
                </a:solidFill>
                <a:latin typeface="Broadway" panose="04040905080B02020502" charset="0"/>
                <a:cs typeface="Broadway" panose="04040905080B02020502" charset="0"/>
              </a:rPr>
              <a:t>Our First Program</a:t>
            </a:r>
            <a:endParaRPr lang="en-US" sz="2800" u="sng">
              <a:solidFill>
                <a:srgbClr val="FF0000"/>
              </a:solidFill>
              <a:latin typeface="Broadway" panose="04040905080B02020502" charset="0"/>
              <a:cs typeface="Broadway" panose="04040905080B02020502" charset="0"/>
            </a:endParaRPr>
          </a:p>
          <a:p>
            <a:endParaRPr lang="en-US"/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/>
              <a:t>Today we will write our first ever python program from scratch. It will consist of a bunch of print statements. </a:t>
            </a:r>
            <a:r>
              <a:rPr lang="en-US">
                <a:solidFill>
                  <a:srgbClr val="00B0F0"/>
                </a:solidFill>
              </a:rPr>
              <a:t>print</a:t>
            </a:r>
            <a:r>
              <a:rPr lang="en-US"/>
              <a:t> can be used to print something on the console in python</a:t>
            </a:r>
            <a:endParaRPr lang="en-US"/>
          </a:p>
          <a:p>
            <a:endParaRPr lang="en-US"/>
          </a:p>
          <a:p>
            <a:r>
              <a:rPr lang="en-US">
                <a:solidFill>
                  <a:schemeClr val="bg1"/>
                </a:solidFill>
                <a:highlight>
                  <a:srgbClr val="000000"/>
                </a:highlight>
              </a:rPr>
              <a:t>Print(“Hello World”)</a:t>
            </a:r>
            <a:endParaRPr lang="en-US">
              <a:solidFill>
                <a:schemeClr val="bg1"/>
              </a:solidFill>
              <a:highlight>
                <a:srgbClr val="000000"/>
              </a:highlight>
            </a:endParaRPr>
          </a:p>
          <a:p>
            <a:r>
              <a:rPr lang="en-US">
                <a:solidFill>
                  <a:srgbClr val="00B0F0"/>
                </a:solidFill>
                <a:highlight>
                  <a:srgbClr val="000000"/>
                </a:highlight>
              </a:rPr>
              <a:t>output</a:t>
            </a:r>
            <a:endParaRPr lang="en-US">
              <a:solidFill>
                <a:srgbClr val="00B0F0"/>
              </a:solidFill>
              <a:highlight>
                <a:srgbClr val="000000"/>
              </a:highlight>
            </a:endParaRPr>
          </a:p>
          <a:p>
            <a:r>
              <a:rPr lang="en-US">
                <a:solidFill>
                  <a:schemeClr val="bg1"/>
                </a:solidFill>
                <a:highlight>
                  <a:srgbClr val="000000"/>
                </a:highlight>
              </a:rPr>
              <a:t>Hello World</a:t>
            </a:r>
            <a:endParaRPr lang="en-US">
              <a:solidFill>
                <a:schemeClr val="bg1"/>
              </a:solidFill>
              <a:highlight>
                <a:srgbClr val="000000"/>
              </a:highlight>
            </a:endParaRPr>
          </a:p>
          <a:p>
            <a:endParaRPr lang="en-US"/>
          </a:p>
          <a:p>
            <a:pPr marL="457200" indent="-457200">
              <a:buFont typeface="Wingdings" panose="05000000000000000000" charset="0"/>
              <a:buChar char="q"/>
            </a:pPr>
            <a:r>
              <a:rPr lang="en-US" sz="2800" u="sng">
                <a:solidFill>
                  <a:srgbClr val="FF0000"/>
                </a:solidFill>
                <a:latin typeface="Broadway" panose="04040905080B02020502" charset="0"/>
                <a:cs typeface="Broadway" panose="04040905080B02020502" charset="0"/>
              </a:rPr>
              <a:t>Quick Quiz</a:t>
            </a:r>
            <a:endParaRPr lang="en-US" sz="2800" u="sng">
              <a:solidFill>
                <a:srgbClr val="FF0000"/>
              </a:solidFill>
              <a:latin typeface="Broadway" panose="04040905080B02020502" charset="0"/>
              <a:cs typeface="Broadway" panose="04040905080B02020502" charset="0"/>
            </a:endParaRPr>
          </a:p>
          <a:p>
            <a:endParaRPr lang="en-US"/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/>
              <a:t>Write a program to print a poem in Python.</a:t>
            </a:r>
            <a:endParaRPr lang="en-US"/>
          </a:p>
          <a:p>
            <a:endParaRPr lang="en-US"/>
          </a:p>
          <a:p>
            <a:r>
              <a:rPr lang="en-US">
                <a:solidFill>
                  <a:schemeClr val="bg1"/>
                </a:solidFill>
                <a:highlight>
                  <a:srgbClr val="000000"/>
                </a:highlight>
              </a:rPr>
              <a:t>print("---Your poem here---")</a:t>
            </a:r>
            <a:endParaRPr lang="en-US">
              <a:solidFill>
                <a:schemeClr val="bg1"/>
              </a:solidFill>
              <a:highlight>
                <a:srgbClr val="000000"/>
              </a:highlight>
            </a:endParaRPr>
          </a:p>
          <a:p>
            <a:endParaRPr lang="en-US"/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/>
              <a:t>Please make sure you attempt this. Might be easy for some of you but please finish each and every task.</a:t>
            </a:r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Screenshot 2024-05-04 2011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" y="-635"/>
            <a:ext cx="1219136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2980</Words>
  <Application>WPS Presentation</Application>
  <PresentationFormat>Widescreen</PresentationFormat>
  <Paragraphs>65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5" baseType="lpstr">
      <vt:lpstr>Arial</vt:lpstr>
      <vt:lpstr>SimSun</vt:lpstr>
      <vt:lpstr>Wingdings</vt:lpstr>
      <vt:lpstr>Wingdings</vt:lpstr>
      <vt:lpstr>Broadway</vt:lpstr>
      <vt:lpstr>Microsoft YaHei</vt:lpstr>
      <vt:lpstr>Arial Unicode MS</vt:lpstr>
      <vt:lpstr>Calibri Light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/>
  <cp:lastModifiedBy>Rahul</cp:lastModifiedBy>
  <cp:revision>4</cp:revision>
  <dcterms:created xsi:type="dcterms:W3CDTF">2024-05-06T19:04:00Z</dcterms:created>
  <dcterms:modified xsi:type="dcterms:W3CDTF">2024-05-07T04:28:54Z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8EC38A924DF94D4EB80955CC2EF1E4C6_11</vt:lpwstr>
  </property>
  <property fmtid="{D5CDD505-2E9C-101B-9397-08002B2CF9AE}" pid="3" name="KSOProductBuildVer">
    <vt:lpwstr>1033-12.2.0.16909</vt:lpwstr>
  </property>
</Properties>
</file>