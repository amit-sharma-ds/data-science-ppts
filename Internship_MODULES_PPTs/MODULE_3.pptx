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9" r:id="rId3"/>
    <p:sldId id="257" r:id="rId4"/>
    <p:sldId id="271" r:id="rId5"/>
    <p:sldId id="262" r:id="rId6"/>
    <p:sldId id="261" r:id="rId7"/>
    <p:sldId id="260" r:id="rId8"/>
    <p:sldId id="259" r:id="rId9"/>
    <p:sldId id="272" r:id="rId10"/>
    <p:sldId id="258" r:id="rId11"/>
    <p:sldId id="270" r:id="rId12"/>
    <p:sldId id="263" r:id="rId13"/>
    <p:sldId id="264" r:id="rId14"/>
    <p:sldId id="266" r:id="rId15"/>
    <p:sldId id="265" r:id="rId16"/>
    <p:sldId id="268" r:id="rId17"/>
    <p:sldId id="267" r:id="rId18"/>
    <p:sldId id="28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0" y="0"/>
            <a:ext cx="12192000" cy="68433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p:cNvPicPr>
            <a:picLocks noChangeAspect="1"/>
          </p:cNvPicPr>
          <p:nvPr/>
        </p:nvPicPr>
        <p:blipFill>
          <a:blip r:embed="rId1"/>
          <a:stretch>
            <a:fillRect/>
          </a:stretch>
        </p:blipFill>
        <p:spPr>
          <a:xfrm>
            <a:off x="-635" y="17780"/>
            <a:ext cx="12192000" cy="68306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000" cy="3569335"/>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if-else Statements</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Sometimes the programmer needs to check the evaluation of certain expression(s), whether the expression(s) evaluate to True or False. If the expression evaluates to False, then the program execution follows a different path than it would have if the expression had evaluated to True.</a:t>
            </a: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a:t>Based on this, the conditional statements are further classified into following types:</a:t>
            </a:r>
            <a:endParaRPr lang="en-US"/>
          </a:p>
          <a:p>
            <a:endParaRPr lang="en-US"/>
          </a:p>
          <a:p>
            <a:pPr marL="285750" indent="-285750">
              <a:buFont typeface="Arial" panose="020B0604020202020204" pitchFamily="34" charset="0"/>
              <a:buChar char="•"/>
            </a:pPr>
            <a:r>
              <a:rPr lang="en-US"/>
              <a:t>    if</a:t>
            </a:r>
            <a:endParaRPr lang="en-US"/>
          </a:p>
          <a:p>
            <a:pPr marL="285750" indent="-285750">
              <a:buFont typeface="Arial" panose="020B0604020202020204" pitchFamily="34" charset="0"/>
              <a:buChar char="•"/>
            </a:pPr>
            <a:r>
              <a:rPr lang="en-US"/>
              <a:t>    if-else</a:t>
            </a:r>
            <a:endParaRPr lang="en-US"/>
          </a:p>
          <a:p>
            <a:pPr marL="285750" indent="-285750">
              <a:buFont typeface="Arial" panose="020B0604020202020204" pitchFamily="34" charset="0"/>
              <a:buChar char="•"/>
            </a:pPr>
            <a:r>
              <a:rPr lang="en-US"/>
              <a:t>    if-else-elif</a:t>
            </a:r>
            <a:endParaRPr lang="en-US"/>
          </a:p>
          <a:p>
            <a:pPr marL="285750" indent="-285750">
              <a:buFont typeface="Arial" panose="020B0604020202020204" pitchFamily="34" charset="0"/>
              <a:buChar char="•"/>
            </a:pPr>
            <a:r>
              <a:rPr lang="en-US"/>
              <a:t>    nested if-else-elif.</a:t>
            </a:r>
            <a:endParaRPr lang="en-US"/>
          </a:p>
        </p:txBody>
      </p:sp>
      <p:sp>
        <p:nvSpPr>
          <p:cNvPr id="3" name="Text Box 2"/>
          <p:cNvSpPr txBox="1"/>
          <p:nvPr/>
        </p:nvSpPr>
        <p:spPr>
          <a:xfrm>
            <a:off x="0" y="4064635"/>
            <a:ext cx="12061825" cy="2584450"/>
          </a:xfrm>
          <a:prstGeom prst="rect">
            <a:avLst/>
          </a:prstGeom>
          <a:noFill/>
        </p:spPr>
        <p:txBody>
          <a:bodyPr wrap="square" rtlCol="0" anchor="t">
            <a:spAutoFit/>
          </a:bodyPr>
          <a:p>
            <a:pPr marL="285750" indent="-285750">
              <a:buFont typeface="Wingdings" panose="05000000000000000000" charset="0"/>
              <a:buChar char="q"/>
            </a:pPr>
            <a:r>
              <a:rPr lang="en-US" u="sng">
                <a:solidFill>
                  <a:srgbClr val="FF0000"/>
                </a:solidFill>
              </a:rPr>
              <a:t>An if……else statement evaluates like this:</a:t>
            </a:r>
            <a:endParaRPr lang="en-US" u="sng">
              <a:solidFill>
                <a:srgbClr val="FF0000"/>
              </a:solidFill>
            </a:endParaRPr>
          </a:p>
          <a:p>
            <a:pPr marL="285750" indent="-285750">
              <a:buFont typeface="Wingdings" panose="05000000000000000000" charset="0"/>
              <a:buChar char="q"/>
            </a:pPr>
            <a:endParaRPr lang="en-US" u="sng">
              <a:solidFill>
                <a:srgbClr val="FF0000"/>
              </a:solidFill>
            </a:endParaRPr>
          </a:p>
          <a:p>
            <a:pPr marL="285750" indent="-285750">
              <a:buFont typeface="Wingdings" panose="05000000000000000000" charset="0"/>
              <a:buChar char="Ø"/>
            </a:pPr>
            <a:r>
              <a:rPr lang="en-US" b="1"/>
              <a:t>if the expression evaluates True:</a:t>
            </a:r>
            <a:endParaRPr lang="en-US" b="1"/>
          </a:p>
          <a:p>
            <a:pPr marL="285750" indent="-285750">
              <a:buFont typeface="Wingdings" panose="05000000000000000000" charset="0"/>
              <a:buChar char="Ø"/>
            </a:pPr>
            <a:endParaRPr lang="en-US"/>
          </a:p>
          <a:p>
            <a:pPr marL="285750" indent="-285750">
              <a:buFont typeface="Wingdings" panose="05000000000000000000" charset="0"/>
              <a:buChar char="Ø"/>
            </a:pPr>
            <a:r>
              <a:rPr lang="en-US"/>
              <a:t>Execute the block of code inside if statement. After execution return to the code out of the if……else block.\</a:t>
            </a: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b="1"/>
              <a:t>if the expression evaluates False:</a:t>
            </a:r>
            <a:endParaRPr lang="en-US" b="1"/>
          </a:p>
          <a:p>
            <a:pPr marL="285750" indent="-285750">
              <a:buFont typeface="Wingdings" panose="05000000000000000000" charset="0"/>
              <a:buChar char="Ø"/>
            </a:pPr>
            <a:endParaRPr lang="en-US"/>
          </a:p>
          <a:p>
            <a:pPr marL="285750" indent="-285750">
              <a:buFont typeface="Wingdings" panose="05000000000000000000" charset="0"/>
              <a:buChar char="Ø"/>
            </a:pPr>
            <a:r>
              <a:rPr lang="en-US"/>
              <a:t>Execute the block of code inside else statement. After execution return to the code out of the if……else block</a:t>
            </a:r>
            <a:r>
              <a:rPr lang="en-IN" altLang="en-US"/>
              <a:t>.</a:t>
            </a:r>
            <a:endParaRPr lang="en-I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6096000" cy="2461260"/>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Example:</a:t>
            </a:r>
            <a:endParaRPr lang="en-US" sz="2800" u="sng">
              <a:solidFill>
                <a:srgbClr val="FF0000"/>
              </a:solidFill>
              <a:latin typeface="Broadway" panose="04040905080B02020502" charset="0"/>
              <a:cs typeface="Broadway" panose="04040905080B02020502" charset="0"/>
            </a:endParaRPr>
          </a:p>
          <a:p>
            <a:endParaRPr lang="en-US"/>
          </a:p>
          <a:p>
            <a:r>
              <a:rPr lang="en-US">
                <a:solidFill>
                  <a:schemeClr val="bg1"/>
                </a:solidFill>
                <a:highlight>
                  <a:srgbClr val="000000"/>
                </a:highlight>
              </a:rPr>
              <a:t>applePrice = 210</a:t>
            </a:r>
            <a:endParaRPr lang="en-US">
              <a:solidFill>
                <a:schemeClr val="bg1"/>
              </a:solidFill>
              <a:highlight>
                <a:srgbClr val="000000"/>
              </a:highlight>
            </a:endParaRPr>
          </a:p>
          <a:p>
            <a:r>
              <a:rPr lang="en-US">
                <a:solidFill>
                  <a:schemeClr val="bg1"/>
                </a:solidFill>
                <a:highlight>
                  <a:srgbClr val="000000"/>
                </a:highlight>
              </a:rPr>
              <a:t>budget = 200</a:t>
            </a:r>
            <a:endParaRPr lang="en-US">
              <a:solidFill>
                <a:schemeClr val="bg1"/>
              </a:solidFill>
              <a:highlight>
                <a:srgbClr val="000000"/>
              </a:highlight>
            </a:endParaRPr>
          </a:p>
          <a:p>
            <a:r>
              <a:rPr lang="en-US">
                <a:solidFill>
                  <a:schemeClr val="bg1"/>
                </a:solidFill>
                <a:highlight>
                  <a:srgbClr val="000000"/>
                </a:highlight>
              </a:rPr>
              <a:t>if (applePrice &lt;= budget):</a:t>
            </a:r>
            <a:endParaRPr lang="en-US">
              <a:solidFill>
                <a:schemeClr val="bg1"/>
              </a:solidFill>
              <a:highlight>
                <a:srgbClr val="000000"/>
              </a:highlight>
            </a:endParaRPr>
          </a:p>
          <a:p>
            <a:r>
              <a:rPr lang="en-US">
                <a:solidFill>
                  <a:schemeClr val="bg1"/>
                </a:solidFill>
                <a:highlight>
                  <a:srgbClr val="000000"/>
                </a:highlight>
              </a:rPr>
              <a:t>    print("Alexa, add 1 kg Apples to the cart.")</a:t>
            </a:r>
            <a:endParaRPr lang="en-US">
              <a:solidFill>
                <a:schemeClr val="bg1"/>
              </a:solidFill>
              <a:highlight>
                <a:srgbClr val="000000"/>
              </a:highlight>
            </a:endParaRPr>
          </a:p>
          <a:p>
            <a:r>
              <a:rPr lang="en-US">
                <a:solidFill>
                  <a:schemeClr val="bg1"/>
                </a:solidFill>
                <a:highlight>
                  <a:srgbClr val="000000"/>
                </a:highlight>
              </a:rPr>
              <a:t>else:</a:t>
            </a:r>
            <a:endParaRPr lang="en-US">
              <a:solidFill>
                <a:schemeClr val="bg1"/>
              </a:solidFill>
              <a:highlight>
                <a:srgbClr val="000000"/>
              </a:highlight>
            </a:endParaRPr>
          </a:p>
          <a:p>
            <a:r>
              <a:rPr lang="en-US">
                <a:solidFill>
                  <a:schemeClr val="bg1"/>
                </a:solidFill>
                <a:highlight>
                  <a:srgbClr val="000000"/>
                </a:highlight>
              </a:rPr>
              <a:t>    print("Alexa, do not add Apples to the cart.")</a:t>
            </a:r>
            <a:endParaRPr lang="en-US">
              <a:solidFill>
                <a:schemeClr val="bg1"/>
              </a:solidFill>
              <a:highlight>
                <a:srgbClr val="000000"/>
              </a:highlight>
            </a:endParaRPr>
          </a:p>
        </p:txBody>
      </p:sp>
      <p:sp>
        <p:nvSpPr>
          <p:cNvPr id="3" name="Text Box 2"/>
          <p:cNvSpPr txBox="1"/>
          <p:nvPr/>
        </p:nvSpPr>
        <p:spPr>
          <a:xfrm>
            <a:off x="0" y="2675890"/>
            <a:ext cx="6096000" cy="922020"/>
          </a:xfrm>
          <a:prstGeom prst="rect">
            <a:avLst/>
          </a:prstGeom>
          <a:noFill/>
        </p:spPr>
        <p:txBody>
          <a:bodyPr wrap="square" rtlCol="0" anchor="t">
            <a:spAutoFit/>
          </a:bodyPr>
          <a:p>
            <a:r>
              <a:rPr lang="en-US">
                <a:solidFill>
                  <a:srgbClr val="00B0F0"/>
                </a:solidFill>
                <a:highlight>
                  <a:srgbClr val="000000"/>
                </a:highlight>
              </a:rPr>
              <a:t>Output:</a:t>
            </a:r>
            <a:endParaRPr lang="en-US">
              <a:solidFill>
                <a:srgbClr val="00B0F0"/>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Alexa, do not add Apples to the cart</a:t>
            </a:r>
            <a:r>
              <a:rPr lang="en-US">
                <a:highlight>
                  <a:srgbClr val="C0C0C0"/>
                </a:highlight>
              </a:rPr>
              <a:t>.</a:t>
            </a:r>
            <a:endParaRPr lang="en-US">
              <a:highlight>
                <a:srgbClr val="C0C0C0"/>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000" cy="1353185"/>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elif Statements</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Sometimes, the programmer may want to evaluate more than one condition, this can be done using an elif statement.</a:t>
            </a:r>
            <a:endParaRPr lang="en-US"/>
          </a:p>
          <a:p>
            <a:pPr marL="285750" indent="-285750">
              <a:buFont typeface="Wingdings" panose="05000000000000000000" charset="0"/>
              <a:buChar char="Ø"/>
            </a:pPr>
            <a:r>
              <a:rPr lang="en-US"/>
              <a:t>Working of an elif statement</a:t>
            </a:r>
            <a:r>
              <a:rPr lang="en-IN" altLang="en-US"/>
              <a:t>.</a:t>
            </a:r>
            <a:endParaRPr lang="en-IN" altLang="en-US"/>
          </a:p>
        </p:txBody>
      </p:sp>
      <p:sp>
        <p:nvSpPr>
          <p:cNvPr id="3" name="Text Box 2"/>
          <p:cNvSpPr txBox="1"/>
          <p:nvPr/>
        </p:nvSpPr>
        <p:spPr>
          <a:xfrm>
            <a:off x="0" y="1699260"/>
            <a:ext cx="7320280" cy="3846195"/>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Example:</a:t>
            </a:r>
            <a:endParaRPr lang="en-US" sz="2800" u="sng">
              <a:solidFill>
                <a:srgbClr val="FF0000"/>
              </a:solidFill>
              <a:latin typeface="Broadway" panose="04040905080B02020502" charset="0"/>
              <a:cs typeface="Broadway" panose="04040905080B02020502" charset="0"/>
            </a:endParaRPr>
          </a:p>
          <a:p>
            <a:endParaRPr lang="en-US"/>
          </a:p>
          <a:p>
            <a:r>
              <a:rPr lang="en-US">
                <a:solidFill>
                  <a:schemeClr val="bg1"/>
                </a:solidFill>
                <a:highlight>
                  <a:srgbClr val="000000"/>
                </a:highlight>
              </a:rPr>
              <a:t>num = 0</a:t>
            </a:r>
            <a:endParaRPr lang="en-US">
              <a:solidFill>
                <a:schemeClr val="bg1"/>
              </a:solidFill>
              <a:highlight>
                <a:srgbClr val="000000"/>
              </a:highlight>
            </a:endParaRPr>
          </a:p>
          <a:p>
            <a:r>
              <a:rPr lang="en-US">
                <a:solidFill>
                  <a:schemeClr val="bg1"/>
                </a:solidFill>
                <a:highlight>
                  <a:srgbClr val="000000"/>
                </a:highlight>
              </a:rPr>
              <a:t>if (num &lt; 0):</a:t>
            </a:r>
            <a:endParaRPr lang="en-US">
              <a:solidFill>
                <a:schemeClr val="bg1"/>
              </a:solidFill>
              <a:highlight>
                <a:srgbClr val="000000"/>
              </a:highlight>
            </a:endParaRPr>
          </a:p>
          <a:p>
            <a:r>
              <a:rPr lang="en-US">
                <a:solidFill>
                  <a:schemeClr val="bg1"/>
                </a:solidFill>
                <a:highlight>
                  <a:srgbClr val="000000"/>
                </a:highlight>
              </a:rPr>
              <a:t>    print("Number is negative.")</a:t>
            </a:r>
            <a:endParaRPr lang="en-US">
              <a:solidFill>
                <a:schemeClr val="bg1"/>
              </a:solidFill>
              <a:highlight>
                <a:srgbClr val="000000"/>
              </a:highlight>
            </a:endParaRPr>
          </a:p>
          <a:p>
            <a:r>
              <a:rPr lang="en-US">
                <a:solidFill>
                  <a:schemeClr val="bg1"/>
                </a:solidFill>
                <a:highlight>
                  <a:srgbClr val="000000"/>
                </a:highlight>
              </a:rPr>
              <a:t>elif (num == 0):</a:t>
            </a:r>
            <a:endParaRPr lang="en-US">
              <a:solidFill>
                <a:schemeClr val="bg1"/>
              </a:solidFill>
              <a:highlight>
                <a:srgbClr val="000000"/>
              </a:highlight>
            </a:endParaRPr>
          </a:p>
          <a:p>
            <a:r>
              <a:rPr lang="en-US">
                <a:solidFill>
                  <a:schemeClr val="bg1"/>
                </a:solidFill>
                <a:highlight>
                  <a:srgbClr val="000000"/>
                </a:highlight>
              </a:rPr>
              <a:t>    print("Number is Zero.")</a:t>
            </a:r>
            <a:endParaRPr lang="en-US">
              <a:solidFill>
                <a:schemeClr val="bg1"/>
              </a:solidFill>
              <a:highlight>
                <a:srgbClr val="000000"/>
              </a:highlight>
            </a:endParaRPr>
          </a:p>
          <a:p>
            <a:r>
              <a:rPr lang="en-US">
                <a:solidFill>
                  <a:schemeClr val="bg1"/>
                </a:solidFill>
                <a:highlight>
                  <a:srgbClr val="000000"/>
                </a:highlight>
              </a:rPr>
              <a:t>else:</a:t>
            </a:r>
            <a:endParaRPr lang="en-US">
              <a:solidFill>
                <a:schemeClr val="bg1"/>
              </a:solidFill>
              <a:highlight>
                <a:srgbClr val="000000"/>
              </a:highlight>
            </a:endParaRPr>
          </a:p>
          <a:p>
            <a:r>
              <a:rPr lang="en-US">
                <a:solidFill>
                  <a:schemeClr val="bg1"/>
                </a:solidFill>
                <a:highlight>
                  <a:srgbClr val="000000"/>
                </a:highlight>
              </a:rPr>
              <a:t>    print("Number is positive.")</a:t>
            </a:r>
            <a:endParaRPr lang="en-US">
              <a:solidFill>
                <a:schemeClr val="bg1"/>
              </a:solidFill>
              <a:highlight>
                <a:srgbClr val="000000"/>
              </a:highlight>
            </a:endParaRPr>
          </a:p>
          <a:p>
            <a:endParaRPr lang="en-US">
              <a:solidFill>
                <a:schemeClr val="bg1"/>
              </a:solidFill>
              <a:highlight>
                <a:srgbClr val="000000"/>
              </a:highlight>
            </a:endParaRPr>
          </a:p>
          <a:p>
            <a:r>
              <a:rPr lang="en-US">
                <a:solidFill>
                  <a:srgbClr val="00B0F0"/>
                </a:solidFill>
                <a:highlight>
                  <a:srgbClr val="000000"/>
                </a:highlight>
              </a:rPr>
              <a:t>Output:</a:t>
            </a:r>
            <a:endParaRPr lang="en-US">
              <a:solidFill>
                <a:srgbClr val="00B0F0"/>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Number is Zero.</a:t>
            </a:r>
            <a:endParaRPr lang="en-US">
              <a:solidFill>
                <a:schemeClr val="bg1"/>
              </a:solidFill>
              <a:highlight>
                <a:srgbClr val="000000"/>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6096000" cy="6770370"/>
          </a:xfrm>
          <a:prstGeom prst="rect">
            <a:avLst/>
          </a:prstGeom>
          <a:noFill/>
        </p:spPr>
        <p:txBody>
          <a:bodyPr wrap="square" rtlCol="0" anchor="t">
            <a:spAutoFit/>
          </a:bodyPr>
          <a:p>
            <a:pPr marL="285750" indent="-285750">
              <a:buFont typeface="Wingdings" panose="05000000000000000000" charset="0"/>
              <a:buChar char="q"/>
            </a:pPr>
            <a:r>
              <a:rPr lang="en-US" sz="2800" u="sng">
                <a:solidFill>
                  <a:srgbClr val="FF0000"/>
                </a:solidFill>
                <a:latin typeface="Broadway" panose="04040905080B02020502" charset="0"/>
                <a:cs typeface="Broadway" panose="04040905080B02020502" charset="0"/>
              </a:rPr>
              <a:t>Nested if statements</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We can use if, if-else, elif statements inside other if statements as well.</a:t>
            </a:r>
            <a:endParaRPr lang="en-US"/>
          </a:p>
          <a:p>
            <a:pPr marL="285750" indent="-285750">
              <a:buFont typeface="Wingdings" panose="05000000000000000000" charset="0"/>
              <a:buChar char="Ø"/>
            </a:pPr>
            <a:endParaRPr lang="en-US"/>
          </a:p>
          <a:p>
            <a:pPr marL="457200" indent="-457200">
              <a:buFont typeface="Wingdings" panose="05000000000000000000" charset="0"/>
              <a:buChar char="q"/>
            </a:pPr>
            <a:r>
              <a:rPr lang="en-US" sz="2800" u="sng">
                <a:latin typeface="Broadway" panose="04040905080B02020502" charset="0"/>
                <a:cs typeface="Broadway" panose="04040905080B02020502" charset="0"/>
              </a:rPr>
              <a:t>Example:</a:t>
            </a:r>
            <a:endParaRPr lang="en-US" sz="2800" u="sng">
              <a:latin typeface="Broadway" panose="04040905080B02020502" charset="0"/>
              <a:cs typeface="Broadway" panose="04040905080B02020502" charset="0"/>
            </a:endParaRPr>
          </a:p>
          <a:p>
            <a:endParaRPr lang="en-US"/>
          </a:p>
          <a:p>
            <a:r>
              <a:rPr lang="en-US">
                <a:solidFill>
                  <a:schemeClr val="bg1"/>
                </a:solidFill>
                <a:highlight>
                  <a:srgbClr val="000000"/>
                </a:highlight>
              </a:rPr>
              <a:t>num = 18</a:t>
            </a:r>
            <a:endParaRPr lang="en-US">
              <a:solidFill>
                <a:schemeClr val="bg1"/>
              </a:solidFill>
              <a:highlight>
                <a:srgbClr val="000000"/>
              </a:highlight>
            </a:endParaRPr>
          </a:p>
          <a:p>
            <a:r>
              <a:rPr lang="en-US">
                <a:solidFill>
                  <a:schemeClr val="bg1"/>
                </a:solidFill>
                <a:highlight>
                  <a:srgbClr val="000000"/>
                </a:highlight>
              </a:rPr>
              <a:t>if (num &lt; 0):</a:t>
            </a:r>
            <a:endParaRPr lang="en-US">
              <a:solidFill>
                <a:schemeClr val="bg1"/>
              </a:solidFill>
              <a:highlight>
                <a:srgbClr val="000000"/>
              </a:highlight>
            </a:endParaRPr>
          </a:p>
          <a:p>
            <a:r>
              <a:rPr lang="en-US">
                <a:solidFill>
                  <a:schemeClr val="bg1"/>
                </a:solidFill>
                <a:highlight>
                  <a:srgbClr val="000000"/>
                </a:highlight>
              </a:rPr>
              <a:t>    print("Number is negative.")</a:t>
            </a:r>
            <a:endParaRPr lang="en-US">
              <a:solidFill>
                <a:schemeClr val="bg1"/>
              </a:solidFill>
              <a:highlight>
                <a:srgbClr val="000000"/>
              </a:highlight>
            </a:endParaRPr>
          </a:p>
          <a:p>
            <a:r>
              <a:rPr lang="en-US">
                <a:solidFill>
                  <a:schemeClr val="bg1"/>
                </a:solidFill>
                <a:highlight>
                  <a:srgbClr val="000000"/>
                </a:highlight>
              </a:rPr>
              <a:t>elif (num &gt; 0):</a:t>
            </a:r>
            <a:endParaRPr lang="en-US">
              <a:solidFill>
                <a:schemeClr val="bg1"/>
              </a:solidFill>
              <a:highlight>
                <a:srgbClr val="000000"/>
              </a:highlight>
            </a:endParaRPr>
          </a:p>
          <a:p>
            <a:r>
              <a:rPr lang="en-US">
                <a:solidFill>
                  <a:schemeClr val="bg1"/>
                </a:solidFill>
                <a:highlight>
                  <a:srgbClr val="000000"/>
                </a:highlight>
              </a:rPr>
              <a:t>    if (num &lt;= 10):</a:t>
            </a:r>
            <a:endParaRPr lang="en-US">
              <a:solidFill>
                <a:schemeClr val="bg1"/>
              </a:solidFill>
              <a:highlight>
                <a:srgbClr val="000000"/>
              </a:highlight>
            </a:endParaRPr>
          </a:p>
          <a:p>
            <a:r>
              <a:rPr lang="en-US">
                <a:solidFill>
                  <a:schemeClr val="bg1"/>
                </a:solidFill>
                <a:highlight>
                  <a:srgbClr val="000000"/>
                </a:highlight>
              </a:rPr>
              <a:t>        print("Number is between 1-10")</a:t>
            </a:r>
            <a:endParaRPr lang="en-US">
              <a:solidFill>
                <a:schemeClr val="bg1"/>
              </a:solidFill>
              <a:highlight>
                <a:srgbClr val="000000"/>
              </a:highlight>
            </a:endParaRPr>
          </a:p>
          <a:p>
            <a:r>
              <a:rPr lang="en-US">
                <a:solidFill>
                  <a:schemeClr val="bg1"/>
                </a:solidFill>
                <a:highlight>
                  <a:srgbClr val="000000"/>
                </a:highlight>
              </a:rPr>
              <a:t>    elif (num &gt; 10 and num &lt;= 20):</a:t>
            </a:r>
            <a:endParaRPr lang="en-US">
              <a:solidFill>
                <a:schemeClr val="bg1"/>
              </a:solidFill>
              <a:highlight>
                <a:srgbClr val="000000"/>
              </a:highlight>
            </a:endParaRPr>
          </a:p>
          <a:p>
            <a:r>
              <a:rPr lang="en-US">
                <a:solidFill>
                  <a:schemeClr val="bg1"/>
                </a:solidFill>
                <a:highlight>
                  <a:srgbClr val="000000"/>
                </a:highlight>
              </a:rPr>
              <a:t>        print("Number is between 11-20")</a:t>
            </a:r>
            <a:endParaRPr lang="en-US">
              <a:solidFill>
                <a:schemeClr val="bg1"/>
              </a:solidFill>
              <a:highlight>
                <a:srgbClr val="000000"/>
              </a:highlight>
            </a:endParaRPr>
          </a:p>
          <a:p>
            <a:r>
              <a:rPr lang="en-US">
                <a:solidFill>
                  <a:schemeClr val="bg1"/>
                </a:solidFill>
                <a:highlight>
                  <a:srgbClr val="000000"/>
                </a:highlight>
              </a:rPr>
              <a:t>    else:</a:t>
            </a:r>
            <a:endParaRPr lang="en-US">
              <a:solidFill>
                <a:schemeClr val="bg1"/>
              </a:solidFill>
              <a:highlight>
                <a:srgbClr val="000000"/>
              </a:highlight>
            </a:endParaRPr>
          </a:p>
          <a:p>
            <a:r>
              <a:rPr lang="en-US">
                <a:solidFill>
                  <a:schemeClr val="bg1"/>
                </a:solidFill>
                <a:highlight>
                  <a:srgbClr val="000000"/>
                </a:highlight>
              </a:rPr>
              <a:t>        print("Number is greater than 20")</a:t>
            </a:r>
            <a:endParaRPr lang="en-US">
              <a:solidFill>
                <a:schemeClr val="bg1"/>
              </a:solidFill>
              <a:highlight>
                <a:srgbClr val="000000"/>
              </a:highlight>
            </a:endParaRPr>
          </a:p>
          <a:p>
            <a:r>
              <a:rPr lang="en-US">
                <a:solidFill>
                  <a:schemeClr val="bg1"/>
                </a:solidFill>
                <a:highlight>
                  <a:srgbClr val="000000"/>
                </a:highlight>
              </a:rPr>
              <a:t>else:</a:t>
            </a:r>
            <a:endParaRPr lang="en-US">
              <a:solidFill>
                <a:schemeClr val="bg1"/>
              </a:solidFill>
              <a:highlight>
                <a:srgbClr val="000000"/>
              </a:highlight>
            </a:endParaRPr>
          </a:p>
          <a:p>
            <a:r>
              <a:rPr lang="en-US">
                <a:solidFill>
                  <a:schemeClr val="bg1"/>
                </a:solidFill>
                <a:highlight>
                  <a:srgbClr val="000000"/>
                </a:highlight>
              </a:rPr>
              <a:t>    print("Number is zero")</a:t>
            </a:r>
            <a:endParaRPr lang="en-US">
              <a:solidFill>
                <a:schemeClr val="bg1"/>
              </a:solidFill>
              <a:highlight>
                <a:srgbClr val="000000"/>
              </a:highlight>
            </a:endParaRPr>
          </a:p>
          <a:p>
            <a:endParaRPr lang="en-US">
              <a:solidFill>
                <a:schemeClr val="bg1"/>
              </a:solidFill>
              <a:highlight>
                <a:srgbClr val="000000"/>
              </a:highlight>
            </a:endParaRPr>
          </a:p>
          <a:p>
            <a:r>
              <a:rPr lang="en-US">
                <a:solidFill>
                  <a:srgbClr val="00B0F0"/>
                </a:solidFill>
                <a:highlight>
                  <a:srgbClr val="000000"/>
                </a:highlight>
              </a:rPr>
              <a:t>Output:</a:t>
            </a:r>
            <a:endParaRPr lang="en-US">
              <a:solidFill>
                <a:srgbClr val="00B0F0"/>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Number is between 11-20</a:t>
            </a:r>
            <a:endParaRPr lang="en-US">
              <a:solidFill>
                <a:schemeClr val="bg1"/>
              </a:solidFill>
              <a:highlight>
                <a:srgbClr val="000000"/>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28575" y="-8255"/>
            <a:ext cx="12219940" cy="68662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673100"/>
            <a:ext cx="12192000" cy="387350"/>
          </a:xfrm>
          <a:prstGeom prst="rect">
            <a:avLst/>
          </a:prstGeom>
          <a:noFill/>
        </p:spPr>
        <p:txBody>
          <a:bodyPr wrap="square" rtlCol="0" anchor="t">
            <a:noAutofit/>
          </a:bodyPr>
          <a:p>
            <a:pPr marL="285750" indent="-285750">
              <a:buFont typeface="Wingdings" panose="05000000000000000000" charset="0"/>
              <a:buChar char="Ø"/>
            </a:pPr>
            <a:r>
              <a:rPr lang="en-US"/>
              <a:t>Logical operators in Python are used to combine conditional statements. Here are the logical operators along with examples:</a:t>
            </a:r>
            <a:endParaRPr lang="en-US"/>
          </a:p>
          <a:p>
            <a:endParaRPr lang="en-US"/>
          </a:p>
          <a:p>
            <a:r>
              <a:rPr lang="en-US"/>
              <a:t>    </a:t>
            </a:r>
            <a:endParaRPr lang="en-US"/>
          </a:p>
        </p:txBody>
      </p:sp>
      <p:sp>
        <p:nvSpPr>
          <p:cNvPr id="3" name="Text Box 2"/>
          <p:cNvSpPr txBox="1"/>
          <p:nvPr/>
        </p:nvSpPr>
        <p:spPr>
          <a:xfrm>
            <a:off x="-635" y="1967865"/>
            <a:ext cx="6096000" cy="645160"/>
          </a:xfrm>
          <a:prstGeom prst="rect">
            <a:avLst/>
          </a:prstGeom>
          <a:noFill/>
        </p:spPr>
        <p:txBody>
          <a:bodyPr wrap="square" rtlCol="0" anchor="t">
            <a:spAutoFit/>
          </a:bodyPr>
          <a:p>
            <a:r>
              <a:rPr lang="en-US">
                <a:solidFill>
                  <a:schemeClr val="bg1"/>
                </a:solidFill>
                <a:highlight>
                  <a:srgbClr val="000000"/>
                </a:highlight>
              </a:rPr>
              <a:t>x = 5</a:t>
            </a:r>
            <a:endParaRPr lang="en-US">
              <a:solidFill>
                <a:schemeClr val="bg1"/>
              </a:solidFill>
              <a:highlight>
                <a:srgbClr val="000000"/>
              </a:highlight>
            </a:endParaRPr>
          </a:p>
          <a:p>
            <a:r>
              <a:rPr lang="en-US">
                <a:solidFill>
                  <a:schemeClr val="bg1"/>
                </a:solidFill>
                <a:highlight>
                  <a:srgbClr val="000000"/>
                </a:highlight>
              </a:rPr>
              <a:t>print(x &gt; 3 and x &lt; 10)  </a:t>
            </a:r>
            <a:r>
              <a:rPr lang="en-US">
                <a:solidFill>
                  <a:srgbClr val="00B0F0"/>
                </a:solidFill>
                <a:highlight>
                  <a:srgbClr val="000000"/>
                </a:highlight>
              </a:rPr>
              <a:t># Output: True</a:t>
            </a:r>
            <a:endParaRPr lang="en-US">
              <a:solidFill>
                <a:srgbClr val="00B0F0"/>
              </a:solidFill>
              <a:highlight>
                <a:srgbClr val="000000"/>
              </a:highlight>
            </a:endParaRPr>
          </a:p>
        </p:txBody>
      </p:sp>
      <p:sp>
        <p:nvSpPr>
          <p:cNvPr id="4" name="Text Box 3"/>
          <p:cNvSpPr txBox="1"/>
          <p:nvPr/>
        </p:nvSpPr>
        <p:spPr>
          <a:xfrm>
            <a:off x="0" y="2967990"/>
            <a:ext cx="6096000" cy="1198880"/>
          </a:xfrm>
          <a:prstGeom prst="rect">
            <a:avLst/>
          </a:prstGeom>
          <a:noFill/>
        </p:spPr>
        <p:txBody>
          <a:bodyPr wrap="square" rtlCol="0" anchor="t">
            <a:spAutoFit/>
          </a:bodyPr>
          <a:p>
            <a:r>
              <a:rPr lang="en-IN" altLang="en-US" u="sng">
                <a:solidFill>
                  <a:srgbClr val="00B0F0"/>
                </a:solidFill>
                <a:sym typeface="+mn-ea"/>
              </a:rPr>
              <a:t>2. </a:t>
            </a:r>
            <a:r>
              <a:rPr lang="en-US" u="sng">
                <a:solidFill>
                  <a:srgbClr val="00B0F0"/>
                </a:solidFill>
                <a:sym typeface="+mn-ea"/>
              </a:rPr>
              <a:t>OR (or):</a:t>
            </a:r>
            <a:r>
              <a:rPr lang="en-US" u="sng">
                <a:sym typeface="+mn-ea"/>
              </a:rPr>
              <a:t> Returns True if one of the statements is true.</a:t>
            </a:r>
            <a:endParaRPr lang="en-US" u="sng">
              <a:sym typeface="+mn-ea"/>
            </a:endParaRPr>
          </a:p>
          <a:p>
            <a:endParaRPr lang="en-US" u="sng"/>
          </a:p>
          <a:p>
            <a:r>
              <a:rPr lang="en-US">
                <a:solidFill>
                  <a:schemeClr val="bg1"/>
                </a:solidFill>
                <a:highlight>
                  <a:srgbClr val="000000"/>
                </a:highlight>
              </a:rPr>
              <a:t>x = 5</a:t>
            </a:r>
            <a:endParaRPr lang="en-US">
              <a:solidFill>
                <a:schemeClr val="bg1"/>
              </a:solidFill>
              <a:highlight>
                <a:srgbClr val="000000"/>
              </a:highlight>
            </a:endParaRPr>
          </a:p>
          <a:p>
            <a:r>
              <a:rPr lang="en-US">
                <a:solidFill>
                  <a:schemeClr val="bg1"/>
                </a:solidFill>
                <a:highlight>
                  <a:srgbClr val="000000"/>
                </a:highlight>
              </a:rPr>
              <a:t>print(x &gt; 3 or x &lt; 4)  </a:t>
            </a:r>
            <a:r>
              <a:rPr lang="en-US">
                <a:solidFill>
                  <a:srgbClr val="00B0F0"/>
                </a:solidFill>
                <a:highlight>
                  <a:srgbClr val="000000"/>
                </a:highlight>
              </a:rPr>
              <a:t># Output: True</a:t>
            </a:r>
            <a:endParaRPr lang="en-US">
              <a:solidFill>
                <a:srgbClr val="00B0F0"/>
              </a:solidFill>
              <a:highlight>
                <a:srgbClr val="000000"/>
              </a:highlight>
            </a:endParaRPr>
          </a:p>
        </p:txBody>
      </p:sp>
      <p:sp>
        <p:nvSpPr>
          <p:cNvPr id="5" name="Text Box 4"/>
          <p:cNvSpPr txBox="1"/>
          <p:nvPr/>
        </p:nvSpPr>
        <p:spPr>
          <a:xfrm>
            <a:off x="0" y="4229735"/>
            <a:ext cx="6096000" cy="1414780"/>
          </a:xfrm>
          <a:prstGeom prst="rect">
            <a:avLst/>
          </a:prstGeom>
          <a:noFill/>
        </p:spPr>
        <p:txBody>
          <a:bodyPr wrap="square" rtlCol="0" anchor="t">
            <a:spAutoFit/>
          </a:bodyPr>
          <a:p>
            <a:r>
              <a:rPr lang="en-US"/>
              <a:t>    </a:t>
            </a:r>
            <a:endParaRPr lang="en-US"/>
          </a:p>
          <a:p>
            <a:r>
              <a:rPr lang="en-IN" altLang="en-US" sz="1600" u="sng">
                <a:solidFill>
                  <a:srgbClr val="00B0F0"/>
                </a:solidFill>
                <a:sym typeface="+mn-ea"/>
              </a:rPr>
              <a:t>3. </a:t>
            </a:r>
            <a:r>
              <a:rPr lang="en-US" sz="1600" u="sng">
                <a:solidFill>
                  <a:srgbClr val="00B0F0"/>
                </a:solidFill>
                <a:sym typeface="+mn-ea"/>
              </a:rPr>
              <a:t>NOT (not):</a:t>
            </a:r>
            <a:r>
              <a:rPr lang="en-US" sz="1600" u="sng">
                <a:sym typeface="+mn-ea"/>
              </a:rPr>
              <a:t> Returns True if the statement is false.</a:t>
            </a:r>
            <a:endParaRPr lang="en-US" sz="1600" u="sng">
              <a:sym typeface="+mn-ea"/>
            </a:endParaRPr>
          </a:p>
          <a:p>
            <a:endParaRPr lang="en-US" sz="1600" u="sng"/>
          </a:p>
          <a:p>
            <a:r>
              <a:rPr lang="en-US">
                <a:solidFill>
                  <a:schemeClr val="bg1"/>
                </a:solidFill>
                <a:highlight>
                  <a:srgbClr val="000000"/>
                </a:highlight>
              </a:rPr>
              <a:t>x = 5</a:t>
            </a:r>
            <a:endParaRPr lang="en-US">
              <a:solidFill>
                <a:schemeClr val="bg1"/>
              </a:solidFill>
              <a:highlight>
                <a:srgbClr val="000000"/>
              </a:highlight>
            </a:endParaRPr>
          </a:p>
          <a:p>
            <a:r>
              <a:rPr lang="en-US">
                <a:solidFill>
                  <a:schemeClr val="bg1"/>
                </a:solidFill>
                <a:highlight>
                  <a:srgbClr val="000000"/>
                </a:highlight>
              </a:rPr>
              <a:t>print(not(x &gt; 3 and x &lt; 10))  </a:t>
            </a:r>
            <a:r>
              <a:rPr lang="en-US">
                <a:solidFill>
                  <a:srgbClr val="00B0F0"/>
                </a:solidFill>
                <a:highlight>
                  <a:srgbClr val="000000"/>
                </a:highlight>
              </a:rPr>
              <a:t># Output: False</a:t>
            </a:r>
            <a:endParaRPr lang="en-US">
              <a:solidFill>
                <a:srgbClr val="00B0F0"/>
              </a:solidFill>
              <a:highlight>
                <a:srgbClr val="000000"/>
              </a:highlight>
            </a:endParaRPr>
          </a:p>
        </p:txBody>
      </p:sp>
      <p:sp>
        <p:nvSpPr>
          <p:cNvPr id="6" name="Text Box 5"/>
          <p:cNvSpPr txBox="1"/>
          <p:nvPr/>
        </p:nvSpPr>
        <p:spPr>
          <a:xfrm>
            <a:off x="-635" y="5922645"/>
            <a:ext cx="12192635" cy="645160"/>
          </a:xfrm>
          <a:prstGeom prst="rect">
            <a:avLst/>
          </a:prstGeom>
          <a:noFill/>
        </p:spPr>
        <p:txBody>
          <a:bodyPr wrap="square" rtlCol="0" anchor="t">
            <a:spAutoFit/>
          </a:bodyPr>
          <a:p>
            <a:pPr marL="285750" indent="-285750">
              <a:buFont typeface="Wingdings" panose="05000000000000000000" charset="0"/>
              <a:buChar char="Ø"/>
            </a:pPr>
            <a:r>
              <a:rPr lang="en-US"/>
              <a:t>These operators can be used in conditional statements, loops, and other control flow structures to control the flow of execution based on conditions.</a:t>
            </a:r>
            <a:endParaRPr lang="en-US"/>
          </a:p>
        </p:txBody>
      </p:sp>
      <p:sp>
        <p:nvSpPr>
          <p:cNvPr id="7" name="Text Box 6"/>
          <p:cNvSpPr txBox="1"/>
          <p:nvPr/>
        </p:nvSpPr>
        <p:spPr>
          <a:xfrm>
            <a:off x="-635" y="1456055"/>
            <a:ext cx="6096000" cy="368300"/>
          </a:xfrm>
          <a:prstGeom prst="rect">
            <a:avLst/>
          </a:prstGeom>
          <a:noFill/>
        </p:spPr>
        <p:txBody>
          <a:bodyPr wrap="square" rtlCol="0" anchor="t">
            <a:spAutoFit/>
          </a:bodyPr>
          <a:p>
            <a:r>
              <a:rPr lang="en-IN" altLang="en-US" u="sng">
                <a:solidFill>
                  <a:srgbClr val="00B0F0"/>
                </a:solidFill>
                <a:sym typeface="+mn-ea"/>
              </a:rPr>
              <a:t>1. </a:t>
            </a:r>
            <a:r>
              <a:rPr lang="en-US" u="sng">
                <a:solidFill>
                  <a:srgbClr val="00B0F0"/>
                </a:solidFill>
                <a:sym typeface="+mn-ea"/>
              </a:rPr>
              <a:t>AND (and):</a:t>
            </a:r>
            <a:r>
              <a:rPr lang="en-US" u="sng">
                <a:sym typeface="+mn-ea"/>
              </a:rPr>
              <a:t> Returns True if both statements are true.</a:t>
            </a:r>
            <a:endParaRPr lang="en-US" u="sng">
              <a:sym typeface="+mn-ea"/>
            </a:endParaRPr>
          </a:p>
        </p:txBody>
      </p:sp>
      <p:sp>
        <p:nvSpPr>
          <p:cNvPr id="9" name="Text Box 8"/>
          <p:cNvSpPr txBox="1"/>
          <p:nvPr/>
        </p:nvSpPr>
        <p:spPr>
          <a:xfrm>
            <a:off x="0" y="0"/>
            <a:ext cx="7407910" cy="521970"/>
          </a:xfrm>
          <a:prstGeom prst="rect">
            <a:avLst/>
          </a:prstGeom>
          <a:noFill/>
        </p:spPr>
        <p:txBody>
          <a:bodyPr wrap="square" rtlCol="0">
            <a:spAutoFit/>
          </a:bodyPr>
          <a:p>
            <a:pPr marL="285750" indent="-285750">
              <a:buFont typeface="Wingdings" panose="05000000000000000000" charset="0"/>
              <a:buChar char="q"/>
            </a:pPr>
            <a:r>
              <a:rPr lang="en-IN" altLang="en-US" sz="2800" u="sng">
                <a:solidFill>
                  <a:srgbClr val="FF0000"/>
                </a:solidFill>
                <a:latin typeface="Broadway" panose="04040905080B02020502" charset="0"/>
                <a:cs typeface="Broadway" panose="04040905080B02020502" charset="0"/>
              </a:rPr>
              <a:t>Logical operators in Python</a:t>
            </a:r>
            <a:endParaRPr lang="en-IN" altLang="en-US" sz="2800" u="sng">
              <a:solidFill>
                <a:srgbClr val="FF0000"/>
              </a:solidFill>
              <a:latin typeface="Broadway" panose="04040905080B02020502" charset="0"/>
              <a:cs typeface="Broadway" panose="04040905080B0202050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000" cy="3999865"/>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Introduction to Loops</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Sometimes a programmer wants to execute a group of statements a certain number of times. This can be done using loops. Based on this loops are further classified into following main types;</a:t>
            </a:r>
            <a:endParaRPr lang="en-US"/>
          </a:p>
          <a:p>
            <a:endParaRPr lang="en-US"/>
          </a:p>
          <a:p>
            <a:pPr marL="285750" indent="-285750">
              <a:buFont typeface="Arial" panose="020B0604020202020204" pitchFamily="34" charset="0"/>
              <a:buChar char="•"/>
            </a:pPr>
            <a:r>
              <a:rPr lang="en-US"/>
              <a:t>    for loop</a:t>
            </a:r>
            <a:endParaRPr lang="en-US"/>
          </a:p>
          <a:p>
            <a:pPr marL="285750" indent="-285750">
              <a:buFont typeface="Arial" panose="020B0604020202020204" pitchFamily="34" charset="0"/>
              <a:buChar char="•"/>
            </a:pPr>
            <a:r>
              <a:rPr lang="en-US"/>
              <a:t>    while loop</a:t>
            </a:r>
            <a:endParaRPr lang="en-US"/>
          </a:p>
          <a:p>
            <a:endParaRPr lang="en-US"/>
          </a:p>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The for Loop</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for loops can iterate over a sequence of iterable objects in python. Iterating over a sequence is nothing but iterating over strings, lists, tuples, sets and dictionaries.</a:t>
            </a:r>
            <a:endParaRPr lang="en-US"/>
          </a:p>
          <a:p>
            <a:pPr marL="285750" indent="-285750">
              <a:buFont typeface="Wingdings" panose="05000000000000000000" charset="0"/>
              <a:buChar char="Ø"/>
            </a:pPr>
            <a:r>
              <a:rPr lang="en-US" u="sng">
                <a:solidFill>
                  <a:srgbClr val="00B0F0"/>
                </a:solidFill>
              </a:rPr>
              <a:t>Example: iterating over a string:</a:t>
            </a:r>
            <a:endParaRPr lang="en-US" u="sng">
              <a:solidFill>
                <a:srgbClr val="00B0F0"/>
              </a:solidFill>
            </a:endParaRPr>
          </a:p>
        </p:txBody>
      </p:sp>
      <p:sp>
        <p:nvSpPr>
          <p:cNvPr id="3" name="Text Box 2"/>
          <p:cNvSpPr txBox="1"/>
          <p:nvPr/>
        </p:nvSpPr>
        <p:spPr>
          <a:xfrm>
            <a:off x="0" y="4181475"/>
            <a:ext cx="6096000" cy="2030095"/>
          </a:xfrm>
          <a:prstGeom prst="rect">
            <a:avLst/>
          </a:prstGeom>
          <a:noFill/>
        </p:spPr>
        <p:txBody>
          <a:bodyPr wrap="square" rtlCol="0" anchor="t">
            <a:spAutoFit/>
          </a:bodyPr>
          <a:p>
            <a:r>
              <a:rPr lang="en-US">
                <a:solidFill>
                  <a:schemeClr val="bg1"/>
                </a:solidFill>
                <a:highlight>
                  <a:srgbClr val="000000"/>
                </a:highlight>
              </a:rPr>
              <a:t>name = 'Abhishek'</a:t>
            </a:r>
            <a:endParaRPr lang="en-US">
              <a:solidFill>
                <a:schemeClr val="bg1"/>
              </a:solidFill>
              <a:highlight>
                <a:srgbClr val="000000"/>
              </a:highlight>
            </a:endParaRPr>
          </a:p>
          <a:p>
            <a:r>
              <a:rPr lang="en-US">
                <a:solidFill>
                  <a:schemeClr val="bg1"/>
                </a:solidFill>
                <a:highlight>
                  <a:srgbClr val="000000"/>
                </a:highlight>
              </a:rPr>
              <a:t>for i in name:</a:t>
            </a:r>
            <a:endParaRPr lang="en-US">
              <a:solidFill>
                <a:schemeClr val="bg1"/>
              </a:solidFill>
              <a:highlight>
                <a:srgbClr val="000000"/>
              </a:highlight>
            </a:endParaRPr>
          </a:p>
          <a:p>
            <a:r>
              <a:rPr lang="en-US">
                <a:solidFill>
                  <a:schemeClr val="bg1"/>
                </a:solidFill>
                <a:highlight>
                  <a:srgbClr val="000000"/>
                </a:highlight>
              </a:rPr>
              <a:t>    print(i, end=", ")</a:t>
            </a:r>
            <a:endParaRPr lang="en-US">
              <a:solidFill>
                <a:schemeClr val="bg1"/>
              </a:solidFill>
              <a:highlight>
                <a:srgbClr val="000000"/>
              </a:highlight>
            </a:endParaRPr>
          </a:p>
          <a:p>
            <a:endParaRPr lang="en-US">
              <a:solidFill>
                <a:schemeClr val="bg1"/>
              </a:solidFill>
              <a:highlight>
                <a:srgbClr val="000000"/>
              </a:highlight>
            </a:endParaRPr>
          </a:p>
          <a:p>
            <a:r>
              <a:rPr lang="en-US">
                <a:solidFill>
                  <a:srgbClr val="00B0F0"/>
                </a:solidFill>
                <a:highlight>
                  <a:srgbClr val="000000"/>
                </a:highlight>
              </a:rPr>
              <a:t>Output:</a:t>
            </a:r>
            <a:endParaRPr lang="en-US">
              <a:solidFill>
                <a:srgbClr val="00B0F0"/>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A, b, h, i, s, h, e, k,</a:t>
            </a:r>
            <a:endParaRPr lang="en-US">
              <a:solidFill>
                <a:schemeClr val="bg1"/>
              </a:solidFill>
              <a:highlight>
                <a:srgbClr val="000000"/>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0" y="0"/>
            <a:ext cx="9144635" cy="5939155"/>
          </a:xfrm>
          <a:prstGeom prst="rect">
            <a:avLst/>
          </a:prstGeom>
          <a:noFill/>
        </p:spPr>
        <p:txBody>
          <a:bodyPr wrap="square" rtlCol="0" anchor="t">
            <a:spAutoFit/>
          </a:bodyPr>
          <a:p>
            <a:pPr marL="285750" indent="-285750">
              <a:buFont typeface="Wingdings" panose="05000000000000000000" charset="0"/>
              <a:buChar char="q"/>
            </a:pPr>
            <a:r>
              <a:rPr lang="en-US" sz="2800" u="sng">
                <a:solidFill>
                  <a:srgbClr val="FF0000"/>
                </a:solidFill>
                <a:latin typeface="Broadway" panose="04040905080B02020502" charset="0"/>
                <a:cs typeface="Broadway" panose="04040905080B02020502" charset="0"/>
              </a:rPr>
              <a:t>Example: iterating over a list:</a:t>
            </a:r>
            <a:endParaRPr lang="en-US" sz="2800" u="sng">
              <a:solidFill>
                <a:srgbClr val="FF0000"/>
              </a:solidFill>
              <a:latin typeface="Broadway" panose="04040905080B02020502" charset="0"/>
              <a:cs typeface="Broadway" panose="04040905080B02020502" charset="0"/>
            </a:endParaRPr>
          </a:p>
          <a:p>
            <a:endParaRPr lang="en-US"/>
          </a:p>
          <a:p>
            <a:r>
              <a:rPr lang="en-US">
                <a:solidFill>
                  <a:schemeClr val="bg1"/>
                </a:solidFill>
                <a:highlight>
                  <a:srgbClr val="000000"/>
                </a:highlight>
              </a:rPr>
              <a:t>colors = ["Red", "Green", "Blue", "Yellow"]</a:t>
            </a:r>
            <a:endParaRPr lang="en-US">
              <a:solidFill>
                <a:schemeClr val="bg1"/>
              </a:solidFill>
              <a:highlight>
                <a:srgbClr val="000000"/>
              </a:highlight>
            </a:endParaRPr>
          </a:p>
          <a:p>
            <a:r>
              <a:rPr lang="en-US">
                <a:solidFill>
                  <a:schemeClr val="bg1"/>
                </a:solidFill>
                <a:highlight>
                  <a:srgbClr val="000000"/>
                </a:highlight>
              </a:rPr>
              <a:t>for x in colors:</a:t>
            </a:r>
            <a:endParaRPr lang="en-US">
              <a:solidFill>
                <a:schemeClr val="bg1"/>
              </a:solidFill>
              <a:highlight>
                <a:srgbClr val="000000"/>
              </a:highlight>
            </a:endParaRPr>
          </a:p>
          <a:p>
            <a:r>
              <a:rPr lang="en-US">
                <a:solidFill>
                  <a:schemeClr val="bg1"/>
                </a:solidFill>
                <a:highlight>
                  <a:srgbClr val="000000"/>
                </a:highlight>
              </a:rPr>
              <a:t>    print(x)</a:t>
            </a:r>
            <a:endParaRPr lang="en-US">
              <a:solidFill>
                <a:schemeClr val="bg1"/>
              </a:solidFill>
              <a:highlight>
                <a:srgbClr val="000000"/>
              </a:highlight>
            </a:endParaRPr>
          </a:p>
          <a:p>
            <a:endParaRPr lang="en-US">
              <a:solidFill>
                <a:schemeClr val="bg1"/>
              </a:solidFill>
              <a:highlight>
                <a:srgbClr val="000000"/>
              </a:highlight>
            </a:endParaRPr>
          </a:p>
          <a:p>
            <a:r>
              <a:rPr lang="en-US">
                <a:solidFill>
                  <a:srgbClr val="00B0F0"/>
                </a:solidFill>
                <a:highlight>
                  <a:srgbClr val="000000"/>
                </a:highlight>
              </a:rPr>
              <a:t>Output:</a:t>
            </a:r>
            <a:endParaRPr lang="en-US">
              <a:solidFill>
                <a:srgbClr val="00B0F0"/>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Red</a:t>
            </a:r>
            <a:endParaRPr lang="en-US">
              <a:solidFill>
                <a:schemeClr val="bg1"/>
              </a:solidFill>
              <a:highlight>
                <a:srgbClr val="000000"/>
              </a:highlight>
            </a:endParaRPr>
          </a:p>
          <a:p>
            <a:r>
              <a:rPr lang="en-US">
                <a:solidFill>
                  <a:schemeClr val="bg1"/>
                </a:solidFill>
                <a:highlight>
                  <a:srgbClr val="000000"/>
                </a:highlight>
              </a:rPr>
              <a:t>Green</a:t>
            </a:r>
            <a:endParaRPr lang="en-US">
              <a:solidFill>
                <a:schemeClr val="bg1"/>
              </a:solidFill>
              <a:highlight>
                <a:srgbClr val="000000"/>
              </a:highlight>
            </a:endParaRPr>
          </a:p>
          <a:p>
            <a:r>
              <a:rPr lang="en-US">
                <a:solidFill>
                  <a:schemeClr val="bg1"/>
                </a:solidFill>
                <a:highlight>
                  <a:srgbClr val="000000"/>
                </a:highlight>
              </a:rPr>
              <a:t>Blue</a:t>
            </a:r>
            <a:endParaRPr lang="en-US">
              <a:solidFill>
                <a:schemeClr val="bg1"/>
              </a:solidFill>
              <a:highlight>
                <a:srgbClr val="000000"/>
              </a:highlight>
            </a:endParaRPr>
          </a:p>
          <a:p>
            <a:r>
              <a:rPr lang="en-US">
                <a:solidFill>
                  <a:schemeClr val="bg1"/>
                </a:solidFill>
                <a:highlight>
                  <a:srgbClr val="000000"/>
                </a:highlight>
              </a:rPr>
              <a:t>Yellow</a:t>
            </a:r>
            <a:endParaRPr lang="en-US">
              <a:solidFill>
                <a:schemeClr val="bg1"/>
              </a:solidFill>
              <a:highlight>
                <a:srgbClr val="000000"/>
              </a:highlight>
            </a:endParaRPr>
          </a:p>
          <a:p>
            <a:endParaRPr lang="en-US"/>
          </a:p>
          <a:p>
            <a:pPr marL="285750" indent="-285750">
              <a:buFont typeface="Wingdings" panose="05000000000000000000" charset="0"/>
              <a:buChar char="Ø"/>
            </a:pPr>
            <a:r>
              <a:rPr lang="en-US"/>
              <a:t>Similarly, we can use loops for lists, sets and dictionaries.</a:t>
            </a:r>
            <a:endParaRPr lang="en-US"/>
          </a:p>
          <a:p>
            <a:endParaRPr lang="en-US"/>
          </a:p>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range():</a:t>
            </a:r>
            <a:endParaRPr lang="en-US"/>
          </a:p>
          <a:p>
            <a:pPr marL="285750" indent="-285750">
              <a:buFont typeface="Wingdings" panose="05000000000000000000" charset="0"/>
              <a:buChar char="Ø"/>
            </a:pPr>
            <a:r>
              <a:rPr lang="en-US"/>
              <a:t>What if we do not want to iterate over a sequence? What if we want to use for loop for a specific number of times?</a:t>
            </a:r>
            <a:endParaRPr lang="en-US"/>
          </a:p>
          <a:p>
            <a:endParaRPr lang="en-US"/>
          </a:p>
          <a:p>
            <a:endParaRPr lang="en-US"/>
          </a:p>
        </p:txBody>
      </p:sp>
      <p:sp>
        <p:nvSpPr>
          <p:cNvPr id="6" name="Text Box 5"/>
          <p:cNvSpPr txBox="1"/>
          <p:nvPr/>
        </p:nvSpPr>
        <p:spPr>
          <a:xfrm>
            <a:off x="0" y="5389245"/>
            <a:ext cx="6096000" cy="1198880"/>
          </a:xfrm>
          <a:prstGeom prst="rect">
            <a:avLst/>
          </a:prstGeom>
          <a:noFill/>
        </p:spPr>
        <p:txBody>
          <a:bodyPr wrap="square" rtlCol="0" anchor="t">
            <a:spAutoFit/>
          </a:bodyPr>
          <a:p>
            <a:pPr marL="457200" indent="-457200">
              <a:buFont typeface="Wingdings" panose="05000000000000000000" charset="0"/>
              <a:buChar char="Ø"/>
            </a:pPr>
            <a:r>
              <a:rPr lang="en-US" u="sng">
                <a:solidFill>
                  <a:srgbClr val="00B0F0"/>
                </a:solidFill>
                <a:latin typeface="Broadway" panose="04040905080B02020502" charset="0"/>
                <a:cs typeface="Broadway" panose="04040905080B02020502" charset="0"/>
              </a:rPr>
              <a:t>Example:</a:t>
            </a:r>
            <a:endParaRPr lang="en-US" u="sng">
              <a:solidFill>
                <a:srgbClr val="00B0F0"/>
              </a:solidFill>
              <a:latin typeface="Broadway" panose="04040905080B02020502" charset="0"/>
              <a:cs typeface="Broadway" panose="04040905080B02020502" charset="0"/>
            </a:endParaRPr>
          </a:p>
          <a:p>
            <a:endParaRPr lang="en-US"/>
          </a:p>
          <a:p>
            <a:r>
              <a:rPr lang="en-US">
                <a:solidFill>
                  <a:schemeClr val="bg1"/>
                </a:solidFill>
                <a:highlight>
                  <a:srgbClr val="000000"/>
                </a:highlight>
              </a:rPr>
              <a:t>for k in range(5):</a:t>
            </a:r>
            <a:endParaRPr lang="en-US">
              <a:solidFill>
                <a:schemeClr val="bg1"/>
              </a:solidFill>
              <a:highlight>
                <a:srgbClr val="000000"/>
              </a:highlight>
            </a:endParaRPr>
          </a:p>
          <a:p>
            <a:r>
              <a:rPr lang="en-US">
                <a:solidFill>
                  <a:schemeClr val="bg1"/>
                </a:solidFill>
                <a:highlight>
                  <a:srgbClr val="000000"/>
                </a:highlight>
              </a:rPr>
              <a:t>    print(k)</a:t>
            </a:r>
            <a:endParaRPr lang="en-US">
              <a:solidFill>
                <a:schemeClr val="bg1"/>
              </a:solidFill>
              <a:highlight>
                <a:srgbClr val="000000"/>
              </a:highlight>
            </a:endParaRPr>
          </a:p>
        </p:txBody>
      </p:sp>
      <p:sp>
        <p:nvSpPr>
          <p:cNvPr id="7" name="Text Box 6"/>
          <p:cNvSpPr txBox="1"/>
          <p:nvPr/>
        </p:nvSpPr>
        <p:spPr>
          <a:xfrm>
            <a:off x="2771140" y="4827905"/>
            <a:ext cx="6096000" cy="368300"/>
          </a:xfrm>
          <a:prstGeom prst="rect">
            <a:avLst/>
          </a:prstGeom>
          <a:noFill/>
        </p:spPr>
        <p:txBody>
          <a:bodyPr wrap="square" rtlCol="0" anchor="t">
            <a:spAutoFit/>
          </a:bodyPr>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8524875" cy="6339205"/>
          </a:xfrm>
          <a:prstGeom prst="rect">
            <a:avLst/>
          </a:prstGeom>
          <a:noFill/>
        </p:spPr>
        <p:txBody>
          <a:bodyPr wrap="square" rtlCol="0" anchor="t">
            <a:spAutoFit/>
          </a:bodyPr>
          <a:p>
            <a:pPr marL="285750" indent="-285750">
              <a:buFont typeface="Wingdings" panose="05000000000000000000" charset="0"/>
              <a:buChar char="q"/>
            </a:pPr>
            <a:r>
              <a:rPr lang="en-US" sz="2800" u="sng">
                <a:solidFill>
                  <a:srgbClr val="FF0000"/>
                </a:solidFill>
                <a:latin typeface="Broadway" panose="04040905080B02020502" charset="0"/>
                <a:cs typeface="Broadway" panose="04040905080B02020502" charset="0"/>
              </a:rPr>
              <a:t>Python while Loop</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As the name suggests, while loops execute statements while the condition is True. As soon as the condition becomes False, the interpreter comes out of the while loop.</a:t>
            </a:r>
            <a:endParaRPr lang="en-US"/>
          </a:p>
          <a:p>
            <a:pPr marL="285750" indent="-285750">
              <a:buFont typeface="Wingdings" panose="05000000000000000000" charset="0"/>
              <a:buChar char="Ø"/>
            </a:pPr>
            <a:r>
              <a:rPr lang="en-US" u="sng">
                <a:solidFill>
                  <a:srgbClr val="00B0F0"/>
                </a:solidFill>
              </a:rPr>
              <a:t>Example:</a:t>
            </a:r>
            <a:endParaRPr lang="en-US" u="sng">
              <a:solidFill>
                <a:srgbClr val="00B0F0"/>
              </a:solidFill>
            </a:endParaRPr>
          </a:p>
          <a:p>
            <a:endParaRPr lang="en-US"/>
          </a:p>
          <a:p>
            <a:r>
              <a:rPr lang="en-US">
                <a:solidFill>
                  <a:schemeClr val="bg1"/>
                </a:solidFill>
                <a:highlight>
                  <a:srgbClr val="000000"/>
                </a:highlight>
              </a:rPr>
              <a:t>count = 5</a:t>
            </a:r>
            <a:endParaRPr lang="en-US">
              <a:solidFill>
                <a:schemeClr val="bg1"/>
              </a:solidFill>
              <a:highlight>
                <a:srgbClr val="000000"/>
              </a:highlight>
            </a:endParaRPr>
          </a:p>
          <a:p>
            <a:r>
              <a:rPr lang="en-US">
                <a:solidFill>
                  <a:schemeClr val="bg1"/>
                </a:solidFill>
                <a:highlight>
                  <a:srgbClr val="000000"/>
                </a:highlight>
              </a:rPr>
              <a:t>while (count &gt; 0):</a:t>
            </a:r>
            <a:endParaRPr lang="en-US">
              <a:solidFill>
                <a:schemeClr val="bg1"/>
              </a:solidFill>
              <a:highlight>
                <a:srgbClr val="000000"/>
              </a:highlight>
            </a:endParaRPr>
          </a:p>
          <a:p>
            <a:r>
              <a:rPr lang="en-US">
                <a:solidFill>
                  <a:schemeClr val="bg1"/>
                </a:solidFill>
                <a:highlight>
                  <a:srgbClr val="000000"/>
                </a:highlight>
              </a:rPr>
              <a:t>  print(count)</a:t>
            </a:r>
            <a:endParaRPr lang="en-US">
              <a:solidFill>
                <a:schemeClr val="bg1"/>
              </a:solidFill>
              <a:highlight>
                <a:srgbClr val="000000"/>
              </a:highlight>
            </a:endParaRPr>
          </a:p>
          <a:p>
            <a:r>
              <a:rPr lang="en-US">
                <a:solidFill>
                  <a:schemeClr val="bg1"/>
                </a:solidFill>
                <a:highlight>
                  <a:srgbClr val="000000"/>
                </a:highlight>
              </a:rPr>
              <a:t>  count = count - 1</a:t>
            </a:r>
            <a:endParaRPr lang="en-US">
              <a:solidFill>
                <a:schemeClr val="bg1"/>
              </a:solidFill>
              <a:highlight>
                <a:srgbClr val="000000"/>
              </a:highlight>
            </a:endParaRPr>
          </a:p>
          <a:p>
            <a:endParaRPr lang="en-US">
              <a:solidFill>
                <a:schemeClr val="bg1"/>
              </a:solidFill>
              <a:highlight>
                <a:srgbClr val="000000"/>
              </a:highlight>
            </a:endParaRPr>
          </a:p>
          <a:p>
            <a:r>
              <a:rPr lang="en-US">
                <a:solidFill>
                  <a:srgbClr val="00B0F0"/>
                </a:solidFill>
                <a:highlight>
                  <a:srgbClr val="000000"/>
                </a:highlight>
              </a:rPr>
              <a:t>Output:</a:t>
            </a:r>
            <a:endParaRPr lang="en-US">
              <a:solidFill>
                <a:srgbClr val="00B0F0"/>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5</a:t>
            </a:r>
            <a:endParaRPr lang="en-US">
              <a:solidFill>
                <a:schemeClr val="bg1"/>
              </a:solidFill>
              <a:highlight>
                <a:srgbClr val="000000"/>
              </a:highlight>
            </a:endParaRPr>
          </a:p>
          <a:p>
            <a:r>
              <a:rPr lang="en-US">
                <a:solidFill>
                  <a:schemeClr val="bg1"/>
                </a:solidFill>
                <a:highlight>
                  <a:srgbClr val="000000"/>
                </a:highlight>
              </a:rPr>
              <a:t>4</a:t>
            </a:r>
            <a:endParaRPr lang="en-US">
              <a:solidFill>
                <a:schemeClr val="bg1"/>
              </a:solidFill>
              <a:highlight>
                <a:srgbClr val="000000"/>
              </a:highlight>
            </a:endParaRPr>
          </a:p>
          <a:p>
            <a:r>
              <a:rPr lang="en-US">
                <a:solidFill>
                  <a:schemeClr val="bg1"/>
                </a:solidFill>
                <a:highlight>
                  <a:srgbClr val="000000"/>
                </a:highlight>
              </a:rPr>
              <a:t>3</a:t>
            </a:r>
            <a:endParaRPr lang="en-US">
              <a:solidFill>
                <a:schemeClr val="bg1"/>
              </a:solidFill>
              <a:highlight>
                <a:srgbClr val="000000"/>
              </a:highlight>
            </a:endParaRPr>
          </a:p>
          <a:p>
            <a:r>
              <a:rPr lang="en-US">
                <a:solidFill>
                  <a:schemeClr val="bg1"/>
                </a:solidFill>
                <a:highlight>
                  <a:srgbClr val="000000"/>
                </a:highlight>
              </a:rPr>
              <a:t>2</a:t>
            </a:r>
            <a:endParaRPr lang="en-US">
              <a:solidFill>
                <a:schemeClr val="bg1"/>
              </a:solidFill>
              <a:highlight>
                <a:srgbClr val="000000"/>
              </a:highlight>
            </a:endParaRPr>
          </a:p>
          <a:p>
            <a:r>
              <a:rPr lang="en-US">
                <a:solidFill>
                  <a:schemeClr val="bg1"/>
                </a:solidFill>
                <a:highlight>
                  <a:srgbClr val="000000"/>
                </a:highlight>
              </a:rPr>
              <a:t>1</a:t>
            </a:r>
            <a:endParaRPr lang="en-US">
              <a:solidFill>
                <a:schemeClr val="bg1"/>
              </a:solidFill>
              <a:highlight>
                <a:srgbClr val="000000"/>
              </a:highlight>
            </a:endParaRPr>
          </a:p>
          <a:p>
            <a:endParaRPr lang="en-US"/>
          </a:p>
          <a:p>
            <a:pPr marL="285750" indent="-285750">
              <a:buFont typeface="Wingdings" panose="05000000000000000000" charset="0"/>
              <a:buChar char="Ø"/>
            </a:pPr>
            <a:r>
              <a:rPr lang="en-US"/>
              <a:t>Here, the count variable is set to 5 which decrements after each iteration. Depending upon the while loop condition, we need to either increment or decrement the counter variable (the variable count, in our case) or the loop will continue forever.</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0"/>
            <a:ext cx="12192000" cy="68586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9616440" cy="6858000"/>
          </a:xfrm>
          <a:prstGeom prst="rect">
            <a:avLst/>
          </a:prstGeom>
          <a:noFill/>
        </p:spPr>
        <p:txBody>
          <a:bodyPr wrap="square" rtlCol="0" anchor="t">
            <a:no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break statement</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The break statement enables a program to skip over a part of the code. A break statement terminates the very loop it lies within.</a:t>
            </a:r>
            <a:endParaRPr lang="en-US"/>
          </a:p>
          <a:p>
            <a:pPr marL="285750" indent="-285750">
              <a:buFont typeface="Wingdings" panose="05000000000000000000" charset="0"/>
              <a:buChar char="Ø"/>
            </a:pPr>
            <a:r>
              <a:rPr lang="en-US" u="sng">
                <a:solidFill>
                  <a:srgbClr val="00B0F0"/>
                </a:solidFill>
              </a:rPr>
              <a:t>example</a:t>
            </a:r>
            <a:r>
              <a:rPr lang="en-IN" altLang="en-US" u="sng">
                <a:solidFill>
                  <a:srgbClr val="00B0F0"/>
                </a:solidFill>
              </a:rPr>
              <a:t>:</a:t>
            </a:r>
            <a:endParaRPr lang="en-US" u="sng">
              <a:solidFill>
                <a:srgbClr val="00B0F0"/>
              </a:solidFill>
            </a:endParaRPr>
          </a:p>
          <a:p>
            <a:endParaRPr lang="en-US"/>
          </a:p>
          <a:p>
            <a:r>
              <a:rPr lang="en-US">
                <a:solidFill>
                  <a:schemeClr val="bg1"/>
                </a:solidFill>
                <a:highlight>
                  <a:srgbClr val="000000"/>
                </a:highlight>
              </a:rPr>
              <a:t>for i in range(1,101,1):</a:t>
            </a:r>
            <a:endParaRPr lang="en-US">
              <a:solidFill>
                <a:schemeClr val="bg1"/>
              </a:solidFill>
              <a:highlight>
                <a:srgbClr val="000000"/>
              </a:highlight>
            </a:endParaRPr>
          </a:p>
          <a:p>
            <a:r>
              <a:rPr lang="en-US">
                <a:solidFill>
                  <a:schemeClr val="bg1"/>
                </a:solidFill>
                <a:highlight>
                  <a:srgbClr val="000000"/>
                </a:highlight>
              </a:rPr>
              <a:t>    print(i ,end=" ")</a:t>
            </a:r>
            <a:endParaRPr lang="en-US">
              <a:solidFill>
                <a:schemeClr val="bg1"/>
              </a:solidFill>
              <a:highlight>
                <a:srgbClr val="000000"/>
              </a:highlight>
            </a:endParaRPr>
          </a:p>
          <a:p>
            <a:r>
              <a:rPr lang="en-US">
                <a:solidFill>
                  <a:schemeClr val="bg1"/>
                </a:solidFill>
                <a:highlight>
                  <a:srgbClr val="000000"/>
                </a:highlight>
              </a:rPr>
              <a:t>    if(i==50):</a:t>
            </a:r>
            <a:endParaRPr lang="en-US">
              <a:solidFill>
                <a:schemeClr val="bg1"/>
              </a:solidFill>
              <a:highlight>
                <a:srgbClr val="000000"/>
              </a:highlight>
            </a:endParaRPr>
          </a:p>
          <a:p>
            <a:r>
              <a:rPr lang="en-US">
                <a:solidFill>
                  <a:schemeClr val="bg1"/>
                </a:solidFill>
                <a:highlight>
                  <a:srgbClr val="000000"/>
                </a:highlight>
              </a:rPr>
              <a:t>        break</a:t>
            </a:r>
            <a:endParaRPr lang="en-US">
              <a:solidFill>
                <a:schemeClr val="bg1"/>
              </a:solidFill>
              <a:highlight>
                <a:srgbClr val="000000"/>
              </a:highlight>
            </a:endParaRPr>
          </a:p>
          <a:p>
            <a:r>
              <a:rPr lang="en-US">
                <a:solidFill>
                  <a:schemeClr val="bg1"/>
                </a:solidFill>
                <a:highlight>
                  <a:srgbClr val="000000"/>
                </a:highlight>
              </a:rPr>
              <a:t>    else:</a:t>
            </a:r>
            <a:endParaRPr lang="en-US">
              <a:solidFill>
                <a:schemeClr val="bg1"/>
              </a:solidFill>
              <a:highlight>
                <a:srgbClr val="000000"/>
              </a:highlight>
            </a:endParaRPr>
          </a:p>
          <a:p>
            <a:r>
              <a:rPr lang="en-US">
                <a:solidFill>
                  <a:schemeClr val="bg1"/>
                </a:solidFill>
                <a:highlight>
                  <a:srgbClr val="000000"/>
                </a:highlight>
              </a:rPr>
              <a:t>        print("Mississippi")</a:t>
            </a:r>
            <a:endParaRPr lang="en-US">
              <a:solidFill>
                <a:schemeClr val="bg1"/>
              </a:solidFill>
              <a:highlight>
                <a:srgbClr val="000000"/>
              </a:highlight>
            </a:endParaRPr>
          </a:p>
          <a:p>
            <a:r>
              <a:rPr lang="en-US">
                <a:solidFill>
                  <a:schemeClr val="bg1"/>
                </a:solidFill>
                <a:highlight>
                  <a:srgbClr val="000000"/>
                </a:highlight>
              </a:rPr>
              <a:t>print("Thank you")</a:t>
            </a:r>
            <a:endParaRPr lang="en-US">
              <a:solidFill>
                <a:schemeClr val="bg1"/>
              </a:solidFill>
              <a:highlight>
                <a:srgbClr val="000000"/>
              </a:highlight>
            </a:endParaRPr>
          </a:p>
          <a:p>
            <a:endParaRPr lang="en-US">
              <a:solidFill>
                <a:schemeClr val="bg1"/>
              </a:solidFill>
              <a:highlight>
                <a:srgbClr val="000000"/>
              </a:highlight>
            </a:endParaRPr>
          </a:p>
          <a:p>
            <a:r>
              <a:rPr lang="en-US">
                <a:solidFill>
                  <a:srgbClr val="00B0F0"/>
                </a:solidFill>
                <a:highlight>
                  <a:srgbClr val="000000"/>
                </a:highlight>
              </a:rPr>
              <a:t>output</a:t>
            </a:r>
            <a:endParaRPr lang="en-US">
              <a:solidFill>
                <a:srgbClr val="00B0F0"/>
              </a:solidFill>
              <a:highlight>
                <a:srgbClr val="000000"/>
              </a:highlight>
            </a:endParaRPr>
          </a:p>
          <a:p>
            <a:r>
              <a:rPr lang="en-US">
                <a:solidFill>
                  <a:schemeClr val="bg1"/>
                </a:solidFill>
                <a:highlight>
                  <a:srgbClr val="000000"/>
                </a:highlight>
              </a:rPr>
              <a:t>1 Mississippi</a:t>
            </a:r>
            <a:endParaRPr lang="en-US">
              <a:solidFill>
                <a:schemeClr val="bg1"/>
              </a:solidFill>
              <a:highlight>
                <a:srgbClr val="000000"/>
              </a:highlight>
            </a:endParaRPr>
          </a:p>
          <a:p>
            <a:r>
              <a:rPr lang="en-US">
                <a:solidFill>
                  <a:schemeClr val="bg1"/>
                </a:solidFill>
                <a:highlight>
                  <a:srgbClr val="000000"/>
                </a:highlight>
              </a:rPr>
              <a:t>2 Mississippi</a:t>
            </a:r>
            <a:endParaRPr lang="en-US">
              <a:solidFill>
                <a:schemeClr val="bg1"/>
              </a:solidFill>
              <a:highlight>
                <a:srgbClr val="000000"/>
              </a:highlight>
            </a:endParaRPr>
          </a:p>
          <a:p>
            <a:r>
              <a:rPr lang="en-US">
                <a:solidFill>
                  <a:schemeClr val="bg1"/>
                </a:solidFill>
                <a:highlight>
                  <a:srgbClr val="000000"/>
                </a:highlight>
              </a:rPr>
              <a:t>3 Mississippi</a:t>
            </a:r>
            <a:endParaRPr lang="en-US">
              <a:solidFill>
                <a:schemeClr val="bg1"/>
              </a:solidFill>
              <a:highlight>
                <a:srgbClr val="000000"/>
              </a:highlight>
            </a:endParaRPr>
          </a:p>
          <a:p>
            <a:r>
              <a:rPr lang="en-US">
                <a:solidFill>
                  <a:schemeClr val="bg1"/>
                </a:solidFill>
                <a:highlight>
                  <a:srgbClr val="000000"/>
                </a:highlight>
              </a:rPr>
              <a:t>4 Mississippi</a:t>
            </a:r>
            <a:endParaRPr lang="en-US">
              <a:solidFill>
                <a:schemeClr val="bg1"/>
              </a:solidFill>
              <a:highlight>
                <a:srgbClr val="000000"/>
              </a:highlight>
            </a:endParaRPr>
          </a:p>
          <a:p>
            <a:r>
              <a:rPr lang="en-US">
                <a:solidFill>
                  <a:schemeClr val="bg1"/>
                </a:solidFill>
                <a:highlight>
                  <a:srgbClr val="000000"/>
                </a:highlight>
              </a:rPr>
              <a:t>5 Mississippi</a:t>
            </a:r>
            <a:endParaRPr lang="en-US">
              <a:solidFill>
                <a:schemeClr val="bg1"/>
              </a:solidFill>
              <a:highlight>
                <a:srgbClr val="000000"/>
              </a:highlight>
            </a:endParaRPr>
          </a:p>
          <a:p>
            <a:r>
              <a:rPr lang="en-US">
                <a:solidFill>
                  <a:schemeClr val="bg1"/>
                </a:solidFill>
                <a:highlight>
                  <a:srgbClr val="000000"/>
                </a:highlight>
              </a:rPr>
              <a:t>.</a:t>
            </a:r>
            <a:endParaRPr lang="en-US">
              <a:solidFill>
                <a:schemeClr val="bg1"/>
              </a:solidFill>
              <a:highlight>
                <a:srgbClr val="000000"/>
              </a:highlight>
            </a:endParaRPr>
          </a:p>
          <a:p>
            <a:r>
              <a:rPr lang="en-US">
                <a:solidFill>
                  <a:schemeClr val="bg1"/>
                </a:solidFill>
                <a:highlight>
                  <a:srgbClr val="000000"/>
                </a:highlight>
              </a:rPr>
              <a:t>.</a:t>
            </a:r>
            <a:endParaRPr lang="en-US">
              <a:solidFill>
                <a:schemeClr val="bg1"/>
              </a:solidFill>
              <a:highlight>
                <a:srgbClr val="000000"/>
              </a:highlight>
            </a:endParaRPr>
          </a:p>
          <a:p>
            <a:r>
              <a:rPr lang="en-US">
                <a:solidFill>
                  <a:schemeClr val="bg1"/>
                </a:solidFill>
                <a:highlight>
                  <a:srgbClr val="000000"/>
                </a:highlight>
              </a:rPr>
              <a:t>.</a:t>
            </a:r>
            <a:endParaRPr lang="en-US">
              <a:solidFill>
                <a:schemeClr val="bg1"/>
              </a:solidFill>
              <a:highlight>
                <a:srgbClr val="000000"/>
              </a:highlight>
            </a:endParaRPr>
          </a:p>
          <a:p>
            <a:r>
              <a:rPr lang="en-US">
                <a:solidFill>
                  <a:schemeClr val="bg1"/>
                </a:solidFill>
                <a:highlight>
                  <a:srgbClr val="000000"/>
                </a:highlight>
              </a:rPr>
              <a:t>50 Mississippi</a:t>
            </a:r>
            <a:endParaRPr lang="en-US">
              <a:solidFill>
                <a:schemeClr val="bg1"/>
              </a:solidFill>
              <a:highlight>
                <a:srgbClr val="000000"/>
              </a:highlight>
            </a:endParaRPr>
          </a:p>
        </p:txBody>
      </p:sp>
      <p:pic>
        <p:nvPicPr>
          <p:cNvPr id="3" name="Picture 2"/>
          <p:cNvPicPr>
            <a:picLocks noChangeAspect="1"/>
          </p:cNvPicPr>
          <p:nvPr/>
        </p:nvPicPr>
        <p:blipFill>
          <a:blip r:embed="rId1"/>
          <a:stretch>
            <a:fillRect/>
          </a:stretch>
        </p:blipFill>
        <p:spPr>
          <a:xfrm>
            <a:off x="7197090" y="1598930"/>
            <a:ext cx="4857750" cy="43338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6096000" cy="5231130"/>
          </a:xfrm>
          <a:prstGeom prst="rect">
            <a:avLst/>
          </a:prstGeom>
          <a:noFill/>
        </p:spPr>
        <p:txBody>
          <a:bodyPr wrap="square" rtlCol="0" anchor="t">
            <a:spAutoFit/>
          </a:bodyPr>
          <a:p>
            <a:pPr marL="285750" indent="-285750">
              <a:buFont typeface="Wingdings" panose="05000000000000000000" charset="0"/>
              <a:buChar char="q"/>
            </a:pPr>
            <a:r>
              <a:rPr lang="en-US" sz="2800" u="sng">
                <a:solidFill>
                  <a:srgbClr val="FF0000"/>
                </a:solidFill>
                <a:latin typeface="Broadway" panose="04040905080B02020502" charset="0"/>
                <a:cs typeface="Broadway" panose="04040905080B02020502" charset="0"/>
              </a:rPr>
              <a:t>Continue Statement</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The continue statement skips the rest of the loop statements and causes the next iteration to occur.</a:t>
            </a:r>
            <a:endParaRPr lang="en-US"/>
          </a:p>
          <a:p>
            <a:pPr marL="285750" indent="-285750">
              <a:buFont typeface="Wingdings" panose="05000000000000000000" charset="0"/>
              <a:buChar char="Ø"/>
            </a:pPr>
            <a:r>
              <a:rPr lang="en-IN" altLang="en-US" u="sng">
                <a:solidFill>
                  <a:srgbClr val="00B0F0"/>
                </a:solidFill>
              </a:rPr>
              <a:t>E</a:t>
            </a:r>
            <a:r>
              <a:rPr lang="en-US" u="sng">
                <a:solidFill>
                  <a:srgbClr val="00B0F0"/>
                </a:solidFill>
              </a:rPr>
              <a:t>xample</a:t>
            </a:r>
            <a:r>
              <a:rPr lang="en-IN" altLang="en-US" u="sng">
                <a:solidFill>
                  <a:srgbClr val="00B0F0"/>
                </a:solidFill>
              </a:rPr>
              <a:t>:</a:t>
            </a:r>
            <a:endParaRPr lang="en-US" u="sng">
              <a:solidFill>
                <a:srgbClr val="00B0F0"/>
              </a:solidFill>
            </a:endParaRPr>
          </a:p>
          <a:p>
            <a:endParaRPr lang="en-US"/>
          </a:p>
          <a:p>
            <a:r>
              <a:rPr lang="en-US">
                <a:solidFill>
                  <a:schemeClr val="bg1"/>
                </a:solidFill>
                <a:highlight>
                  <a:srgbClr val="000000"/>
                </a:highlight>
              </a:rPr>
              <a:t>for i in [2,3,4,6,8,0]:</a:t>
            </a:r>
            <a:endParaRPr lang="en-US">
              <a:solidFill>
                <a:schemeClr val="bg1"/>
              </a:solidFill>
              <a:highlight>
                <a:srgbClr val="000000"/>
              </a:highlight>
            </a:endParaRPr>
          </a:p>
          <a:p>
            <a:r>
              <a:rPr lang="en-US">
                <a:solidFill>
                  <a:schemeClr val="bg1"/>
                </a:solidFill>
                <a:highlight>
                  <a:srgbClr val="000000"/>
                </a:highlight>
              </a:rPr>
              <a:t>    if (i%2!=0):</a:t>
            </a:r>
            <a:endParaRPr lang="en-US">
              <a:solidFill>
                <a:schemeClr val="bg1"/>
              </a:solidFill>
              <a:highlight>
                <a:srgbClr val="000000"/>
              </a:highlight>
            </a:endParaRPr>
          </a:p>
          <a:p>
            <a:r>
              <a:rPr lang="en-US">
                <a:solidFill>
                  <a:schemeClr val="bg1"/>
                </a:solidFill>
                <a:highlight>
                  <a:srgbClr val="000000"/>
                </a:highlight>
              </a:rPr>
              <a:t>        continue</a:t>
            </a:r>
            <a:endParaRPr lang="en-US">
              <a:solidFill>
                <a:schemeClr val="bg1"/>
              </a:solidFill>
              <a:highlight>
                <a:srgbClr val="000000"/>
              </a:highlight>
            </a:endParaRPr>
          </a:p>
          <a:p>
            <a:r>
              <a:rPr lang="en-US">
                <a:solidFill>
                  <a:schemeClr val="bg1"/>
                </a:solidFill>
                <a:highlight>
                  <a:srgbClr val="000000"/>
                </a:highlight>
              </a:rPr>
              <a:t>    print(i)</a:t>
            </a:r>
            <a:endParaRPr lang="en-US">
              <a:solidFill>
                <a:schemeClr val="bg1"/>
              </a:solidFill>
              <a:highlight>
                <a:srgbClr val="000000"/>
              </a:highlight>
            </a:endParaRPr>
          </a:p>
          <a:p>
            <a:endParaRPr lang="en-US">
              <a:solidFill>
                <a:schemeClr val="bg1"/>
              </a:solidFill>
              <a:highlight>
                <a:srgbClr val="000000"/>
              </a:highlight>
            </a:endParaRPr>
          </a:p>
          <a:p>
            <a:r>
              <a:rPr lang="en-US">
                <a:solidFill>
                  <a:srgbClr val="00B0F0"/>
                </a:solidFill>
                <a:highlight>
                  <a:srgbClr val="000000"/>
                </a:highlight>
              </a:rPr>
              <a:t>output</a:t>
            </a:r>
            <a:endParaRPr lang="en-US">
              <a:solidFill>
                <a:srgbClr val="00B0F0"/>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2</a:t>
            </a:r>
            <a:endParaRPr lang="en-US">
              <a:solidFill>
                <a:schemeClr val="bg1"/>
              </a:solidFill>
              <a:highlight>
                <a:srgbClr val="000000"/>
              </a:highlight>
            </a:endParaRPr>
          </a:p>
          <a:p>
            <a:r>
              <a:rPr lang="en-US">
                <a:solidFill>
                  <a:schemeClr val="bg1"/>
                </a:solidFill>
                <a:highlight>
                  <a:srgbClr val="000000"/>
                </a:highlight>
              </a:rPr>
              <a:t>4</a:t>
            </a:r>
            <a:endParaRPr lang="en-US">
              <a:solidFill>
                <a:schemeClr val="bg1"/>
              </a:solidFill>
              <a:highlight>
                <a:srgbClr val="000000"/>
              </a:highlight>
            </a:endParaRPr>
          </a:p>
          <a:p>
            <a:r>
              <a:rPr lang="en-US">
                <a:solidFill>
                  <a:schemeClr val="bg1"/>
                </a:solidFill>
                <a:highlight>
                  <a:srgbClr val="000000"/>
                </a:highlight>
              </a:rPr>
              <a:t>6</a:t>
            </a:r>
            <a:endParaRPr lang="en-US">
              <a:solidFill>
                <a:schemeClr val="bg1"/>
              </a:solidFill>
              <a:highlight>
                <a:srgbClr val="000000"/>
              </a:highlight>
            </a:endParaRPr>
          </a:p>
          <a:p>
            <a:r>
              <a:rPr lang="en-US">
                <a:solidFill>
                  <a:schemeClr val="bg1"/>
                </a:solidFill>
                <a:highlight>
                  <a:srgbClr val="000000"/>
                </a:highlight>
              </a:rPr>
              <a:t>8</a:t>
            </a:r>
            <a:endParaRPr lang="en-US">
              <a:solidFill>
                <a:schemeClr val="bg1"/>
              </a:solidFill>
              <a:highlight>
                <a:srgbClr val="000000"/>
              </a:highlight>
            </a:endParaRPr>
          </a:p>
          <a:p>
            <a:r>
              <a:rPr lang="en-US">
                <a:solidFill>
                  <a:schemeClr val="bg1"/>
                </a:solidFill>
                <a:highlight>
                  <a:srgbClr val="000000"/>
                </a:highlight>
              </a:rPr>
              <a:t>0</a:t>
            </a:r>
            <a:endParaRPr lang="en-US">
              <a:solidFill>
                <a:schemeClr val="bg1"/>
              </a:solidFill>
              <a:highlight>
                <a:srgbClr val="000000"/>
              </a:highlight>
            </a:endParaRPr>
          </a:p>
        </p:txBody>
      </p:sp>
      <p:pic>
        <p:nvPicPr>
          <p:cNvPr id="3" name="Picture 2"/>
          <p:cNvPicPr>
            <a:picLocks noChangeAspect="1"/>
          </p:cNvPicPr>
          <p:nvPr/>
        </p:nvPicPr>
        <p:blipFill>
          <a:blip r:embed="rId1"/>
          <a:stretch>
            <a:fillRect/>
          </a:stretch>
        </p:blipFill>
        <p:spPr>
          <a:xfrm>
            <a:off x="6765290" y="2152650"/>
            <a:ext cx="5426710" cy="45580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635"/>
            <a:ext cx="12192000" cy="68573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4289</Words>
  <Application>WPS Presentation</Application>
  <PresentationFormat>Widescreen</PresentationFormat>
  <Paragraphs>207</Paragraphs>
  <Slides>17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Arial</vt:lpstr>
      <vt:lpstr>SimSun</vt:lpstr>
      <vt:lpstr>Wingdings</vt:lpstr>
      <vt:lpstr>Wingdings</vt:lpstr>
      <vt:lpstr>Broadway</vt:lpstr>
      <vt:lpstr>Microsoft YaHei</vt:lpstr>
      <vt:lpstr>Arial Unicode MS</vt:lpstr>
      <vt:lpstr>Calibri Light</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Rahul</dc:creator>
  <cp:lastModifiedBy>Rahul</cp:lastModifiedBy>
  <cp:revision>3</cp:revision>
  <dcterms:created xsi:type="dcterms:W3CDTF">2024-05-01T06:40:00Z</dcterms:created>
  <dcterms:modified xsi:type="dcterms:W3CDTF">2024-05-09T07:24:11Z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231754569F9247A3B44B553DD62D9C78_11</vt:lpwstr>
  </property>
  <property fmtid="{D5CDD505-2E9C-101B-9397-08002B2CF9AE}" pid="3" name="KSOProductBuildVer">
    <vt:lpwstr>1033-12.2.0.16909</vt:lpwstr>
  </property>
</Properties>
</file>