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6" r:id="rId3"/>
    <p:sldId id="263" r:id="rId4"/>
    <p:sldId id="257" r:id="rId5"/>
    <p:sldId id="258" r:id="rId6"/>
    <p:sldId id="259" r:id="rId7"/>
    <p:sldId id="260" r:id="rId8"/>
    <p:sldId id="262" r:id="rId9"/>
    <p:sldId id="267" r:id="rId10"/>
    <p:sldId id="261" r:id="rId11"/>
    <p:sldId id="264" r:id="rId12"/>
    <p:sldId id="265" r:id="rId13"/>
    <p:sldId id="277" r:id="rId14"/>
    <p:sldId id="27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0" y="0"/>
            <a:ext cx="12192635" cy="685863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12192635" cy="2461260"/>
          </a:xfrm>
          <a:prstGeom prst="rect">
            <a:avLst/>
          </a:prstGeom>
          <a:noFill/>
        </p:spPr>
        <p:txBody>
          <a:bodyPr wrap="square" rtlCol="0" anchor="t">
            <a:spAutoFit/>
          </a:bodyPr>
          <a:p>
            <a:pPr marL="457200" indent="-457200">
              <a:buFont typeface="Wingdings" panose="05000000000000000000" charset="0"/>
              <a:buChar char="q"/>
            </a:pPr>
            <a:r>
              <a:rPr lang="en-US" sz="2800" u="sng">
                <a:solidFill>
                  <a:srgbClr val="FF0000"/>
                </a:solidFill>
                <a:latin typeface="Broadway" panose="04040905080B02020502" charset="0"/>
                <a:cs typeface="Broadway" panose="04040905080B02020502" charset="0"/>
              </a:rPr>
              <a:t>Python Functions</a:t>
            </a:r>
            <a:endParaRPr lang="en-US" sz="2800" u="sng">
              <a:solidFill>
                <a:srgbClr val="FF0000"/>
              </a:solidFill>
              <a:latin typeface="Broadway" panose="04040905080B02020502" charset="0"/>
              <a:cs typeface="Broadway" panose="04040905080B02020502" charset="0"/>
            </a:endParaRPr>
          </a:p>
          <a:p>
            <a:endParaRPr lang="en-US"/>
          </a:p>
          <a:p>
            <a:pPr marL="285750" indent="-285750">
              <a:buFont typeface="Wingdings" panose="05000000000000000000" charset="0"/>
              <a:buChar char="Ø"/>
            </a:pPr>
            <a:r>
              <a:rPr lang="en-US"/>
              <a:t>A function is a </a:t>
            </a:r>
            <a:r>
              <a:rPr lang="en-US" u="sng">
                <a:solidFill>
                  <a:srgbClr val="00B0F0"/>
                </a:solidFill>
              </a:rPr>
              <a:t>block of code</a:t>
            </a:r>
            <a:r>
              <a:rPr lang="en-US"/>
              <a:t> that performs a specific task whenever it is called. In bigger programs, where we have large amounts of code, it is advisable to create or use existing functions that make the program flow organized and neat.</a:t>
            </a:r>
            <a:endParaRPr lang="en-US"/>
          </a:p>
          <a:p>
            <a:endParaRPr lang="en-US"/>
          </a:p>
          <a:p>
            <a:pPr marL="285750" indent="-285750">
              <a:buFont typeface="Wingdings" panose="05000000000000000000" charset="0"/>
              <a:buChar char="v"/>
            </a:pPr>
            <a:r>
              <a:rPr lang="en-US" b="1" u="sng">
                <a:solidFill>
                  <a:srgbClr val="FF0000"/>
                </a:solidFill>
              </a:rPr>
              <a:t>There are two types of functions:</a:t>
            </a:r>
            <a:endParaRPr lang="en-US" b="1" u="sng">
              <a:solidFill>
                <a:srgbClr val="FF0000"/>
              </a:solidFill>
            </a:endParaRPr>
          </a:p>
          <a:p>
            <a:endParaRPr lang="en-US"/>
          </a:p>
          <a:p>
            <a:pPr indent="0">
              <a:buFont typeface="Arial" panose="020B0604020202020204" pitchFamily="34" charset="0"/>
              <a:buNone/>
            </a:pPr>
            <a:r>
              <a:rPr lang="en-US"/>
              <a:t>   </a:t>
            </a:r>
            <a:endParaRPr lang="en-US"/>
          </a:p>
        </p:txBody>
      </p:sp>
      <p:sp>
        <p:nvSpPr>
          <p:cNvPr id="3" name="Text Box 2"/>
          <p:cNvSpPr txBox="1"/>
          <p:nvPr/>
        </p:nvSpPr>
        <p:spPr>
          <a:xfrm>
            <a:off x="-635" y="2606040"/>
            <a:ext cx="12192000" cy="1630045"/>
          </a:xfrm>
          <a:prstGeom prst="rect">
            <a:avLst/>
          </a:prstGeom>
          <a:noFill/>
        </p:spPr>
        <p:txBody>
          <a:bodyPr wrap="square" rtlCol="0" anchor="t">
            <a:spAutoFit/>
          </a:bodyPr>
          <a:p>
            <a:pPr marL="457200" indent="-457200">
              <a:buFont typeface="Wingdings" panose="05000000000000000000" charset="0"/>
              <a:buChar char="v"/>
            </a:pPr>
            <a:r>
              <a:rPr lang="en-US" sz="2800" b="1" u="sng">
                <a:solidFill>
                  <a:srgbClr val="FF0000"/>
                </a:solidFill>
              </a:rPr>
              <a:t>Built-in functions:</a:t>
            </a:r>
            <a:endParaRPr lang="en-US" sz="2800" b="1" u="sng">
              <a:solidFill>
                <a:srgbClr val="FF0000"/>
              </a:solidFill>
            </a:endParaRPr>
          </a:p>
          <a:p>
            <a:endParaRPr lang="en-US"/>
          </a:p>
          <a:p>
            <a:pPr marL="285750" indent="-285750">
              <a:buFont typeface="Wingdings" panose="05000000000000000000" charset="0"/>
              <a:buChar char="Ø"/>
            </a:pPr>
            <a:r>
              <a:rPr lang="en-US"/>
              <a:t>These functions are defined and </a:t>
            </a:r>
            <a:r>
              <a:rPr lang="en-US">
                <a:solidFill>
                  <a:srgbClr val="00B0F0"/>
                </a:solidFill>
              </a:rPr>
              <a:t>pre-coded</a:t>
            </a:r>
            <a:r>
              <a:rPr lang="en-US"/>
              <a:t> in python. Some examples of built-in functions are as follows:</a:t>
            </a:r>
            <a:endParaRPr lang="en-US"/>
          </a:p>
          <a:p>
            <a:endParaRPr lang="en-US"/>
          </a:p>
          <a:p>
            <a:r>
              <a:rPr lang="en-US"/>
              <a:t>min(), max(), len(), sum(), type(), range(), dict(), list(), tuple(), set(), print(), etc.</a:t>
            </a:r>
            <a:endParaRPr lang="en-US"/>
          </a:p>
        </p:txBody>
      </p:sp>
      <p:sp>
        <p:nvSpPr>
          <p:cNvPr id="4" name="Text Box 3"/>
          <p:cNvSpPr txBox="1"/>
          <p:nvPr/>
        </p:nvSpPr>
        <p:spPr>
          <a:xfrm>
            <a:off x="-635" y="4418965"/>
            <a:ext cx="12192635" cy="2461260"/>
          </a:xfrm>
          <a:prstGeom prst="rect">
            <a:avLst/>
          </a:prstGeom>
          <a:noFill/>
        </p:spPr>
        <p:txBody>
          <a:bodyPr wrap="square" rtlCol="0" anchor="t">
            <a:spAutoFit/>
          </a:bodyPr>
          <a:p>
            <a:pPr marL="457200" indent="-457200">
              <a:buFont typeface="Wingdings" panose="05000000000000000000" charset="0"/>
              <a:buChar char="v"/>
            </a:pPr>
            <a:r>
              <a:rPr lang="en-US" sz="2800" b="1" u="sng">
                <a:solidFill>
                  <a:srgbClr val="FF0000"/>
                </a:solidFill>
              </a:rPr>
              <a:t>User-defined functions:</a:t>
            </a:r>
            <a:endParaRPr lang="en-US" sz="2800" b="1" u="sng">
              <a:solidFill>
                <a:srgbClr val="FF0000"/>
              </a:solidFill>
            </a:endParaRPr>
          </a:p>
          <a:p>
            <a:endParaRPr lang="en-US"/>
          </a:p>
          <a:p>
            <a:pPr marL="285750" indent="-285750">
              <a:buFont typeface="Wingdings" panose="05000000000000000000" charset="0"/>
              <a:buChar char="Ø"/>
            </a:pPr>
            <a:r>
              <a:rPr lang="en-US"/>
              <a:t>We can create functions to perform specific tasks as per our needs. Such functions are called user-defined functions.</a:t>
            </a:r>
            <a:endParaRPr lang="en-US"/>
          </a:p>
          <a:p>
            <a:r>
              <a:rPr lang="en-US"/>
              <a:t>Syntax:</a:t>
            </a:r>
            <a:endParaRPr lang="en-US"/>
          </a:p>
          <a:p>
            <a:endParaRPr lang="en-US"/>
          </a:p>
          <a:p>
            <a:r>
              <a:rPr lang="en-US">
                <a:solidFill>
                  <a:schemeClr val="bg1"/>
                </a:solidFill>
                <a:highlight>
                  <a:srgbClr val="000000"/>
                </a:highlight>
              </a:rPr>
              <a:t>def function_name(parameters):</a:t>
            </a:r>
            <a:endParaRPr lang="en-US">
              <a:solidFill>
                <a:schemeClr val="bg1"/>
              </a:solidFill>
              <a:highlight>
                <a:srgbClr val="000000"/>
              </a:highlight>
            </a:endParaRPr>
          </a:p>
          <a:p>
            <a:r>
              <a:rPr lang="en-US">
                <a:solidFill>
                  <a:schemeClr val="bg1"/>
                </a:solidFill>
                <a:highlight>
                  <a:srgbClr val="000000"/>
                </a:highlight>
              </a:rPr>
              <a:t>  pass</a:t>
            </a:r>
            <a:endParaRPr lang="en-US">
              <a:solidFill>
                <a:schemeClr val="bg1"/>
              </a:solidFill>
              <a:highlight>
                <a:srgbClr val="000000"/>
              </a:highlight>
            </a:endParaRPr>
          </a:p>
          <a:p>
            <a:r>
              <a:rPr lang="en-US">
                <a:solidFill>
                  <a:schemeClr val="bg1"/>
                </a:solidFill>
                <a:highlight>
                  <a:srgbClr val="000000"/>
                </a:highlight>
              </a:rPr>
              <a:t>  # Code and Statements</a:t>
            </a:r>
            <a:endParaRPr lang="en-US">
              <a:solidFill>
                <a:schemeClr val="bg1"/>
              </a:solidFill>
              <a:highlight>
                <a:srgbClr val="000000"/>
              </a:highlight>
            </a:endParaRPr>
          </a:p>
        </p:txBody>
      </p:sp>
      <p:sp>
        <p:nvSpPr>
          <p:cNvPr id="5" name="Text Box 4"/>
          <p:cNvSpPr txBox="1"/>
          <p:nvPr/>
        </p:nvSpPr>
        <p:spPr>
          <a:xfrm>
            <a:off x="635" y="1877060"/>
            <a:ext cx="6096000" cy="645160"/>
          </a:xfrm>
          <a:prstGeom prst="rect">
            <a:avLst/>
          </a:prstGeom>
          <a:noFill/>
        </p:spPr>
        <p:txBody>
          <a:bodyPr wrap="square" rtlCol="0" anchor="t">
            <a:spAutoFit/>
          </a:bodyPr>
          <a:p>
            <a:pPr marL="285750" indent="-285750">
              <a:buFont typeface="Arial" panose="020B0604020202020204" pitchFamily="34" charset="0"/>
              <a:buChar char="•"/>
            </a:pPr>
            <a:r>
              <a:rPr lang="en-US">
                <a:sym typeface="+mn-ea"/>
              </a:rPr>
              <a:t> Built-in functions</a:t>
            </a:r>
            <a:endParaRPr lang="en-US"/>
          </a:p>
          <a:p>
            <a:pPr marL="285750" indent="-285750">
              <a:buFont typeface="Arial" panose="020B0604020202020204" pitchFamily="34" charset="0"/>
              <a:buChar char="•"/>
            </a:pPr>
            <a:r>
              <a:rPr lang="en-US">
                <a:sym typeface="+mn-ea"/>
              </a:rPr>
              <a:t> User-defined functions</a:t>
            </a:r>
            <a:endParaRPr lang="en-US">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0" y="0"/>
            <a:ext cx="12192635" cy="5939155"/>
          </a:xfrm>
          <a:prstGeom prst="rect">
            <a:avLst/>
          </a:prstGeom>
          <a:noFill/>
        </p:spPr>
        <p:txBody>
          <a:bodyPr wrap="square" rtlCol="0" anchor="t">
            <a:spAutoFit/>
          </a:bodyPr>
          <a:p>
            <a:endParaRPr lang="en-US"/>
          </a:p>
          <a:p>
            <a:pPr marL="285750" indent="-285750">
              <a:buFont typeface="Wingdings" panose="05000000000000000000" charset="0"/>
              <a:buChar char="Ø"/>
            </a:pPr>
            <a:r>
              <a:rPr lang="en-US"/>
              <a:t>    Create a function using the def keyword, followed by a function name, followed by a paranthesis (()) and a colon(:).</a:t>
            </a:r>
            <a:endParaRPr lang="en-US"/>
          </a:p>
          <a:p>
            <a:pPr marL="285750" indent="-285750">
              <a:buFont typeface="Wingdings" panose="05000000000000000000" charset="0"/>
              <a:buChar char="Ø"/>
            </a:pPr>
            <a:r>
              <a:rPr lang="en-US"/>
              <a:t>    Any parameters and arguments should be placed within the parentheses.</a:t>
            </a:r>
            <a:endParaRPr lang="en-US"/>
          </a:p>
          <a:p>
            <a:pPr marL="285750" indent="-285750">
              <a:buFont typeface="Wingdings" panose="05000000000000000000" charset="0"/>
              <a:buChar char="Ø"/>
            </a:pPr>
            <a:r>
              <a:rPr lang="en-US"/>
              <a:t>    Rules to naming function are similar to that of naming variables.</a:t>
            </a:r>
            <a:endParaRPr lang="en-US"/>
          </a:p>
          <a:p>
            <a:pPr marL="285750" indent="-285750">
              <a:buFont typeface="Wingdings" panose="05000000000000000000" charset="0"/>
              <a:buChar char="Ø"/>
            </a:pPr>
            <a:r>
              <a:rPr lang="en-US"/>
              <a:t>    Any statements and other code within the function should be indented.</a:t>
            </a:r>
            <a:endParaRPr lang="en-US"/>
          </a:p>
          <a:p>
            <a:pPr marL="457200" indent="-457200">
              <a:buFont typeface="Wingdings" panose="05000000000000000000" charset="0"/>
              <a:buChar char="v"/>
            </a:pPr>
            <a:endParaRPr lang="en-US" sz="2800" b="1" u="sng">
              <a:solidFill>
                <a:srgbClr val="FF0000"/>
              </a:solidFill>
            </a:endParaRPr>
          </a:p>
          <a:p>
            <a:pPr marL="457200" indent="-457200">
              <a:buFont typeface="Wingdings" panose="05000000000000000000" charset="0"/>
              <a:buChar char="v"/>
            </a:pPr>
            <a:r>
              <a:rPr lang="en-US" sz="2800" b="1" u="sng">
                <a:solidFill>
                  <a:srgbClr val="FF0000"/>
                </a:solidFill>
              </a:rPr>
              <a:t>Calling a function:</a:t>
            </a:r>
            <a:endParaRPr lang="en-US" sz="2800" b="1" u="sng">
              <a:solidFill>
                <a:srgbClr val="FF0000"/>
              </a:solidFill>
            </a:endParaRPr>
          </a:p>
          <a:p>
            <a:endParaRPr lang="en-US"/>
          </a:p>
          <a:p>
            <a:pPr marL="285750" indent="-285750">
              <a:buFont typeface="Wingdings" panose="05000000000000000000" charset="0"/>
              <a:buChar char="Ø"/>
            </a:pPr>
            <a:r>
              <a:rPr lang="en-US"/>
              <a:t>We call a function by giving the function name, followed by </a:t>
            </a:r>
            <a:r>
              <a:rPr lang="en-US">
                <a:solidFill>
                  <a:srgbClr val="00B0F0"/>
                </a:solidFill>
              </a:rPr>
              <a:t>parameters</a:t>
            </a:r>
            <a:r>
              <a:rPr lang="en-US"/>
              <a:t> (if any) in the parenthesis.</a:t>
            </a:r>
            <a:endParaRPr lang="en-US"/>
          </a:p>
          <a:p>
            <a:endParaRPr lang="en-US"/>
          </a:p>
          <a:p>
            <a:pPr marL="285750" indent="-285750">
              <a:buFont typeface="Wingdings" panose="05000000000000000000" charset="0"/>
              <a:buChar char="v"/>
            </a:pPr>
            <a:r>
              <a:rPr lang="en-US" b="1" u="sng">
                <a:solidFill>
                  <a:srgbClr val="00B0F0"/>
                </a:solidFill>
              </a:rPr>
              <a:t>Example:</a:t>
            </a:r>
            <a:endParaRPr lang="en-US" b="1" u="sng">
              <a:solidFill>
                <a:srgbClr val="00B0F0"/>
              </a:solidFill>
            </a:endParaRPr>
          </a:p>
          <a:p>
            <a:endParaRPr lang="en-US"/>
          </a:p>
          <a:p>
            <a:r>
              <a:rPr lang="en-US">
                <a:solidFill>
                  <a:schemeClr val="bg1"/>
                </a:solidFill>
                <a:highlight>
                  <a:srgbClr val="000000"/>
                </a:highlight>
              </a:rPr>
              <a:t>def name(fname, lname):</a:t>
            </a:r>
            <a:endParaRPr lang="en-US">
              <a:solidFill>
                <a:schemeClr val="bg1"/>
              </a:solidFill>
              <a:highlight>
                <a:srgbClr val="000000"/>
              </a:highlight>
            </a:endParaRPr>
          </a:p>
          <a:p>
            <a:r>
              <a:rPr lang="en-US">
                <a:solidFill>
                  <a:schemeClr val="bg1"/>
                </a:solidFill>
                <a:highlight>
                  <a:srgbClr val="000000"/>
                </a:highlight>
              </a:rPr>
              <a:t>    print("Hello,", fname, lname)</a:t>
            </a:r>
            <a:endParaRPr lang="en-US">
              <a:solidFill>
                <a:schemeClr val="bg1"/>
              </a:solidFill>
              <a:highlight>
                <a:srgbClr val="000000"/>
              </a:highlight>
            </a:endParaRPr>
          </a:p>
          <a:p>
            <a:endParaRPr lang="en-US">
              <a:solidFill>
                <a:schemeClr val="bg1"/>
              </a:solidFill>
              <a:highlight>
                <a:srgbClr val="000000"/>
              </a:highlight>
            </a:endParaRPr>
          </a:p>
          <a:p>
            <a:r>
              <a:rPr lang="en-US">
                <a:solidFill>
                  <a:schemeClr val="bg1"/>
                </a:solidFill>
                <a:highlight>
                  <a:srgbClr val="000000"/>
                </a:highlight>
              </a:rPr>
              <a:t>name("Sam", "Wilson")</a:t>
            </a:r>
            <a:endParaRPr lang="en-US">
              <a:solidFill>
                <a:schemeClr val="bg1"/>
              </a:solidFill>
              <a:highlight>
                <a:srgbClr val="000000"/>
              </a:highlight>
            </a:endParaRPr>
          </a:p>
          <a:p>
            <a:endParaRPr lang="en-US">
              <a:solidFill>
                <a:schemeClr val="bg1"/>
              </a:solidFill>
              <a:highlight>
                <a:srgbClr val="000000"/>
              </a:highlight>
            </a:endParaRPr>
          </a:p>
          <a:p>
            <a:r>
              <a:rPr lang="en-US">
                <a:solidFill>
                  <a:srgbClr val="00B0F0"/>
                </a:solidFill>
                <a:highlight>
                  <a:srgbClr val="000000"/>
                </a:highlight>
              </a:rPr>
              <a:t>Output:</a:t>
            </a:r>
            <a:endParaRPr lang="en-US">
              <a:solidFill>
                <a:srgbClr val="00B0F0"/>
              </a:solidFill>
              <a:highlight>
                <a:srgbClr val="000000"/>
              </a:highlight>
            </a:endParaRPr>
          </a:p>
          <a:p>
            <a:endParaRPr lang="en-US">
              <a:solidFill>
                <a:schemeClr val="bg1"/>
              </a:solidFill>
              <a:highlight>
                <a:srgbClr val="000000"/>
              </a:highlight>
            </a:endParaRPr>
          </a:p>
          <a:p>
            <a:r>
              <a:rPr lang="en-US">
                <a:solidFill>
                  <a:schemeClr val="bg1"/>
                </a:solidFill>
                <a:highlight>
                  <a:srgbClr val="000000"/>
                </a:highlight>
              </a:rPr>
              <a:t>Hello, Sam Wilson</a:t>
            </a:r>
            <a:endParaRPr lang="en-US">
              <a:solidFill>
                <a:schemeClr val="bg1"/>
              </a:solidFill>
              <a:highlight>
                <a:srgbClr val="000000"/>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12192635" cy="4554220"/>
          </a:xfrm>
          <a:prstGeom prst="rect">
            <a:avLst/>
          </a:prstGeom>
          <a:noFill/>
        </p:spPr>
        <p:txBody>
          <a:bodyPr wrap="square" rtlCol="0" anchor="t">
            <a:spAutoFit/>
          </a:bodyPr>
          <a:p>
            <a:pPr marL="285750" indent="-285750">
              <a:buFont typeface="Wingdings" panose="05000000000000000000" charset="0"/>
              <a:buChar char="v"/>
            </a:pPr>
            <a:r>
              <a:rPr lang="en-US" sz="2800" b="1" u="sng">
                <a:solidFill>
                  <a:srgbClr val="FF0000"/>
                </a:solidFill>
              </a:rPr>
              <a:t>Function Arguments and return statement</a:t>
            </a:r>
            <a:endParaRPr lang="en-US" sz="2800" b="1" u="sng">
              <a:solidFill>
                <a:srgbClr val="FF0000"/>
              </a:solidFill>
            </a:endParaRPr>
          </a:p>
          <a:p>
            <a:endParaRPr lang="en-US"/>
          </a:p>
          <a:p>
            <a:pPr marL="285750" indent="-285750">
              <a:buFont typeface="Wingdings" panose="05000000000000000000" charset="0"/>
              <a:buChar char="Ø"/>
            </a:pPr>
            <a:r>
              <a:rPr lang="en-US"/>
              <a:t>There are four types of arguments that we can provide in a function:</a:t>
            </a:r>
            <a:endParaRPr lang="en-US"/>
          </a:p>
          <a:p>
            <a:endParaRPr lang="en-US"/>
          </a:p>
          <a:p>
            <a:pPr marL="285750" indent="-285750">
              <a:buFont typeface="Arial" panose="020B0604020202020204" pitchFamily="34" charset="0"/>
              <a:buChar char="•"/>
            </a:pPr>
            <a:r>
              <a:rPr lang="en-US" u="sng"/>
              <a:t>    Default Arguments</a:t>
            </a:r>
            <a:endParaRPr lang="en-US" u="sng"/>
          </a:p>
          <a:p>
            <a:pPr marL="285750" indent="-285750">
              <a:buFont typeface="Arial" panose="020B0604020202020204" pitchFamily="34" charset="0"/>
              <a:buChar char="•"/>
            </a:pPr>
            <a:r>
              <a:rPr lang="en-US" u="sng"/>
              <a:t>    Keyword Arguments</a:t>
            </a:r>
            <a:endParaRPr lang="en-US" u="sng"/>
          </a:p>
          <a:p>
            <a:pPr marL="285750" indent="-285750">
              <a:buFont typeface="Arial" panose="020B0604020202020204" pitchFamily="34" charset="0"/>
              <a:buChar char="•"/>
            </a:pPr>
            <a:r>
              <a:rPr lang="en-US" u="sng"/>
              <a:t>    Variable length Arguments</a:t>
            </a:r>
            <a:endParaRPr lang="en-US" u="sng"/>
          </a:p>
          <a:p>
            <a:pPr marL="285750" indent="-285750">
              <a:buFont typeface="Arial" panose="020B0604020202020204" pitchFamily="34" charset="0"/>
              <a:buChar char="•"/>
            </a:pPr>
            <a:r>
              <a:rPr lang="en-US" u="sng"/>
              <a:t>    Required Arguments</a:t>
            </a:r>
            <a:endParaRPr lang="en-US" u="sng"/>
          </a:p>
          <a:p>
            <a:endParaRPr lang="en-US"/>
          </a:p>
          <a:p>
            <a:pPr marL="285750" indent="-285750">
              <a:buFont typeface="Wingdings" panose="05000000000000000000" charset="0"/>
              <a:buChar char="v"/>
            </a:pPr>
            <a:r>
              <a:rPr lang="en-US" sz="2800" b="1" u="sng">
                <a:solidFill>
                  <a:srgbClr val="FF0000"/>
                </a:solidFill>
              </a:rPr>
              <a:t>Default arguments:</a:t>
            </a:r>
            <a:endParaRPr lang="en-US" sz="2800" b="1" u="sng">
              <a:solidFill>
                <a:srgbClr val="FF0000"/>
              </a:solidFill>
            </a:endParaRPr>
          </a:p>
          <a:p>
            <a:endParaRPr lang="en-US"/>
          </a:p>
          <a:p>
            <a:pPr marL="285750" indent="-285750">
              <a:buFont typeface="Wingdings" panose="05000000000000000000" charset="0"/>
              <a:buChar char="Ø"/>
            </a:pPr>
            <a:r>
              <a:rPr lang="en-US"/>
              <a:t>We can provide a default value while creating a function. This way the function assumes a default value even if a value is not provided in the function call for that argument.</a:t>
            </a:r>
            <a:endParaRPr lang="en-US"/>
          </a:p>
          <a:p>
            <a:endParaRPr lang="en-US"/>
          </a:p>
          <a:p>
            <a:pPr marL="285750" indent="-285750">
              <a:buFont typeface="Wingdings" panose="05000000000000000000" charset="0"/>
              <a:buChar char="v"/>
            </a:pPr>
            <a:r>
              <a:rPr lang="en-US" b="1" u="sng">
                <a:solidFill>
                  <a:srgbClr val="00B0F0"/>
                </a:solidFill>
              </a:rPr>
              <a:t>Example:</a:t>
            </a:r>
            <a:endParaRPr lang="en-US" b="1" u="sng">
              <a:solidFill>
                <a:srgbClr val="00B0F0"/>
              </a:solidFill>
            </a:endParaRPr>
          </a:p>
        </p:txBody>
      </p:sp>
      <p:sp>
        <p:nvSpPr>
          <p:cNvPr id="3" name="Text Box 2"/>
          <p:cNvSpPr txBox="1"/>
          <p:nvPr/>
        </p:nvSpPr>
        <p:spPr>
          <a:xfrm>
            <a:off x="0" y="4551045"/>
            <a:ext cx="12192000" cy="2306955"/>
          </a:xfrm>
          <a:prstGeom prst="rect">
            <a:avLst/>
          </a:prstGeom>
          <a:noFill/>
        </p:spPr>
        <p:txBody>
          <a:bodyPr wrap="square" rtlCol="0" anchor="t">
            <a:spAutoFit/>
          </a:bodyPr>
          <a:p>
            <a:r>
              <a:rPr lang="en-US">
                <a:solidFill>
                  <a:schemeClr val="bg1"/>
                </a:solidFill>
                <a:highlight>
                  <a:srgbClr val="000000"/>
                </a:highlight>
              </a:rPr>
              <a:t>def name(fname, mname = "Jhon", lname = "Whatson"):</a:t>
            </a:r>
            <a:endParaRPr lang="en-US">
              <a:solidFill>
                <a:schemeClr val="bg1"/>
              </a:solidFill>
              <a:highlight>
                <a:srgbClr val="000000"/>
              </a:highlight>
            </a:endParaRPr>
          </a:p>
          <a:p>
            <a:r>
              <a:rPr lang="en-US">
                <a:solidFill>
                  <a:schemeClr val="bg1"/>
                </a:solidFill>
                <a:highlight>
                  <a:srgbClr val="000000"/>
                </a:highlight>
              </a:rPr>
              <a:t>    print("Hello,", fname, mname, lname)</a:t>
            </a:r>
            <a:endParaRPr lang="en-US">
              <a:solidFill>
                <a:schemeClr val="bg1"/>
              </a:solidFill>
              <a:highlight>
                <a:srgbClr val="000000"/>
              </a:highlight>
            </a:endParaRPr>
          </a:p>
          <a:p>
            <a:endParaRPr lang="en-US">
              <a:solidFill>
                <a:schemeClr val="bg1"/>
              </a:solidFill>
              <a:highlight>
                <a:srgbClr val="000000"/>
              </a:highlight>
            </a:endParaRPr>
          </a:p>
          <a:p>
            <a:r>
              <a:rPr lang="en-US">
                <a:solidFill>
                  <a:schemeClr val="bg1"/>
                </a:solidFill>
                <a:highlight>
                  <a:srgbClr val="000000"/>
                </a:highlight>
              </a:rPr>
              <a:t>name("Amy")</a:t>
            </a:r>
            <a:endParaRPr lang="en-US">
              <a:solidFill>
                <a:schemeClr val="bg1"/>
              </a:solidFill>
              <a:highlight>
                <a:srgbClr val="000000"/>
              </a:highlight>
            </a:endParaRPr>
          </a:p>
          <a:p>
            <a:endParaRPr lang="en-US">
              <a:solidFill>
                <a:schemeClr val="bg1"/>
              </a:solidFill>
              <a:highlight>
                <a:srgbClr val="000000"/>
              </a:highlight>
            </a:endParaRPr>
          </a:p>
          <a:p>
            <a:r>
              <a:rPr lang="en-US">
                <a:solidFill>
                  <a:srgbClr val="00B0F0"/>
                </a:solidFill>
                <a:highlight>
                  <a:srgbClr val="000000"/>
                </a:highlight>
              </a:rPr>
              <a:t>Output:</a:t>
            </a:r>
            <a:endParaRPr lang="en-US">
              <a:solidFill>
                <a:srgbClr val="00B0F0"/>
              </a:solidFill>
              <a:highlight>
                <a:srgbClr val="000000"/>
              </a:highlight>
            </a:endParaRPr>
          </a:p>
          <a:p>
            <a:endParaRPr lang="en-US">
              <a:solidFill>
                <a:schemeClr val="bg1"/>
              </a:solidFill>
              <a:highlight>
                <a:srgbClr val="000000"/>
              </a:highlight>
            </a:endParaRPr>
          </a:p>
          <a:p>
            <a:r>
              <a:rPr lang="en-US">
                <a:solidFill>
                  <a:schemeClr val="bg1"/>
                </a:solidFill>
                <a:highlight>
                  <a:srgbClr val="000000"/>
                </a:highlight>
              </a:rPr>
              <a:t>Hello, Amy Jhon Whatson</a:t>
            </a:r>
            <a:endParaRPr lang="en-US">
              <a:solidFill>
                <a:schemeClr val="bg1"/>
              </a:solidFill>
              <a:highlight>
                <a:srgbClr val="000000"/>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4023360" cy="5785485"/>
          </a:xfrm>
          <a:prstGeom prst="rect">
            <a:avLst/>
          </a:prstGeom>
          <a:noFill/>
        </p:spPr>
        <p:txBody>
          <a:bodyPr wrap="square" rtlCol="0" anchor="t">
            <a:spAutoFit/>
          </a:bodyPr>
          <a:p>
            <a:pPr marL="457200" indent="-457200">
              <a:buFont typeface="Wingdings" panose="05000000000000000000" charset="0"/>
              <a:buChar char="v"/>
            </a:pPr>
            <a:r>
              <a:rPr lang="en-US" sz="2800" b="1" u="sng">
                <a:solidFill>
                  <a:srgbClr val="FF0000"/>
                </a:solidFill>
              </a:rPr>
              <a:t>Keyword arguments:</a:t>
            </a:r>
            <a:endParaRPr lang="en-US" sz="2800" b="1" u="sng">
              <a:solidFill>
                <a:srgbClr val="FF0000"/>
              </a:solidFill>
            </a:endParaRPr>
          </a:p>
          <a:p>
            <a:endParaRPr lang="en-US"/>
          </a:p>
          <a:p>
            <a:pPr marL="285750" indent="-285750">
              <a:buFont typeface="Wingdings" panose="05000000000000000000" charset="0"/>
              <a:buChar char="Ø"/>
            </a:pPr>
            <a:r>
              <a:rPr lang="en-US"/>
              <a:t>We can provide arguments with key = value, this way the interpreter recognizes the arguments by the parameter name. Hence, the the order in which the arguments are passed does not matter.</a:t>
            </a:r>
            <a:endParaRPr lang="en-US"/>
          </a:p>
          <a:p>
            <a:endParaRPr lang="en-US"/>
          </a:p>
          <a:p>
            <a:pPr marL="285750" indent="-285750">
              <a:buFont typeface="Wingdings" panose="05000000000000000000" charset="0"/>
              <a:buChar char="v"/>
            </a:pPr>
            <a:r>
              <a:rPr lang="en-US" b="1" u="sng">
                <a:solidFill>
                  <a:srgbClr val="00B0F0"/>
                </a:solidFill>
              </a:rPr>
              <a:t>Example:</a:t>
            </a:r>
            <a:endParaRPr lang="en-US" b="1" u="sng">
              <a:solidFill>
                <a:srgbClr val="00B0F0"/>
              </a:solidFill>
            </a:endParaRPr>
          </a:p>
          <a:p>
            <a:endParaRPr lang="en-US"/>
          </a:p>
          <a:p>
            <a:r>
              <a:rPr lang="en-US">
                <a:solidFill>
                  <a:schemeClr val="bg1"/>
                </a:solidFill>
                <a:highlight>
                  <a:srgbClr val="000000"/>
                </a:highlight>
              </a:rPr>
              <a:t>def name(fname, mname, lname):</a:t>
            </a:r>
            <a:endParaRPr lang="en-US">
              <a:solidFill>
                <a:schemeClr val="bg1"/>
              </a:solidFill>
              <a:highlight>
                <a:srgbClr val="000000"/>
              </a:highlight>
            </a:endParaRPr>
          </a:p>
          <a:p>
            <a:r>
              <a:rPr lang="en-US">
                <a:solidFill>
                  <a:schemeClr val="bg1"/>
                </a:solidFill>
                <a:highlight>
                  <a:srgbClr val="000000"/>
                </a:highlight>
              </a:rPr>
              <a:t>    print("Hello,", fname, mname, lname)</a:t>
            </a:r>
            <a:endParaRPr lang="en-US">
              <a:solidFill>
                <a:schemeClr val="bg1"/>
              </a:solidFill>
              <a:highlight>
                <a:srgbClr val="000000"/>
              </a:highlight>
            </a:endParaRPr>
          </a:p>
          <a:p>
            <a:endParaRPr lang="en-US">
              <a:solidFill>
                <a:schemeClr val="bg1"/>
              </a:solidFill>
              <a:highlight>
                <a:srgbClr val="000000"/>
              </a:highlight>
            </a:endParaRPr>
          </a:p>
          <a:p>
            <a:r>
              <a:rPr lang="en-US">
                <a:solidFill>
                  <a:schemeClr val="bg1"/>
                </a:solidFill>
                <a:highlight>
                  <a:srgbClr val="000000"/>
                </a:highlight>
              </a:rPr>
              <a:t>name(mname = "Peter", lname = "Wesker", fname = "Jade")</a:t>
            </a:r>
            <a:endParaRPr lang="en-US">
              <a:solidFill>
                <a:schemeClr val="bg1"/>
              </a:solidFill>
              <a:highlight>
                <a:srgbClr val="000000"/>
              </a:highlight>
            </a:endParaRPr>
          </a:p>
          <a:p>
            <a:endParaRPr lang="en-US">
              <a:solidFill>
                <a:schemeClr val="bg1"/>
              </a:solidFill>
              <a:highlight>
                <a:srgbClr val="000000"/>
              </a:highlight>
            </a:endParaRPr>
          </a:p>
          <a:p>
            <a:r>
              <a:rPr lang="en-US">
                <a:solidFill>
                  <a:srgbClr val="00B0F0"/>
                </a:solidFill>
                <a:highlight>
                  <a:srgbClr val="000000"/>
                </a:highlight>
              </a:rPr>
              <a:t>Output:</a:t>
            </a:r>
            <a:endParaRPr lang="en-US">
              <a:solidFill>
                <a:srgbClr val="00B0F0"/>
              </a:solidFill>
              <a:highlight>
                <a:srgbClr val="000000"/>
              </a:highlight>
            </a:endParaRPr>
          </a:p>
          <a:p>
            <a:endParaRPr lang="en-US">
              <a:solidFill>
                <a:schemeClr val="bg1"/>
              </a:solidFill>
              <a:highlight>
                <a:srgbClr val="000000"/>
              </a:highlight>
            </a:endParaRPr>
          </a:p>
          <a:p>
            <a:r>
              <a:rPr lang="en-US">
                <a:solidFill>
                  <a:schemeClr val="bg1"/>
                </a:solidFill>
                <a:highlight>
                  <a:srgbClr val="000000"/>
                </a:highlight>
              </a:rPr>
              <a:t>Hello, Jade Peter Wesker</a:t>
            </a:r>
            <a:endParaRPr lang="en-US">
              <a:solidFill>
                <a:schemeClr val="bg1"/>
              </a:solidFill>
              <a:highlight>
                <a:srgbClr val="000000"/>
              </a:highlight>
            </a:endParaRPr>
          </a:p>
        </p:txBody>
      </p:sp>
      <p:sp>
        <p:nvSpPr>
          <p:cNvPr id="3" name="Text Box 2"/>
          <p:cNvSpPr txBox="1"/>
          <p:nvPr/>
        </p:nvSpPr>
        <p:spPr>
          <a:xfrm>
            <a:off x="6096000" y="0"/>
            <a:ext cx="6096000" cy="5785485"/>
          </a:xfrm>
          <a:prstGeom prst="rect">
            <a:avLst/>
          </a:prstGeom>
          <a:noFill/>
        </p:spPr>
        <p:txBody>
          <a:bodyPr wrap="square" rtlCol="0" anchor="t">
            <a:spAutoFit/>
          </a:bodyPr>
          <a:p>
            <a:r>
              <a:rPr lang="en-US" sz="2800" b="1" u="sng">
                <a:solidFill>
                  <a:srgbClr val="FF0000"/>
                </a:solidFill>
              </a:rPr>
              <a:t>Required arguments:</a:t>
            </a:r>
            <a:endParaRPr lang="en-US" sz="2800" b="1" u="sng">
              <a:solidFill>
                <a:srgbClr val="FF0000"/>
              </a:solidFill>
            </a:endParaRPr>
          </a:p>
          <a:p>
            <a:endParaRPr lang="en-US"/>
          </a:p>
          <a:p>
            <a:pPr marL="285750" indent="-285750">
              <a:buFont typeface="Wingdings" panose="05000000000000000000" charset="0"/>
              <a:buChar char="Ø"/>
            </a:pPr>
            <a:r>
              <a:rPr lang="en-US"/>
              <a:t>In case we don’t pass the arguments with a key = value syntax, then it is necessary to pass the arguments in the correct positional order and the number of arguments passed should match with actual function definition.</a:t>
            </a:r>
            <a:endParaRPr lang="en-US"/>
          </a:p>
          <a:p>
            <a:endParaRPr lang="en-US"/>
          </a:p>
          <a:p>
            <a:pPr marL="285750" indent="-285750">
              <a:buFont typeface="Wingdings" panose="05000000000000000000" charset="0"/>
              <a:buChar char="v"/>
            </a:pPr>
            <a:r>
              <a:rPr lang="en-US" b="1" u="sng">
                <a:solidFill>
                  <a:srgbClr val="00B0F0"/>
                </a:solidFill>
              </a:rPr>
              <a:t>Example :</a:t>
            </a:r>
            <a:r>
              <a:rPr lang="en-US"/>
              <a:t> when number of arguments passed does not match to the actual function definition.</a:t>
            </a:r>
            <a:endParaRPr lang="en-US"/>
          </a:p>
          <a:p>
            <a:endParaRPr lang="en-US"/>
          </a:p>
          <a:p>
            <a:r>
              <a:rPr lang="en-US">
                <a:solidFill>
                  <a:schemeClr val="bg1"/>
                </a:solidFill>
                <a:highlight>
                  <a:srgbClr val="000000"/>
                </a:highlight>
              </a:rPr>
              <a:t>def name(fname, mname, lname):</a:t>
            </a:r>
            <a:endParaRPr lang="en-US">
              <a:solidFill>
                <a:schemeClr val="bg1"/>
              </a:solidFill>
              <a:highlight>
                <a:srgbClr val="000000"/>
              </a:highlight>
            </a:endParaRPr>
          </a:p>
          <a:p>
            <a:r>
              <a:rPr lang="en-US">
                <a:solidFill>
                  <a:schemeClr val="bg1"/>
                </a:solidFill>
                <a:highlight>
                  <a:srgbClr val="000000"/>
                </a:highlight>
              </a:rPr>
              <a:t>    print("Hello,", fname, mname, lname)</a:t>
            </a:r>
            <a:endParaRPr lang="en-US">
              <a:solidFill>
                <a:schemeClr val="bg1"/>
              </a:solidFill>
              <a:highlight>
                <a:srgbClr val="000000"/>
              </a:highlight>
            </a:endParaRPr>
          </a:p>
          <a:p>
            <a:endParaRPr lang="en-US">
              <a:solidFill>
                <a:schemeClr val="bg1"/>
              </a:solidFill>
              <a:highlight>
                <a:srgbClr val="000000"/>
              </a:highlight>
            </a:endParaRPr>
          </a:p>
          <a:p>
            <a:r>
              <a:rPr lang="en-US">
                <a:solidFill>
                  <a:schemeClr val="bg1"/>
                </a:solidFill>
                <a:highlight>
                  <a:srgbClr val="000000"/>
                </a:highlight>
              </a:rPr>
              <a:t>name("Peter", "Quill")</a:t>
            </a:r>
            <a:endParaRPr lang="en-US">
              <a:solidFill>
                <a:schemeClr val="bg1"/>
              </a:solidFill>
              <a:highlight>
                <a:srgbClr val="000000"/>
              </a:highlight>
            </a:endParaRPr>
          </a:p>
          <a:p>
            <a:endParaRPr lang="en-US">
              <a:solidFill>
                <a:schemeClr val="bg1"/>
              </a:solidFill>
              <a:highlight>
                <a:srgbClr val="000000"/>
              </a:highlight>
            </a:endParaRPr>
          </a:p>
          <a:p>
            <a:r>
              <a:rPr lang="en-US">
                <a:solidFill>
                  <a:srgbClr val="00B0F0"/>
                </a:solidFill>
                <a:highlight>
                  <a:srgbClr val="000000"/>
                </a:highlight>
              </a:rPr>
              <a:t>Output:</a:t>
            </a:r>
            <a:endParaRPr lang="en-US">
              <a:solidFill>
                <a:srgbClr val="00B0F0"/>
              </a:solidFill>
              <a:highlight>
                <a:srgbClr val="000000"/>
              </a:highlight>
            </a:endParaRPr>
          </a:p>
          <a:p>
            <a:endParaRPr lang="en-US">
              <a:solidFill>
                <a:schemeClr val="bg1"/>
              </a:solidFill>
              <a:highlight>
                <a:srgbClr val="000000"/>
              </a:highlight>
            </a:endParaRPr>
          </a:p>
          <a:p>
            <a:r>
              <a:rPr lang="en-US">
                <a:solidFill>
                  <a:schemeClr val="bg1"/>
                </a:solidFill>
                <a:highlight>
                  <a:srgbClr val="000000"/>
                </a:highlight>
              </a:rPr>
              <a:t>name("Peter", "Quill")\</a:t>
            </a:r>
            <a:endParaRPr lang="en-US">
              <a:solidFill>
                <a:schemeClr val="bg1"/>
              </a:solidFill>
              <a:highlight>
                <a:srgbClr val="000000"/>
              </a:highlight>
            </a:endParaRPr>
          </a:p>
          <a:p>
            <a:r>
              <a:rPr lang="en-US">
                <a:solidFill>
                  <a:schemeClr val="bg1"/>
                </a:solidFill>
                <a:highlight>
                  <a:srgbClr val="000000"/>
                </a:highlight>
              </a:rPr>
              <a:t>TypeError: name() missing 1 required positional argument: 'lname'</a:t>
            </a:r>
            <a:endParaRPr lang="en-US">
              <a:solidFill>
                <a:schemeClr val="bg1"/>
              </a:solidFill>
              <a:highlight>
                <a:srgbClr val="000000"/>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635" y="1780540"/>
            <a:ext cx="6096000" cy="4517390"/>
          </a:xfrm>
          <a:prstGeom prst="rect">
            <a:avLst/>
          </a:prstGeom>
          <a:noFill/>
        </p:spPr>
        <p:txBody>
          <a:bodyPr wrap="square" rtlCol="0" anchor="t">
            <a:noAutofit/>
          </a:bodyPr>
          <a:p>
            <a:r>
              <a:rPr lang="en-IN" altLang="en-US" b="1" u="sng">
                <a:solidFill>
                  <a:srgbClr val="FF0000"/>
                </a:solidFill>
              </a:rPr>
              <a:t>I. </a:t>
            </a:r>
            <a:r>
              <a:rPr lang="en-US" b="1" u="sng">
                <a:solidFill>
                  <a:srgbClr val="FF0000"/>
                </a:solidFill>
              </a:rPr>
              <a:t>Arbitrary Arguments:</a:t>
            </a:r>
            <a:endParaRPr lang="en-US" b="1" u="sng">
              <a:solidFill>
                <a:srgbClr val="FF0000"/>
              </a:solidFill>
            </a:endParaRPr>
          </a:p>
          <a:p>
            <a:endParaRPr lang="en-US"/>
          </a:p>
          <a:p>
            <a:pPr marL="285750" indent="-285750">
              <a:buFont typeface="Wingdings" panose="05000000000000000000" charset="0"/>
              <a:buChar char="Ø"/>
            </a:pPr>
            <a:r>
              <a:rPr lang="en-US"/>
              <a:t>While creating a function, pass a * before the parameter name while defining the function. The function accesses the arguments by processing them in the form of tuple.</a:t>
            </a:r>
            <a:endParaRPr lang="en-US"/>
          </a:p>
          <a:p>
            <a:endParaRPr lang="en-US"/>
          </a:p>
          <a:p>
            <a:pPr marL="285750" indent="-285750">
              <a:buFont typeface="Wingdings" panose="05000000000000000000" charset="0"/>
              <a:buChar char="v"/>
            </a:pPr>
            <a:r>
              <a:rPr lang="en-US" b="1" u="sng">
                <a:solidFill>
                  <a:srgbClr val="00B0F0"/>
                </a:solidFill>
              </a:rPr>
              <a:t>Example:</a:t>
            </a:r>
            <a:endParaRPr lang="en-US" b="1" u="sng">
              <a:solidFill>
                <a:srgbClr val="00B0F0"/>
              </a:solidFill>
            </a:endParaRPr>
          </a:p>
          <a:p>
            <a:endParaRPr lang="en-US"/>
          </a:p>
          <a:p>
            <a:r>
              <a:rPr lang="en-US">
                <a:solidFill>
                  <a:schemeClr val="bg1"/>
                </a:solidFill>
                <a:highlight>
                  <a:srgbClr val="000000"/>
                </a:highlight>
              </a:rPr>
              <a:t>def name(*name):</a:t>
            </a:r>
            <a:endParaRPr lang="en-US">
              <a:solidFill>
                <a:schemeClr val="bg1"/>
              </a:solidFill>
              <a:highlight>
                <a:srgbClr val="000000"/>
              </a:highlight>
            </a:endParaRPr>
          </a:p>
          <a:p>
            <a:r>
              <a:rPr lang="en-US">
                <a:solidFill>
                  <a:schemeClr val="bg1"/>
                </a:solidFill>
                <a:highlight>
                  <a:srgbClr val="000000"/>
                </a:highlight>
              </a:rPr>
              <a:t>    print("Hello,", name[0], name[1], name[2])</a:t>
            </a:r>
            <a:endParaRPr lang="en-US">
              <a:solidFill>
                <a:schemeClr val="bg1"/>
              </a:solidFill>
              <a:highlight>
                <a:srgbClr val="000000"/>
              </a:highlight>
            </a:endParaRPr>
          </a:p>
          <a:p>
            <a:endParaRPr lang="en-US">
              <a:solidFill>
                <a:schemeClr val="bg1"/>
              </a:solidFill>
              <a:highlight>
                <a:srgbClr val="000000"/>
              </a:highlight>
            </a:endParaRPr>
          </a:p>
          <a:p>
            <a:r>
              <a:rPr lang="en-US">
                <a:solidFill>
                  <a:schemeClr val="bg1"/>
                </a:solidFill>
                <a:highlight>
                  <a:srgbClr val="000000"/>
                </a:highlight>
              </a:rPr>
              <a:t>name("James", "Buchanan", "Barnes")</a:t>
            </a:r>
            <a:endParaRPr lang="en-US">
              <a:solidFill>
                <a:schemeClr val="bg1"/>
              </a:solidFill>
              <a:highlight>
                <a:srgbClr val="000000"/>
              </a:highlight>
            </a:endParaRPr>
          </a:p>
          <a:p>
            <a:endParaRPr lang="en-US">
              <a:solidFill>
                <a:schemeClr val="bg1"/>
              </a:solidFill>
              <a:highlight>
                <a:srgbClr val="000000"/>
              </a:highlight>
            </a:endParaRPr>
          </a:p>
          <a:p>
            <a:r>
              <a:rPr lang="en-US">
                <a:solidFill>
                  <a:srgbClr val="00B0F0"/>
                </a:solidFill>
                <a:highlight>
                  <a:srgbClr val="000000"/>
                </a:highlight>
              </a:rPr>
              <a:t>Output:</a:t>
            </a:r>
            <a:endParaRPr lang="en-US">
              <a:solidFill>
                <a:srgbClr val="00B0F0"/>
              </a:solidFill>
              <a:highlight>
                <a:srgbClr val="000000"/>
              </a:highlight>
            </a:endParaRPr>
          </a:p>
          <a:p>
            <a:endParaRPr lang="en-US">
              <a:solidFill>
                <a:schemeClr val="bg1"/>
              </a:solidFill>
              <a:highlight>
                <a:srgbClr val="000000"/>
              </a:highlight>
            </a:endParaRPr>
          </a:p>
          <a:p>
            <a:r>
              <a:rPr lang="en-US">
                <a:solidFill>
                  <a:schemeClr val="bg1"/>
                </a:solidFill>
                <a:highlight>
                  <a:srgbClr val="000000"/>
                </a:highlight>
              </a:rPr>
              <a:t>Hello, James Buchanan Barnes</a:t>
            </a:r>
            <a:endParaRPr lang="en-US">
              <a:solidFill>
                <a:schemeClr val="bg1"/>
              </a:solidFill>
              <a:highlight>
                <a:srgbClr val="000000"/>
              </a:highlight>
            </a:endParaRPr>
          </a:p>
        </p:txBody>
      </p:sp>
      <p:sp>
        <p:nvSpPr>
          <p:cNvPr id="4" name="Text Box 3"/>
          <p:cNvSpPr txBox="1"/>
          <p:nvPr/>
        </p:nvSpPr>
        <p:spPr>
          <a:xfrm>
            <a:off x="6096000" y="1780540"/>
            <a:ext cx="6096000" cy="5077460"/>
          </a:xfrm>
          <a:prstGeom prst="rect">
            <a:avLst/>
          </a:prstGeom>
          <a:noFill/>
        </p:spPr>
        <p:txBody>
          <a:bodyPr wrap="square" rtlCol="0" anchor="t">
            <a:spAutoFit/>
          </a:bodyPr>
          <a:p>
            <a:r>
              <a:rPr lang="en-IN" altLang="en-US" b="1" u="sng">
                <a:solidFill>
                  <a:srgbClr val="FF0000"/>
                </a:solidFill>
                <a:sym typeface="+mn-ea"/>
              </a:rPr>
              <a:t>II. </a:t>
            </a:r>
            <a:r>
              <a:rPr lang="en-US" b="1" u="sng">
                <a:solidFill>
                  <a:srgbClr val="FF0000"/>
                </a:solidFill>
                <a:sym typeface="+mn-ea"/>
              </a:rPr>
              <a:t>Keyword Arbitrary Arguments:</a:t>
            </a:r>
            <a:endParaRPr lang="en-US" b="1" u="sng">
              <a:solidFill>
                <a:srgbClr val="FF0000"/>
              </a:solidFill>
            </a:endParaRPr>
          </a:p>
          <a:p>
            <a:endParaRPr lang="en-US"/>
          </a:p>
          <a:p>
            <a:pPr marL="285750" indent="-285750">
              <a:buFont typeface="Wingdings" panose="05000000000000000000" charset="0"/>
              <a:buChar char="o"/>
            </a:pPr>
            <a:r>
              <a:rPr lang="en-US">
                <a:sym typeface="+mn-ea"/>
              </a:rPr>
              <a:t>While creating a function, pass a * before the parameter name while defining the function. The function accesses the arguments by processing them in the form of dictionary.</a:t>
            </a:r>
            <a:endParaRPr lang="en-US"/>
          </a:p>
          <a:p>
            <a:endParaRPr lang="en-US"/>
          </a:p>
          <a:p>
            <a:pPr marL="285750" indent="-285750">
              <a:buFont typeface="Wingdings" panose="05000000000000000000" charset="0"/>
              <a:buChar char="v"/>
            </a:pPr>
            <a:r>
              <a:rPr lang="en-US" b="1" u="sng">
                <a:solidFill>
                  <a:srgbClr val="00B0F0"/>
                </a:solidFill>
                <a:sym typeface="+mn-ea"/>
              </a:rPr>
              <a:t>Example:</a:t>
            </a:r>
            <a:endParaRPr lang="en-US" b="1" u="sng">
              <a:solidFill>
                <a:srgbClr val="00B0F0"/>
              </a:solidFill>
            </a:endParaRPr>
          </a:p>
          <a:p>
            <a:endParaRPr lang="en-US"/>
          </a:p>
          <a:p>
            <a:r>
              <a:rPr lang="en-US">
                <a:solidFill>
                  <a:schemeClr val="bg1"/>
                </a:solidFill>
                <a:highlight>
                  <a:srgbClr val="000000"/>
                </a:highlight>
                <a:sym typeface="+mn-ea"/>
              </a:rPr>
              <a:t>def name(**name):</a:t>
            </a:r>
            <a:endParaRPr lang="en-US">
              <a:solidFill>
                <a:schemeClr val="bg1"/>
              </a:solidFill>
              <a:highlight>
                <a:srgbClr val="000000"/>
              </a:highlight>
            </a:endParaRPr>
          </a:p>
          <a:p>
            <a:r>
              <a:rPr lang="en-US">
                <a:solidFill>
                  <a:schemeClr val="bg1"/>
                </a:solidFill>
                <a:highlight>
                  <a:srgbClr val="000000"/>
                </a:highlight>
                <a:sym typeface="+mn-ea"/>
              </a:rPr>
              <a:t>    print("Hello,", name["fname"], name["mname"], name["lname"])</a:t>
            </a:r>
            <a:endParaRPr lang="en-US">
              <a:solidFill>
                <a:schemeClr val="bg1"/>
              </a:solidFill>
              <a:highlight>
                <a:srgbClr val="000000"/>
              </a:highlight>
            </a:endParaRPr>
          </a:p>
          <a:p>
            <a:endParaRPr lang="en-US">
              <a:solidFill>
                <a:schemeClr val="bg1"/>
              </a:solidFill>
              <a:highlight>
                <a:srgbClr val="000000"/>
              </a:highlight>
            </a:endParaRPr>
          </a:p>
          <a:p>
            <a:r>
              <a:rPr lang="en-US">
                <a:solidFill>
                  <a:schemeClr val="bg1"/>
                </a:solidFill>
                <a:highlight>
                  <a:srgbClr val="000000"/>
                </a:highlight>
                <a:sym typeface="+mn-ea"/>
              </a:rPr>
              <a:t>name(mname = "Buchanan", lname = "Barnes", fname = "James")</a:t>
            </a:r>
            <a:endParaRPr lang="en-US">
              <a:solidFill>
                <a:schemeClr val="bg1"/>
              </a:solidFill>
              <a:highlight>
                <a:srgbClr val="000000"/>
              </a:highlight>
            </a:endParaRPr>
          </a:p>
          <a:p>
            <a:endParaRPr lang="en-US">
              <a:solidFill>
                <a:schemeClr val="bg1"/>
              </a:solidFill>
              <a:highlight>
                <a:srgbClr val="000000"/>
              </a:highlight>
            </a:endParaRPr>
          </a:p>
          <a:p>
            <a:r>
              <a:rPr lang="en-US">
                <a:solidFill>
                  <a:srgbClr val="00B0F0"/>
                </a:solidFill>
                <a:highlight>
                  <a:srgbClr val="000000"/>
                </a:highlight>
                <a:sym typeface="+mn-ea"/>
              </a:rPr>
              <a:t>Output:</a:t>
            </a:r>
            <a:endParaRPr lang="en-US">
              <a:solidFill>
                <a:srgbClr val="00B0F0"/>
              </a:solidFill>
              <a:highlight>
                <a:srgbClr val="000000"/>
              </a:highlight>
            </a:endParaRPr>
          </a:p>
          <a:p>
            <a:endParaRPr lang="en-US">
              <a:solidFill>
                <a:schemeClr val="bg1"/>
              </a:solidFill>
              <a:highlight>
                <a:srgbClr val="000000"/>
              </a:highlight>
            </a:endParaRPr>
          </a:p>
          <a:p>
            <a:r>
              <a:rPr lang="en-US">
                <a:solidFill>
                  <a:schemeClr val="bg1"/>
                </a:solidFill>
                <a:highlight>
                  <a:srgbClr val="000000"/>
                </a:highlight>
                <a:sym typeface="+mn-ea"/>
              </a:rPr>
              <a:t>Hello, James Buchanan Barnes</a:t>
            </a:r>
            <a:endParaRPr lang="en-US">
              <a:solidFill>
                <a:schemeClr val="bg1"/>
              </a:solidFill>
              <a:highlight>
                <a:srgbClr val="000000"/>
              </a:highlight>
              <a:sym typeface="+mn-ea"/>
            </a:endParaRPr>
          </a:p>
        </p:txBody>
      </p:sp>
      <p:sp>
        <p:nvSpPr>
          <p:cNvPr id="5" name="Text Box 4"/>
          <p:cNvSpPr txBox="1"/>
          <p:nvPr/>
        </p:nvSpPr>
        <p:spPr>
          <a:xfrm>
            <a:off x="-635" y="0"/>
            <a:ext cx="12192635" cy="1353185"/>
          </a:xfrm>
          <a:prstGeom prst="rect">
            <a:avLst/>
          </a:prstGeom>
          <a:noFill/>
        </p:spPr>
        <p:txBody>
          <a:bodyPr wrap="square" rtlCol="0" anchor="t">
            <a:spAutoFit/>
          </a:bodyPr>
          <a:p>
            <a:pPr marL="457200" indent="-457200">
              <a:buFont typeface="Wingdings" panose="05000000000000000000" charset="0"/>
              <a:buChar char="q"/>
            </a:pPr>
            <a:r>
              <a:rPr lang="en-US" sz="2800" u="sng">
                <a:solidFill>
                  <a:srgbClr val="FF0000"/>
                </a:solidFill>
                <a:latin typeface="Broadway" panose="04040905080B02020502" charset="0"/>
                <a:cs typeface="Broadway" panose="04040905080B02020502" charset="0"/>
                <a:sym typeface="+mn-ea"/>
              </a:rPr>
              <a:t>Variable-length arguments:</a:t>
            </a:r>
            <a:endParaRPr lang="en-US" sz="2800" u="sng">
              <a:solidFill>
                <a:srgbClr val="FF0000"/>
              </a:solidFill>
              <a:latin typeface="Broadway" panose="04040905080B02020502" charset="0"/>
              <a:cs typeface="Broadway" panose="04040905080B02020502" charset="0"/>
            </a:endParaRPr>
          </a:p>
          <a:p>
            <a:endParaRPr lang="en-US"/>
          </a:p>
          <a:p>
            <a:pPr marL="285750" indent="-285750">
              <a:buFont typeface="Wingdings" panose="05000000000000000000" charset="0"/>
              <a:buChar char="Ø"/>
            </a:pPr>
            <a:r>
              <a:rPr lang="en-US">
                <a:sym typeface="+mn-ea"/>
              </a:rPr>
              <a:t>Sometimes we may need to pass more arguments than those defined in the actual function. This can be done using variable-length arguments.</a:t>
            </a:r>
            <a:endParaRPr lang="en-US">
              <a:sym typeface="+mn-ea"/>
            </a:endParaRPr>
          </a:p>
        </p:txBody>
      </p:sp>
      <p:sp>
        <p:nvSpPr>
          <p:cNvPr id="6" name="Text Box 5"/>
          <p:cNvSpPr txBox="1"/>
          <p:nvPr/>
        </p:nvSpPr>
        <p:spPr>
          <a:xfrm>
            <a:off x="0" y="1259840"/>
            <a:ext cx="6096000" cy="368300"/>
          </a:xfrm>
          <a:prstGeom prst="rect">
            <a:avLst/>
          </a:prstGeom>
          <a:noFill/>
        </p:spPr>
        <p:txBody>
          <a:bodyPr wrap="square" rtlCol="0" anchor="t">
            <a:spAutoFit/>
          </a:bodyPr>
          <a:p>
            <a:pPr marL="285750" indent="-285750">
              <a:buFont typeface="Wingdings" panose="05000000000000000000" charset="0"/>
              <a:buChar char="Ø"/>
            </a:pPr>
            <a:r>
              <a:rPr lang="en-US">
                <a:sym typeface="+mn-ea"/>
              </a:rPr>
              <a:t>There are two ways to achieve this:</a:t>
            </a:r>
            <a:endParaRPr lang="en-US">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6096000" cy="4399915"/>
          </a:xfrm>
          <a:prstGeom prst="rect">
            <a:avLst/>
          </a:prstGeom>
          <a:noFill/>
        </p:spPr>
        <p:txBody>
          <a:bodyPr wrap="square" rtlCol="0" anchor="t">
            <a:spAutoFit/>
          </a:bodyPr>
          <a:p>
            <a:pPr marL="457200" indent="-457200">
              <a:buFont typeface="Wingdings" panose="05000000000000000000" charset="0"/>
              <a:buChar char="q"/>
            </a:pPr>
            <a:r>
              <a:rPr lang="en-US" sz="2800" u="sng">
                <a:solidFill>
                  <a:srgbClr val="FF0000"/>
                </a:solidFill>
                <a:latin typeface="Broadway" panose="04040905080B02020502" charset="0"/>
                <a:cs typeface="Broadway" panose="04040905080B02020502" charset="0"/>
              </a:rPr>
              <a:t>return Statement</a:t>
            </a:r>
            <a:endParaRPr lang="en-US" sz="2800" u="sng">
              <a:solidFill>
                <a:srgbClr val="FF0000"/>
              </a:solidFill>
              <a:latin typeface="Broadway" panose="04040905080B02020502" charset="0"/>
              <a:cs typeface="Broadway" panose="04040905080B02020502" charset="0"/>
            </a:endParaRPr>
          </a:p>
          <a:p>
            <a:endParaRPr lang="en-US"/>
          </a:p>
          <a:p>
            <a:pPr marL="285750" indent="-285750">
              <a:buFont typeface="Wingdings" panose="05000000000000000000" charset="0"/>
              <a:buChar char="Ø"/>
            </a:pPr>
            <a:r>
              <a:rPr lang="en-US"/>
              <a:t>The return statement is used to return the value of the expression back to the calling function.</a:t>
            </a:r>
            <a:endParaRPr lang="en-US"/>
          </a:p>
          <a:p>
            <a:endParaRPr lang="en-US"/>
          </a:p>
          <a:p>
            <a:pPr marL="285750" indent="-285750">
              <a:buFont typeface="Wingdings" panose="05000000000000000000" charset="0"/>
              <a:buChar char="v"/>
            </a:pPr>
            <a:r>
              <a:rPr lang="en-US" b="1" u="sng">
                <a:solidFill>
                  <a:srgbClr val="00B0F0"/>
                </a:solidFill>
              </a:rPr>
              <a:t>Example:</a:t>
            </a:r>
            <a:endParaRPr lang="en-US" b="1" u="sng">
              <a:solidFill>
                <a:srgbClr val="00B0F0"/>
              </a:solidFill>
            </a:endParaRPr>
          </a:p>
          <a:p>
            <a:endParaRPr lang="en-US"/>
          </a:p>
          <a:p>
            <a:r>
              <a:rPr lang="en-US">
                <a:solidFill>
                  <a:schemeClr val="bg1"/>
                </a:solidFill>
                <a:highlight>
                  <a:srgbClr val="000000"/>
                </a:highlight>
              </a:rPr>
              <a:t>def name(fname, mname, lname):</a:t>
            </a:r>
            <a:endParaRPr lang="en-US">
              <a:solidFill>
                <a:schemeClr val="bg1"/>
              </a:solidFill>
              <a:highlight>
                <a:srgbClr val="000000"/>
              </a:highlight>
            </a:endParaRPr>
          </a:p>
          <a:p>
            <a:r>
              <a:rPr lang="en-US">
                <a:solidFill>
                  <a:schemeClr val="bg1"/>
                </a:solidFill>
                <a:highlight>
                  <a:srgbClr val="000000"/>
                </a:highlight>
              </a:rPr>
              <a:t>    return "Hello, " + fname + " " + mname + " " + lname</a:t>
            </a:r>
            <a:endParaRPr lang="en-US">
              <a:solidFill>
                <a:schemeClr val="bg1"/>
              </a:solidFill>
              <a:highlight>
                <a:srgbClr val="000000"/>
              </a:highlight>
            </a:endParaRPr>
          </a:p>
          <a:p>
            <a:endParaRPr lang="en-US">
              <a:solidFill>
                <a:schemeClr val="bg1"/>
              </a:solidFill>
              <a:highlight>
                <a:srgbClr val="000000"/>
              </a:highlight>
            </a:endParaRPr>
          </a:p>
          <a:p>
            <a:r>
              <a:rPr lang="en-US">
                <a:solidFill>
                  <a:schemeClr val="bg1"/>
                </a:solidFill>
                <a:highlight>
                  <a:srgbClr val="000000"/>
                </a:highlight>
              </a:rPr>
              <a:t>print(name("James", "Buchanan", "Barnes"))</a:t>
            </a:r>
            <a:endParaRPr lang="en-US">
              <a:solidFill>
                <a:schemeClr val="bg1"/>
              </a:solidFill>
              <a:highlight>
                <a:srgbClr val="000000"/>
              </a:highlight>
            </a:endParaRPr>
          </a:p>
          <a:p>
            <a:endParaRPr lang="en-US">
              <a:solidFill>
                <a:schemeClr val="bg1"/>
              </a:solidFill>
              <a:highlight>
                <a:srgbClr val="000000"/>
              </a:highlight>
            </a:endParaRPr>
          </a:p>
          <a:p>
            <a:r>
              <a:rPr lang="en-US">
                <a:solidFill>
                  <a:srgbClr val="00B0F0"/>
                </a:solidFill>
                <a:highlight>
                  <a:srgbClr val="000000"/>
                </a:highlight>
              </a:rPr>
              <a:t>Output:</a:t>
            </a:r>
            <a:endParaRPr lang="en-US">
              <a:solidFill>
                <a:srgbClr val="00B0F0"/>
              </a:solidFill>
              <a:highlight>
                <a:srgbClr val="000000"/>
              </a:highlight>
            </a:endParaRPr>
          </a:p>
          <a:p>
            <a:endParaRPr lang="en-US">
              <a:solidFill>
                <a:schemeClr val="bg1"/>
              </a:solidFill>
              <a:highlight>
                <a:srgbClr val="000000"/>
              </a:highlight>
            </a:endParaRPr>
          </a:p>
          <a:p>
            <a:r>
              <a:rPr lang="en-US">
                <a:solidFill>
                  <a:schemeClr val="bg1"/>
                </a:solidFill>
                <a:highlight>
                  <a:srgbClr val="000000"/>
                </a:highlight>
              </a:rPr>
              <a:t>Hello, James Buchanan Barnes</a:t>
            </a:r>
            <a:endParaRPr lang="en-US">
              <a:solidFill>
                <a:schemeClr val="bg1"/>
              </a:solidFill>
              <a:highlight>
                <a:srgbClr val="000000"/>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2540" y="-635"/>
            <a:ext cx="12190095" cy="68586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0" y="0"/>
            <a:ext cx="11896725" cy="5507990"/>
          </a:xfrm>
          <a:prstGeom prst="rect">
            <a:avLst/>
          </a:prstGeom>
          <a:noFill/>
        </p:spPr>
        <p:txBody>
          <a:bodyPr wrap="square" rtlCol="0" anchor="t">
            <a:spAutoFit/>
          </a:bodyPr>
          <a:p>
            <a:pPr marL="457200" indent="-457200">
              <a:buFont typeface="Wingdings" panose="05000000000000000000" charset="0"/>
              <a:buChar char="q"/>
            </a:pPr>
            <a:r>
              <a:rPr lang="en-US" sz="2800" u="sng">
                <a:solidFill>
                  <a:srgbClr val="FF0000"/>
                </a:solidFill>
                <a:latin typeface="Broadway" panose="04040905080B02020502" charset="0"/>
                <a:cs typeface="Broadway" panose="04040905080B02020502" charset="0"/>
              </a:rPr>
              <a:t>local and global variables</a:t>
            </a:r>
            <a:endParaRPr lang="en-US" sz="2800" u="sng">
              <a:solidFill>
                <a:srgbClr val="FF0000"/>
              </a:solidFill>
              <a:latin typeface="Broadway" panose="04040905080B02020502" charset="0"/>
              <a:cs typeface="Broadway" panose="04040905080B02020502" charset="0"/>
            </a:endParaRPr>
          </a:p>
          <a:p>
            <a:endParaRPr lang="en-US"/>
          </a:p>
          <a:p>
            <a:pPr marL="285750" indent="-285750">
              <a:buFont typeface="Wingdings" panose="05000000000000000000" charset="0"/>
              <a:buChar char="Ø"/>
            </a:pPr>
            <a:r>
              <a:rPr lang="en-US"/>
              <a:t>Before we dive into the differences between local and global variables, let's first recall what a variable is in Python.</a:t>
            </a:r>
            <a:endParaRPr lang="en-US"/>
          </a:p>
          <a:p>
            <a:endParaRPr lang="en-US"/>
          </a:p>
          <a:p>
            <a:pPr marL="285750" indent="-285750">
              <a:buFont typeface="Wingdings" panose="05000000000000000000" charset="0"/>
              <a:buChar char="Ø"/>
            </a:pPr>
            <a:r>
              <a:rPr lang="en-US"/>
              <a:t>A variable is a named location in memory that stores a value. In Python, we can assign values to variables using the assignment operator =. For example:</a:t>
            </a:r>
            <a:endParaRPr lang="en-US"/>
          </a:p>
          <a:p>
            <a:endParaRPr lang="en-US"/>
          </a:p>
          <a:p>
            <a:r>
              <a:rPr lang="en-US">
                <a:solidFill>
                  <a:schemeClr val="bg1"/>
                </a:solidFill>
                <a:highlight>
                  <a:srgbClr val="000000"/>
                </a:highlight>
              </a:rPr>
              <a:t>x = 5</a:t>
            </a:r>
            <a:endParaRPr lang="en-US">
              <a:solidFill>
                <a:schemeClr val="bg1"/>
              </a:solidFill>
              <a:highlight>
                <a:srgbClr val="000000"/>
              </a:highlight>
            </a:endParaRPr>
          </a:p>
          <a:p>
            <a:r>
              <a:rPr lang="en-US">
                <a:solidFill>
                  <a:schemeClr val="bg1"/>
                </a:solidFill>
                <a:highlight>
                  <a:srgbClr val="000000"/>
                </a:highlight>
              </a:rPr>
              <a:t>y = "Hello, World!"</a:t>
            </a:r>
            <a:endParaRPr lang="en-US">
              <a:solidFill>
                <a:schemeClr val="bg1"/>
              </a:solidFill>
              <a:highlight>
                <a:srgbClr val="000000"/>
              </a:highlight>
            </a:endParaRPr>
          </a:p>
          <a:p>
            <a:endParaRPr lang="en-US"/>
          </a:p>
          <a:p>
            <a:pPr marL="285750" indent="-285750">
              <a:buFont typeface="Wingdings" panose="05000000000000000000" charset="0"/>
              <a:buChar char="Ø"/>
            </a:pPr>
            <a:r>
              <a:rPr lang="en-US"/>
              <a:t>Now, let's talk about local and global variables.</a:t>
            </a:r>
            <a:endParaRPr lang="en-US"/>
          </a:p>
          <a:p>
            <a:endParaRPr lang="en-US"/>
          </a:p>
          <a:p>
            <a:pPr marL="285750" indent="-285750">
              <a:buFont typeface="Wingdings" panose="05000000000000000000" charset="0"/>
              <a:buChar char="Ø"/>
            </a:pPr>
            <a:r>
              <a:rPr lang="en-US"/>
              <a:t>A </a:t>
            </a:r>
            <a:r>
              <a:rPr lang="en-US">
                <a:solidFill>
                  <a:srgbClr val="00B0F0"/>
                </a:solidFill>
              </a:rPr>
              <a:t>local variable</a:t>
            </a:r>
            <a:r>
              <a:rPr lang="en-US"/>
              <a:t> is a variable that is defined within a function and is </a:t>
            </a:r>
            <a:r>
              <a:rPr lang="en-US">
                <a:solidFill>
                  <a:srgbClr val="00B0F0"/>
                </a:solidFill>
              </a:rPr>
              <a:t>only accessible within that function</a:t>
            </a:r>
            <a:r>
              <a:rPr lang="en-US"/>
              <a:t>. It is created when the function is called and is destroyed when the function returns.</a:t>
            </a:r>
            <a:endParaRPr lang="en-US"/>
          </a:p>
          <a:p>
            <a:pPr marL="285750" indent="-285750">
              <a:buFont typeface="Wingdings" panose="05000000000000000000" charset="0"/>
              <a:buChar char="Ø"/>
            </a:pPr>
            <a:endParaRPr lang="en-US"/>
          </a:p>
          <a:p>
            <a:pPr marL="285750" indent="-285750">
              <a:buFont typeface="Wingdings" panose="05000000000000000000" charset="0"/>
              <a:buChar char="Ø"/>
            </a:pPr>
            <a:r>
              <a:rPr lang="en-US"/>
              <a:t>On the other hand, a </a:t>
            </a:r>
            <a:r>
              <a:rPr lang="en-US">
                <a:solidFill>
                  <a:srgbClr val="00B0F0"/>
                </a:solidFill>
              </a:rPr>
              <a:t>global variable</a:t>
            </a:r>
            <a:r>
              <a:rPr lang="en-US"/>
              <a:t> is a variable that is </a:t>
            </a:r>
            <a:r>
              <a:rPr lang="en-US">
                <a:solidFill>
                  <a:srgbClr val="00B0F0"/>
                </a:solidFill>
              </a:rPr>
              <a:t>defined outside</a:t>
            </a:r>
            <a:r>
              <a:rPr lang="en-US"/>
              <a:t> </a:t>
            </a:r>
            <a:r>
              <a:rPr lang="en-US">
                <a:solidFill>
                  <a:srgbClr val="00B0F0"/>
                </a:solidFill>
              </a:rPr>
              <a:t>of a function</a:t>
            </a:r>
            <a:r>
              <a:rPr lang="en-US"/>
              <a:t> and is </a:t>
            </a:r>
            <a:r>
              <a:rPr lang="en-US">
                <a:solidFill>
                  <a:srgbClr val="00B0F0"/>
                </a:solidFill>
              </a:rPr>
              <a:t>accessible</a:t>
            </a:r>
            <a:r>
              <a:rPr lang="en-US"/>
              <a:t> from </a:t>
            </a:r>
            <a:r>
              <a:rPr lang="en-US">
                <a:solidFill>
                  <a:srgbClr val="00B0F0"/>
                </a:solidFill>
              </a:rPr>
              <a:t>within any function</a:t>
            </a:r>
            <a:r>
              <a:rPr lang="en-US"/>
              <a:t> in your code.</a:t>
            </a:r>
            <a:endParaRPr lang="en-US"/>
          </a:p>
          <a:p>
            <a:pPr marL="285750" indent="-285750">
              <a:buFont typeface="Wingdings" panose="05000000000000000000" charset="0"/>
              <a:buChar char="Ø"/>
            </a:pPr>
            <a:endParaRPr lang="en-US"/>
          </a:p>
          <a:p>
            <a:pPr marL="285750" indent="-285750">
              <a:buFont typeface="Wingdings" panose="05000000000000000000" charset="0"/>
              <a:buChar char="Ø"/>
            </a:pPr>
            <a:r>
              <a:rPr lang="en-US"/>
              <a:t>Here's an example to help clarify the difference:</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12192000" cy="3415030"/>
          </a:xfrm>
          <a:prstGeom prst="rect">
            <a:avLst/>
          </a:prstGeom>
          <a:noFill/>
        </p:spPr>
        <p:txBody>
          <a:bodyPr wrap="square" rtlCol="0" anchor="t">
            <a:spAutoFit/>
          </a:bodyPr>
          <a:p>
            <a:r>
              <a:rPr lang="en-US">
                <a:solidFill>
                  <a:schemeClr val="bg1"/>
                </a:solidFill>
                <a:highlight>
                  <a:srgbClr val="000000"/>
                </a:highlight>
              </a:rPr>
              <a:t>x = 10 # global variable</a:t>
            </a:r>
            <a:endParaRPr lang="en-US">
              <a:solidFill>
                <a:schemeClr val="bg1"/>
              </a:solidFill>
              <a:highlight>
                <a:srgbClr val="000000"/>
              </a:highlight>
            </a:endParaRPr>
          </a:p>
          <a:p>
            <a:endParaRPr lang="en-US">
              <a:solidFill>
                <a:schemeClr val="bg1"/>
              </a:solidFill>
              <a:highlight>
                <a:srgbClr val="000000"/>
              </a:highlight>
            </a:endParaRPr>
          </a:p>
          <a:p>
            <a:r>
              <a:rPr lang="en-US">
                <a:solidFill>
                  <a:schemeClr val="bg1"/>
                </a:solidFill>
                <a:highlight>
                  <a:srgbClr val="000000"/>
                </a:highlight>
              </a:rPr>
              <a:t>def my_function():</a:t>
            </a:r>
            <a:endParaRPr lang="en-US">
              <a:solidFill>
                <a:schemeClr val="bg1"/>
              </a:solidFill>
              <a:highlight>
                <a:srgbClr val="000000"/>
              </a:highlight>
            </a:endParaRPr>
          </a:p>
          <a:p>
            <a:r>
              <a:rPr lang="en-US">
                <a:solidFill>
                  <a:schemeClr val="bg1"/>
                </a:solidFill>
                <a:highlight>
                  <a:srgbClr val="000000"/>
                </a:highlight>
              </a:rPr>
              <a:t>  y = 5 # local variable</a:t>
            </a:r>
            <a:endParaRPr lang="en-US">
              <a:solidFill>
                <a:schemeClr val="bg1"/>
              </a:solidFill>
              <a:highlight>
                <a:srgbClr val="000000"/>
              </a:highlight>
            </a:endParaRPr>
          </a:p>
          <a:p>
            <a:r>
              <a:rPr lang="en-US">
                <a:solidFill>
                  <a:schemeClr val="bg1"/>
                </a:solidFill>
                <a:highlight>
                  <a:srgbClr val="000000"/>
                </a:highlight>
              </a:rPr>
              <a:t>  print(y)</a:t>
            </a:r>
            <a:endParaRPr lang="en-US">
              <a:solidFill>
                <a:schemeClr val="bg1"/>
              </a:solidFill>
              <a:highlight>
                <a:srgbClr val="000000"/>
              </a:highlight>
            </a:endParaRPr>
          </a:p>
          <a:p>
            <a:endParaRPr lang="en-US">
              <a:solidFill>
                <a:schemeClr val="bg1"/>
              </a:solidFill>
              <a:highlight>
                <a:srgbClr val="000000"/>
              </a:highlight>
            </a:endParaRPr>
          </a:p>
          <a:p>
            <a:r>
              <a:rPr lang="en-US">
                <a:solidFill>
                  <a:schemeClr val="bg1"/>
                </a:solidFill>
                <a:highlight>
                  <a:srgbClr val="000000"/>
                </a:highlight>
              </a:rPr>
              <a:t>my_function()</a:t>
            </a:r>
            <a:endParaRPr lang="en-US">
              <a:solidFill>
                <a:schemeClr val="bg1"/>
              </a:solidFill>
              <a:highlight>
                <a:srgbClr val="000000"/>
              </a:highlight>
            </a:endParaRPr>
          </a:p>
          <a:p>
            <a:r>
              <a:rPr lang="en-US">
                <a:solidFill>
                  <a:schemeClr val="bg1"/>
                </a:solidFill>
                <a:highlight>
                  <a:srgbClr val="000000"/>
                </a:highlight>
              </a:rPr>
              <a:t>print(x)</a:t>
            </a:r>
            <a:endParaRPr lang="en-US">
              <a:solidFill>
                <a:schemeClr val="bg1"/>
              </a:solidFill>
              <a:highlight>
                <a:srgbClr val="000000"/>
              </a:highlight>
            </a:endParaRPr>
          </a:p>
          <a:p>
            <a:r>
              <a:rPr lang="en-US">
                <a:solidFill>
                  <a:schemeClr val="bg1"/>
                </a:solidFill>
                <a:highlight>
                  <a:srgbClr val="000000"/>
                </a:highlight>
              </a:rPr>
              <a:t>print(y) # this will cause an error because y is a local variable and is not accessible outside of the function</a:t>
            </a:r>
            <a:endParaRPr lang="en-US">
              <a:solidFill>
                <a:schemeClr val="bg1"/>
              </a:solidFill>
              <a:highlight>
                <a:srgbClr val="000000"/>
              </a:highlight>
            </a:endParaRPr>
          </a:p>
          <a:p>
            <a:endParaRPr lang="en-US"/>
          </a:p>
          <a:p>
            <a:pPr marL="285750" indent="-285750">
              <a:buFont typeface="Wingdings" panose="05000000000000000000" charset="0"/>
              <a:buChar char="Ø"/>
            </a:pPr>
            <a:r>
              <a:rPr lang="en-US"/>
              <a:t>In this example, we have a </a:t>
            </a:r>
            <a:r>
              <a:rPr lang="en-US">
                <a:solidFill>
                  <a:srgbClr val="00B0F0"/>
                </a:solidFill>
              </a:rPr>
              <a:t>global variable x</a:t>
            </a:r>
            <a:r>
              <a:rPr lang="en-US"/>
              <a:t> and </a:t>
            </a:r>
            <a:r>
              <a:rPr lang="en-US">
                <a:solidFill>
                  <a:srgbClr val="00B0F0"/>
                </a:solidFill>
              </a:rPr>
              <a:t>a local variable y. </a:t>
            </a:r>
            <a:r>
              <a:rPr lang="en-US"/>
              <a:t>We can access the value of the global variable x from within the function, but we cannot access the value of the local variable y outside of the function.</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12009120" cy="4954270"/>
          </a:xfrm>
          <a:prstGeom prst="rect">
            <a:avLst/>
          </a:prstGeom>
          <a:noFill/>
        </p:spPr>
        <p:txBody>
          <a:bodyPr wrap="square" rtlCol="0" anchor="t">
            <a:spAutoFit/>
          </a:bodyPr>
          <a:p>
            <a:pPr marL="457200" indent="-457200">
              <a:buFont typeface="Wingdings" panose="05000000000000000000" charset="0"/>
              <a:buChar char="q"/>
            </a:pPr>
            <a:r>
              <a:rPr lang="en-US" sz="2800" u="sng">
                <a:solidFill>
                  <a:srgbClr val="FF0000"/>
                </a:solidFill>
                <a:latin typeface="Broadway" panose="04040905080B02020502" charset="0"/>
                <a:cs typeface="Broadway" panose="04040905080B02020502" charset="0"/>
              </a:rPr>
              <a:t>The global keyword</a:t>
            </a:r>
            <a:endParaRPr lang="en-US" sz="2800" u="sng">
              <a:solidFill>
                <a:srgbClr val="FF0000"/>
              </a:solidFill>
              <a:latin typeface="Broadway" panose="04040905080B02020502" charset="0"/>
              <a:cs typeface="Broadway" panose="04040905080B02020502" charset="0"/>
            </a:endParaRPr>
          </a:p>
          <a:p>
            <a:endParaRPr lang="en-US"/>
          </a:p>
          <a:p>
            <a:r>
              <a:rPr lang="en-US"/>
              <a:t>Now, what if we want to modify a global variable from within a function? This is where the global keyword comes in.</a:t>
            </a:r>
            <a:endParaRPr lang="en-US"/>
          </a:p>
          <a:p>
            <a:endParaRPr lang="en-US"/>
          </a:p>
          <a:p>
            <a:pPr marL="285750" indent="-285750">
              <a:buFont typeface="Wingdings" panose="05000000000000000000" charset="0"/>
              <a:buChar char="Ø"/>
            </a:pPr>
            <a:r>
              <a:rPr lang="en-US"/>
              <a:t>The global keyword is used to declare that a variable is a global variable and should be accessed from the global scope. Here's an example:</a:t>
            </a:r>
            <a:endParaRPr lang="en-US"/>
          </a:p>
          <a:p>
            <a:endParaRPr lang="en-US"/>
          </a:p>
          <a:p>
            <a:r>
              <a:rPr lang="en-US">
                <a:solidFill>
                  <a:schemeClr val="bg1"/>
                </a:solidFill>
                <a:highlight>
                  <a:srgbClr val="000000"/>
                </a:highlight>
              </a:rPr>
              <a:t>x = 10 # global variable</a:t>
            </a:r>
            <a:endParaRPr lang="en-US">
              <a:solidFill>
                <a:schemeClr val="bg1"/>
              </a:solidFill>
              <a:highlight>
                <a:srgbClr val="000000"/>
              </a:highlight>
            </a:endParaRPr>
          </a:p>
          <a:p>
            <a:endParaRPr lang="en-US">
              <a:solidFill>
                <a:schemeClr val="bg1"/>
              </a:solidFill>
              <a:highlight>
                <a:srgbClr val="000000"/>
              </a:highlight>
            </a:endParaRPr>
          </a:p>
          <a:p>
            <a:r>
              <a:rPr lang="en-US">
                <a:solidFill>
                  <a:schemeClr val="bg1"/>
                </a:solidFill>
                <a:highlight>
                  <a:srgbClr val="000000"/>
                </a:highlight>
              </a:rPr>
              <a:t>def my_function():</a:t>
            </a:r>
            <a:endParaRPr lang="en-US">
              <a:solidFill>
                <a:schemeClr val="bg1"/>
              </a:solidFill>
              <a:highlight>
                <a:srgbClr val="000000"/>
              </a:highlight>
            </a:endParaRPr>
          </a:p>
          <a:p>
            <a:r>
              <a:rPr lang="en-US">
                <a:solidFill>
                  <a:schemeClr val="bg1"/>
                </a:solidFill>
                <a:highlight>
                  <a:srgbClr val="000000"/>
                </a:highlight>
              </a:rPr>
              <a:t>  global x</a:t>
            </a:r>
            <a:endParaRPr lang="en-US">
              <a:solidFill>
                <a:schemeClr val="bg1"/>
              </a:solidFill>
              <a:highlight>
                <a:srgbClr val="000000"/>
              </a:highlight>
            </a:endParaRPr>
          </a:p>
          <a:p>
            <a:r>
              <a:rPr lang="en-US">
                <a:solidFill>
                  <a:schemeClr val="bg1"/>
                </a:solidFill>
                <a:highlight>
                  <a:srgbClr val="000000"/>
                </a:highlight>
              </a:rPr>
              <a:t>  x = 5 # this will change the value of the global variable x</a:t>
            </a:r>
            <a:endParaRPr lang="en-US">
              <a:solidFill>
                <a:schemeClr val="bg1"/>
              </a:solidFill>
              <a:highlight>
                <a:srgbClr val="000000"/>
              </a:highlight>
            </a:endParaRPr>
          </a:p>
          <a:p>
            <a:r>
              <a:rPr lang="en-US">
                <a:solidFill>
                  <a:schemeClr val="bg1"/>
                </a:solidFill>
                <a:highlight>
                  <a:srgbClr val="000000"/>
                </a:highlight>
              </a:rPr>
              <a:t>  y = 5 # local variable</a:t>
            </a:r>
            <a:endParaRPr lang="en-US">
              <a:solidFill>
                <a:schemeClr val="bg1"/>
              </a:solidFill>
              <a:highlight>
                <a:srgbClr val="000000"/>
              </a:highlight>
            </a:endParaRPr>
          </a:p>
          <a:p>
            <a:endParaRPr lang="en-US"/>
          </a:p>
          <a:p>
            <a:r>
              <a:rPr lang="en-US">
                <a:solidFill>
                  <a:schemeClr val="bg1"/>
                </a:solidFill>
                <a:highlight>
                  <a:srgbClr val="000000"/>
                </a:highlight>
              </a:rPr>
              <a:t>my_function()</a:t>
            </a:r>
            <a:endParaRPr lang="en-US">
              <a:solidFill>
                <a:schemeClr val="bg1"/>
              </a:solidFill>
              <a:highlight>
                <a:srgbClr val="000000"/>
              </a:highlight>
            </a:endParaRPr>
          </a:p>
          <a:p>
            <a:r>
              <a:rPr lang="en-US">
                <a:solidFill>
                  <a:schemeClr val="bg1"/>
                </a:solidFill>
                <a:highlight>
                  <a:srgbClr val="000000"/>
                </a:highlight>
              </a:rPr>
              <a:t>print(x) # prints 5</a:t>
            </a:r>
            <a:endParaRPr lang="en-US">
              <a:solidFill>
                <a:schemeClr val="bg1"/>
              </a:solidFill>
              <a:highlight>
                <a:srgbClr val="000000"/>
              </a:highlight>
            </a:endParaRPr>
          </a:p>
          <a:p>
            <a:r>
              <a:rPr lang="en-US">
                <a:solidFill>
                  <a:schemeClr val="bg1"/>
                </a:solidFill>
                <a:highlight>
                  <a:srgbClr val="000000"/>
                </a:highlight>
              </a:rPr>
              <a:t>print(y) # this will cause an error because y is a local variable and is not accessible outside of the function</a:t>
            </a:r>
            <a:endParaRPr lang="en-US">
              <a:solidFill>
                <a:schemeClr val="bg1"/>
              </a:solidFill>
              <a:highlight>
                <a:srgbClr val="000000"/>
              </a:highlight>
            </a:endParaRPr>
          </a:p>
        </p:txBody>
      </p:sp>
      <p:sp>
        <p:nvSpPr>
          <p:cNvPr id="3" name="Text Box 2"/>
          <p:cNvSpPr txBox="1"/>
          <p:nvPr/>
        </p:nvSpPr>
        <p:spPr>
          <a:xfrm>
            <a:off x="0" y="5122545"/>
            <a:ext cx="12192000" cy="645160"/>
          </a:xfrm>
          <a:prstGeom prst="rect">
            <a:avLst/>
          </a:prstGeom>
          <a:noFill/>
        </p:spPr>
        <p:txBody>
          <a:bodyPr wrap="square" rtlCol="0" anchor="t">
            <a:spAutoFit/>
          </a:bodyPr>
          <a:p>
            <a:pPr marL="285750" indent="-285750">
              <a:buFont typeface="Wingdings" panose="05000000000000000000" charset="0"/>
              <a:buChar char="Ø"/>
            </a:pPr>
            <a:r>
              <a:rPr lang="en-IN" altLang="en-US"/>
              <a:t>I</a:t>
            </a:r>
            <a:r>
              <a:rPr lang="en-US"/>
              <a:t>n this example, we used the global keyword to declare that we want to modify the global variable x from within the function. As a result, the value of x is changed to 5.</a:t>
            </a:r>
            <a:endParaRPr lang="en-US"/>
          </a:p>
        </p:txBody>
      </p:sp>
      <p:sp>
        <p:nvSpPr>
          <p:cNvPr id="4" name="Text Box 3"/>
          <p:cNvSpPr txBox="1"/>
          <p:nvPr/>
        </p:nvSpPr>
        <p:spPr>
          <a:xfrm>
            <a:off x="-635" y="6212840"/>
            <a:ext cx="12192635" cy="645160"/>
          </a:xfrm>
          <a:prstGeom prst="rect">
            <a:avLst/>
          </a:prstGeom>
          <a:noFill/>
        </p:spPr>
        <p:txBody>
          <a:bodyPr wrap="square" rtlCol="0" anchor="t">
            <a:spAutoFit/>
          </a:bodyPr>
          <a:p>
            <a:pPr marL="285750" indent="-285750">
              <a:buFont typeface="Wingdings" panose="05000000000000000000" charset="0"/>
              <a:buChar char="Ø"/>
            </a:pPr>
            <a:r>
              <a:rPr lang="en-US"/>
              <a:t>I hope this tutorial has helped clarify the differences between local and global variables and how to use the global keyword in Python. Thank you for watching!</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0" y="635"/>
            <a:ext cx="12192000" cy="685736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6001</Words>
  <Application>WPS Presentation</Application>
  <PresentationFormat>Widescreen</PresentationFormat>
  <Paragraphs>202</Paragraphs>
  <Slides>13</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13</vt:i4>
      </vt:variant>
    </vt:vector>
  </HeadingPairs>
  <TitlesOfParts>
    <vt:vector size="23" baseType="lpstr">
      <vt:lpstr>Arial</vt:lpstr>
      <vt:lpstr>SimSun</vt:lpstr>
      <vt:lpstr>Wingdings</vt:lpstr>
      <vt:lpstr>Wingdings</vt:lpstr>
      <vt:lpstr>Broadway</vt:lpstr>
      <vt:lpstr>Microsoft YaHei</vt:lpstr>
      <vt:lpstr>Arial Unicode MS</vt:lpstr>
      <vt:lpstr>Calibri Light</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Rahul</dc:creator>
  <cp:lastModifiedBy>Rahul</cp:lastModifiedBy>
  <cp:revision>4</cp:revision>
  <dcterms:created xsi:type="dcterms:W3CDTF">2024-05-01T20:10:00Z</dcterms:created>
  <dcterms:modified xsi:type="dcterms:W3CDTF">2024-05-10T05:07:24Z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FDA9CDBD6D54420D852F50A0604D7503_13</vt:lpwstr>
  </property>
  <property fmtid="{D5CDD505-2E9C-101B-9397-08002B2CF9AE}" pid="3" name="KSOProductBuildVer">
    <vt:lpwstr>1033-12.2.0.16909</vt:lpwstr>
  </property>
</Properties>
</file>